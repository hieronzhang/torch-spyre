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962" r:id="rId1"/>
  </p:sldMasterIdLst>
  <p:notesMasterIdLst>
    <p:notesMasterId r:id="rId25"/>
  </p:notesMasterIdLst>
  <p:handoutMasterIdLst>
    <p:handoutMasterId r:id="rId26"/>
  </p:handoutMasterIdLst>
  <p:sldIdLst>
    <p:sldId id="2147482470" r:id="rId2"/>
    <p:sldId id="2147482471" r:id="rId3"/>
    <p:sldId id="2147482468" r:id="rId4"/>
    <p:sldId id="2147482472" r:id="rId5"/>
    <p:sldId id="2147482473" r:id="rId6"/>
    <p:sldId id="2147482474" r:id="rId7"/>
    <p:sldId id="2147482475" r:id="rId8"/>
    <p:sldId id="2147482476" r:id="rId9"/>
    <p:sldId id="2147482477" r:id="rId10"/>
    <p:sldId id="2147482478" r:id="rId11"/>
    <p:sldId id="2147482479" r:id="rId12"/>
    <p:sldId id="2147482480" r:id="rId13"/>
    <p:sldId id="2147482481" r:id="rId14"/>
    <p:sldId id="2147482482" r:id="rId15"/>
    <p:sldId id="2147482483" r:id="rId16"/>
    <p:sldId id="2147482484" r:id="rId17"/>
    <p:sldId id="2147482485" r:id="rId18"/>
    <p:sldId id="2147482486" r:id="rId19"/>
    <p:sldId id="2147482487" r:id="rId20"/>
    <p:sldId id="2147482488" r:id="rId21"/>
    <p:sldId id="2147482489" r:id="rId22"/>
    <p:sldId id="2147482490" r:id="rId23"/>
    <p:sldId id="2147482465" r:id="rId24"/>
  </p:sldIdLst>
  <p:sldSz cx="24387175" cy="13716000"/>
  <p:notesSz cx="6858000" cy="9144000"/>
  <p:defaultTextStyle>
    <a:defPPr>
      <a:defRPr lang="en-US"/>
    </a:defPPr>
    <a:lvl1pPr marL="0" algn="l" defTabSz="1829379" rtl="0" eaLnBrk="1" latinLnBrk="0" hangingPunct="1">
      <a:defRPr sz="3600" kern="1200">
        <a:solidFill>
          <a:schemeClr val="tx1"/>
        </a:solidFill>
        <a:latin typeface="+mn-lt"/>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p:defaultTextStyle>
  <p:extLst>
    <p:ext uri="{521415D9-36F7-43E2-AB2F-B90AF26B5E84}">
      <p14:sectionLst xmlns:p14="http://schemas.microsoft.com/office/powerpoint/2010/main">
        <p14:section name="Intern Security" id="{4700659D-582D-3B47-8AF6-59C9324AA29A}">
          <p14:sldIdLst>
            <p14:sldId id="2147482470"/>
            <p14:sldId id="2147482471"/>
            <p14:sldId id="2147482468"/>
            <p14:sldId id="2147482472"/>
            <p14:sldId id="2147482473"/>
            <p14:sldId id="2147482474"/>
            <p14:sldId id="2147482475"/>
            <p14:sldId id="2147482476"/>
            <p14:sldId id="2147482477"/>
            <p14:sldId id="2147482478"/>
            <p14:sldId id="2147482479"/>
            <p14:sldId id="2147482480"/>
            <p14:sldId id="2147482481"/>
            <p14:sldId id="2147482482"/>
            <p14:sldId id="2147482483"/>
            <p14:sldId id="2147482484"/>
            <p14:sldId id="2147482485"/>
            <p14:sldId id="2147482486"/>
            <p14:sldId id="2147482487"/>
            <p14:sldId id="2147482488"/>
            <p14:sldId id="2147482489"/>
            <p14:sldId id="2147482490"/>
            <p14:sldId id="2147482465"/>
          </p14:sldIdLst>
        </p14:section>
        <p14:section name="Selected Pictograms" id="{A71DFE44-60A9-FA4A-8A00-EEDEE7195C5C}">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achary Anderson" initials="ZA" lastIdx="26" clrIdx="0">
    <p:extLst>
      <p:ext uri="{19B8F6BF-5375-455C-9EA6-DF929625EA0E}">
        <p15:presenceInfo xmlns:p15="http://schemas.microsoft.com/office/powerpoint/2012/main" userId="S::zanderson@vsapartners.com::b6da4b55-2f36-4779-ba8b-606d779a32e3" providerId="AD"/>
      </p:ext>
    </p:extLst>
  </p:cmAuthor>
  <p:cmAuthor id="2" name="Liz Sadler" initials="LS" lastIdx="36" clrIdx="1">
    <p:extLst>
      <p:ext uri="{19B8F6BF-5375-455C-9EA6-DF929625EA0E}">
        <p15:presenceInfo xmlns:p15="http://schemas.microsoft.com/office/powerpoint/2012/main" userId="Liz Sadl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028"/>
    <p:restoredTop sz="88898" autoAdjust="0"/>
  </p:normalViewPr>
  <p:slideViewPr>
    <p:cSldViewPr snapToGrid="0" snapToObjects="1">
      <p:cViewPr varScale="1">
        <p:scale>
          <a:sx n="50" d="100"/>
          <a:sy n="50" d="100"/>
        </p:scale>
        <p:origin x="552" y="60"/>
      </p:cViewPr>
      <p:guideLst/>
    </p:cSldViewPr>
  </p:slideViewPr>
  <p:outlineViewPr>
    <p:cViewPr>
      <p:scale>
        <a:sx n="33" d="100"/>
        <a:sy n="33" d="100"/>
      </p:scale>
      <p:origin x="-56"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97" d="100"/>
          <a:sy n="97" d="100"/>
        </p:scale>
        <p:origin x="4328" y="20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handoutMaster" Target="handoutMasters/handoutMaster1.xml"/><Relationship Id="rId27" Type="http://schemas.openxmlformats.org/officeDocument/2006/relationships/commentAuthors" Target="commentAuthors.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219456" y="8705088"/>
            <a:ext cx="338328" cy="228600"/>
          </a:xfrm>
          <a:prstGeom prst="rect">
            <a:avLst/>
          </a:prstGeom>
        </p:spPr>
        <p:txBody>
          <a:bodyPr vert="horz" lIns="0" tIns="0" rIns="0" bIns="0" rtlCol="0" anchor="b"/>
          <a:lstStyle>
            <a:lvl1pPr algn="r">
              <a:defRPr sz="1200"/>
            </a:lvl1pPr>
          </a:lstStyle>
          <a:p>
            <a:pPr algn="l"/>
            <a:fld id="{614B4878-71CB-8F40-B9DD-F26F1F6CA014}" type="slidenum">
              <a:rPr lang="en-US" sz="600" smtClean="0">
                <a:solidFill>
                  <a:schemeClr val="bg1"/>
                </a:solidFill>
                <a:latin typeface="IBM Plex Sans Light" panose="020B0503050203000203" pitchFamily="34" charset="0"/>
                <a:ea typeface="IBM Plex Sans Light" charset="0"/>
                <a:cs typeface="IBM Plex Sans Light" charset="0"/>
              </a:rPr>
              <a:pPr algn="l"/>
              <a:t>‹#›</a:t>
            </a:fld>
            <a:endParaRPr lang="en-US" sz="600" dirty="0">
              <a:solidFill>
                <a:schemeClr val="bg1"/>
              </a:solidFill>
              <a:latin typeface="IBM Plex Sans Light" panose="020B0503050203000203" pitchFamily="34" charset="0"/>
              <a:ea typeface="IBM Plex Sans Light" charset="0"/>
              <a:cs typeface="IBM Plex Sans Light" charset="0"/>
            </a:endParaRPr>
          </a:p>
        </p:txBody>
      </p:sp>
      <p:sp>
        <p:nvSpPr>
          <p:cNvPr id="4" name="Footer Placeholder 3"/>
          <p:cNvSpPr>
            <a:spLocks noGrp="1"/>
          </p:cNvSpPr>
          <p:nvPr>
            <p:ph type="ftr" sz="quarter" idx="2"/>
          </p:nvPr>
        </p:nvSpPr>
        <p:spPr>
          <a:xfrm>
            <a:off x="630936" y="8705088"/>
            <a:ext cx="3657600" cy="228600"/>
          </a:xfrm>
          <a:prstGeom prst="rect">
            <a:avLst/>
          </a:prstGeom>
        </p:spPr>
        <p:txBody>
          <a:bodyPr vert="horz" lIns="0" tIns="0" rIns="0" bIns="0" rtlCol="0" anchor="b"/>
          <a:lstStyle>
            <a:lvl1pPr algn="l">
              <a:defRPr sz="1200"/>
            </a:lvl1pPr>
          </a:lstStyle>
          <a:p>
            <a:r>
              <a:rPr lang="en-US" sz="600" dirty="0">
                <a:solidFill>
                  <a:schemeClr val="bg1"/>
                </a:solidFill>
                <a:latin typeface="IBM Plex Sans Light" panose="020B0503050203000203" pitchFamily="34" charset="0"/>
                <a:ea typeface="IBM Plex Sans Light" charset="0"/>
                <a:cs typeface="IBM Plex Sans Light" charset="0"/>
              </a:rPr>
              <a:t>Group Name / DOC ID / Month XX, 2022 / © 2022 IBM Corporation</a:t>
            </a:r>
          </a:p>
        </p:txBody>
      </p:sp>
    </p:spTree>
    <p:extLst>
      <p:ext uri="{BB962C8B-B14F-4D97-AF65-F5344CB8AC3E}">
        <p14:creationId xmlns:p14="http://schemas.microsoft.com/office/powerpoint/2010/main" val="44802781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06710" y="228600"/>
            <a:ext cx="6419088" cy="3612324"/>
          </a:xfrm>
          <a:prstGeom prst="rect">
            <a:avLst/>
          </a:prstGeom>
          <a:noFill/>
          <a:ln w="12700">
            <a:solidFill>
              <a:prstClr val="black"/>
            </a:solidFill>
          </a:ln>
        </p:spPr>
        <p:txBody>
          <a:bodyPr vert="horz" lIns="91440" tIns="45720" rIns="91440" bIns="45720" rtlCol="0" anchor="ctr"/>
          <a:lstStyle/>
          <a:p>
            <a:endParaRPr lang="en-US" dirty="0"/>
          </a:p>
        </p:txBody>
      </p:sp>
      <p:sp>
        <p:nvSpPr>
          <p:cNvPr id="8" name="Notes Placeholder 7">
            <a:extLst>
              <a:ext uri="{FF2B5EF4-FFF2-40B4-BE49-F238E27FC236}">
                <a16:creationId xmlns:a16="http://schemas.microsoft.com/office/drawing/2014/main" id="{6ABF5568-9620-E34F-9423-054ABD0598F2}"/>
              </a:ext>
            </a:extLst>
          </p:cNvPr>
          <p:cNvSpPr>
            <a:spLocks noGrp="1"/>
          </p:cNvSpPr>
          <p:nvPr>
            <p:ph type="body" sz="quarter" idx="3"/>
          </p:nvPr>
        </p:nvSpPr>
        <p:spPr>
          <a:xfrm>
            <a:off x="206710" y="4087090"/>
            <a:ext cx="6419088" cy="4320309"/>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Slide Number Placeholder 6"/>
          <p:cNvSpPr>
            <a:spLocks noGrp="1"/>
          </p:cNvSpPr>
          <p:nvPr>
            <p:ph type="sldNum" sz="quarter" idx="5"/>
          </p:nvPr>
        </p:nvSpPr>
        <p:spPr>
          <a:xfrm>
            <a:off x="6300216" y="8705088"/>
            <a:ext cx="338328" cy="228600"/>
          </a:xfrm>
          <a:prstGeom prst="rect">
            <a:avLst/>
          </a:prstGeom>
        </p:spPr>
        <p:txBody>
          <a:bodyPr vert="horz" lIns="0" tIns="0" rIns="0" bIns="0" rtlCol="0" anchor="b"/>
          <a:lstStyle>
            <a:lvl1pPr algn="r">
              <a:defRPr sz="600" b="0" i="0">
                <a:solidFill>
                  <a:schemeClr val="bg1"/>
                </a:solidFill>
                <a:latin typeface="IBM Plex Sans Light" panose="020B0503050203000203" pitchFamily="34" charset="0"/>
                <a:ea typeface="IBM Plex Sans Light" panose="020B0503050203000203" pitchFamily="34" charset="0"/>
                <a:cs typeface="IBM Plex Sans Light" panose="020B0503050203000203" pitchFamily="34" charset="0"/>
              </a:defRPr>
            </a:lvl1pPr>
          </a:lstStyle>
          <a:p>
            <a:fld id="{6E2E38B8-B0B4-AD41-AC6E-B781F46A9FD3}" type="slidenum">
              <a:rPr lang="en-US" smtClean="0"/>
              <a:pPr/>
              <a:t>‹#›</a:t>
            </a:fld>
            <a:endParaRPr lang="en-US" dirty="0"/>
          </a:p>
        </p:txBody>
      </p:sp>
      <p:sp>
        <p:nvSpPr>
          <p:cNvPr id="6" name="Footer Placeholder 5"/>
          <p:cNvSpPr>
            <a:spLocks noGrp="1"/>
          </p:cNvSpPr>
          <p:nvPr>
            <p:ph type="ftr" sz="quarter" idx="4"/>
          </p:nvPr>
        </p:nvSpPr>
        <p:spPr>
          <a:xfrm>
            <a:off x="219456" y="8705088"/>
            <a:ext cx="3657600" cy="228600"/>
          </a:xfrm>
          <a:prstGeom prst="rect">
            <a:avLst/>
          </a:prstGeom>
        </p:spPr>
        <p:txBody>
          <a:bodyPr vert="horz" lIns="0" tIns="0" rIns="0" bIns="0" rtlCol="0" anchor="b"/>
          <a:lstStyle>
            <a:lvl1pPr algn="l">
              <a:defRPr sz="600" b="0" i="0">
                <a:solidFill>
                  <a:schemeClr val="bg1"/>
                </a:solidFill>
                <a:latin typeface="IBM Plex Sans Light" panose="020B0503050203000203" pitchFamily="34" charset="0"/>
                <a:ea typeface="IBM Plex Sans Light" panose="020B0503050203000203" pitchFamily="34" charset="0"/>
                <a:cs typeface="IBM Plex Sans Light" panose="020B0503050203000203" pitchFamily="34" charset="0"/>
              </a:defRPr>
            </a:lvl1pPr>
          </a:lstStyle>
          <a:p>
            <a:r>
              <a:rPr lang="en-US" dirty="0"/>
              <a:t>Footer</a:t>
            </a:r>
          </a:p>
        </p:txBody>
      </p:sp>
    </p:spTree>
    <p:extLst>
      <p:ext uri="{BB962C8B-B14F-4D97-AF65-F5344CB8AC3E}">
        <p14:creationId xmlns:p14="http://schemas.microsoft.com/office/powerpoint/2010/main" val="791598581"/>
      </p:ext>
    </p:extLst>
  </p:cSld>
  <p:clrMap bg1="lt1" tx1="dk1" bg2="lt2" tx2="dk2" accent1="accent1" accent2="accent2" accent3="accent3" accent4="accent4" accent5="accent5" accent6="accent6" hlink="hlink" folHlink="folHlink"/>
  <p:hf hdr="0" dt="0"/>
  <p:notesStyle>
    <a:lvl1pPr marL="0" algn="l" defTabSz="2438522" rtl="0" eaLnBrk="1" latinLnBrk="0" hangingPunct="1">
      <a:lnSpc>
        <a:spcPct val="110000"/>
      </a:lnSpc>
      <a:spcBef>
        <a:spcPts val="0"/>
      </a:spcBef>
      <a:defRPr sz="1200" b="0" i="0" kern="1200">
        <a:solidFill>
          <a:schemeClr val="bg1"/>
        </a:solidFill>
        <a:latin typeface="IBM Plex Sans Light" panose="020B0503050203000203" pitchFamily="34" charset="0"/>
        <a:ea typeface="+mn-ea"/>
        <a:cs typeface="+mn-cs"/>
      </a:defRPr>
    </a:lvl1pPr>
    <a:lvl2pPr marL="465690" indent="-452991" algn="l" defTabSz="2438522" rtl="0" eaLnBrk="1" latinLnBrk="0" hangingPunct="1">
      <a:lnSpc>
        <a:spcPct val="110000"/>
      </a:lnSpc>
      <a:spcBef>
        <a:spcPts val="0"/>
      </a:spcBef>
      <a:buFont typeface="IBM Plex Sans"/>
      <a:buChar char="–"/>
      <a:tabLst/>
      <a:defRPr sz="1200" b="0" i="0" kern="1200">
        <a:solidFill>
          <a:schemeClr val="bg1"/>
        </a:solidFill>
        <a:latin typeface="IBM Plex Sans Light" panose="020B0503050203000203" pitchFamily="34" charset="0"/>
        <a:ea typeface="+mn-ea"/>
        <a:cs typeface="+mn-cs"/>
      </a:defRPr>
    </a:lvl2pPr>
    <a:lvl3pPr marL="926638" indent="-463319" algn="l" defTabSz="2438522" rtl="0" eaLnBrk="1" latinLnBrk="0" hangingPunct="1">
      <a:lnSpc>
        <a:spcPct val="110000"/>
      </a:lnSpc>
      <a:spcBef>
        <a:spcPts val="0"/>
      </a:spcBef>
      <a:buFont typeface="IBM Plex Sans Light" panose="020B0604020202020204" pitchFamily="34" charset="0"/>
      <a:buChar char="•"/>
      <a:tabLst/>
      <a:defRPr sz="1200" b="0" i="0" kern="1200">
        <a:solidFill>
          <a:schemeClr val="bg1"/>
        </a:solidFill>
        <a:latin typeface="IBM Plex Sans Light" panose="020B0503050203000203" pitchFamily="34" charset="0"/>
        <a:ea typeface="+mn-ea"/>
        <a:cs typeface="+mn-cs"/>
      </a:defRPr>
    </a:lvl3pPr>
    <a:lvl4pPr marL="1682580" indent="-463319" algn="l" defTabSz="2438522" rtl="0" eaLnBrk="1" latinLnBrk="0" hangingPunct="1">
      <a:lnSpc>
        <a:spcPct val="110000"/>
      </a:lnSpc>
      <a:spcBef>
        <a:spcPts val="0"/>
      </a:spcBef>
      <a:buFont typeface="IBM Plex Sans Light"/>
      <a:buChar char="–"/>
      <a:tabLst/>
      <a:defRPr sz="1200" b="0" i="0" kern="1200">
        <a:solidFill>
          <a:schemeClr val="bg1"/>
        </a:solidFill>
        <a:latin typeface="IBM Plex Sans Light" panose="020B0503050203000203" pitchFamily="34" charset="0"/>
        <a:ea typeface="+mn-ea"/>
        <a:cs typeface="+mn-cs"/>
      </a:defRPr>
    </a:lvl4pPr>
    <a:lvl5pPr marL="465690" marR="0" indent="-452991" algn="l" defTabSz="2438522" rtl="0" eaLnBrk="1" fontAlgn="base" latinLnBrk="0" hangingPunct="1">
      <a:lnSpc>
        <a:spcPct val="100000"/>
      </a:lnSpc>
      <a:spcBef>
        <a:spcPts val="1600"/>
      </a:spcBef>
      <a:spcAft>
        <a:spcPct val="0"/>
      </a:spcAft>
      <a:buClr>
        <a:srgbClr val="000000"/>
      </a:buClr>
      <a:buSzTx/>
      <a:buFont typeface="IBM Plex Sans Light" charset="-120"/>
      <a:buChar char="»"/>
      <a:tabLst/>
      <a:defRPr sz="2000" b="0" i="0" kern="1200">
        <a:solidFill>
          <a:schemeClr val="bg1"/>
        </a:solidFill>
        <a:latin typeface="IBM Plex Sans Light" panose="020B0503050203000203" pitchFamily="34" charset="0"/>
        <a:ea typeface="+mn-ea"/>
        <a:cs typeface="+mn-cs"/>
      </a:defRPr>
    </a:lvl5pPr>
    <a:lvl6pPr marL="6096305" algn="l" defTabSz="2438522" rtl="0" eaLnBrk="1" latinLnBrk="0" hangingPunct="1">
      <a:defRPr sz="3200" kern="1200">
        <a:solidFill>
          <a:schemeClr val="tx1"/>
        </a:solidFill>
        <a:latin typeface="+mn-lt"/>
        <a:ea typeface="+mn-ea"/>
        <a:cs typeface="+mn-cs"/>
      </a:defRPr>
    </a:lvl6pPr>
    <a:lvl7pPr marL="7315566" algn="l" defTabSz="2438522" rtl="0" eaLnBrk="1" latinLnBrk="0" hangingPunct="1">
      <a:defRPr sz="3200" kern="1200">
        <a:solidFill>
          <a:schemeClr val="tx1"/>
        </a:solidFill>
        <a:latin typeface="+mn-lt"/>
        <a:ea typeface="+mn-ea"/>
        <a:cs typeface="+mn-cs"/>
      </a:defRPr>
    </a:lvl7pPr>
    <a:lvl8pPr marL="8534827" algn="l" defTabSz="2438522" rtl="0" eaLnBrk="1" latinLnBrk="0" hangingPunct="1">
      <a:defRPr sz="3200" kern="1200">
        <a:solidFill>
          <a:schemeClr val="tx1"/>
        </a:solidFill>
        <a:latin typeface="+mn-lt"/>
        <a:ea typeface="+mn-ea"/>
        <a:cs typeface="+mn-cs"/>
      </a:defRPr>
    </a:lvl8pPr>
    <a:lvl9pPr marL="9754088" algn="l" defTabSz="2438522" rtl="0" eaLnBrk="1" latinLnBrk="0" hangingPunct="1">
      <a:defRPr sz="3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input side, and the short version is that we do not model the program — we read</a:t>
            </a:r>
          </a:p>
          <a:p>
            <a:r>
              <a:t>it.</a:t>
            </a:r>
          </a:p>
          <a:p>
            <a:endParaRPr/>
          </a:p>
          <a:p>
            <a:r>
              <a:t>The pass sits at one specific place: immediately after the last pre-scheduling pass. That</a:t>
            </a:r>
          </a:p>
          <a:p>
            <a:r>
              <a:t>position is the whole trick. By then the compiler has already chosen every tensor's layout,</a:t>
            </a:r>
          </a:p>
          <a:p>
            <a:r>
              <a:t>whether coarse tiling applies and with what trip count, how work is divided across cores, and</a:t>
            </a:r>
          </a:p>
          <a:p>
            <a:r>
              <a:t>which buffers live in the LX scratchpad. Nothing later changes what the program moves or</a:t>
            </a:r>
          </a:p>
          <a:p>
            <a:r>
              <a:t>computes. So every quantity the model needs already exists — we pick it up rather than</a:t>
            </a:r>
          </a:p>
          <a:p>
            <a:r>
              <a:t>re-derive it, which is what makes the estimate describe the plan that will actually run.</a:t>
            </a:r>
          </a:p>
          <a:p>
            <a:endParaRPr/>
          </a:p>
          <a:p>
            <a:r>
              <a:t>On the left is one real operation as the IR leaves it: the query-times-key matmul from a</a:t>
            </a:r>
          </a:p>
          <a:p>
            <a:r>
              <a:t>flash-attention kernel. On the right is the record we extract, and I have grouped the fields</a:t>
            </a:r>
          </a:p>
          <a:p>
            <a:r>
              <a:t>by what they are for. What the op is picks whether there is an arithmetic term. The tensor</a:t>
            </a:r>
          </a:p>
          <a:p>
            <a:r>
              <a:t>list carries the field that matters most — LX or HBM. Here two of the three tensors are</a:t>
            </a:r>
          </a:p>
          <a:p>
            <a:r>
              <a:t>already on chip, so only one megabyte is charged; the other two are free. Then the work</a:t>
            </a:r>
          </a:p>
          <a:p>
            <a:r>
              <a:t>division, which gives the per-core tile shape, the tiling loop, and the multiply count, which</a:t>
            </a:r>
          </a:p>
          <a:p>
            <a:r>
              <a:t>is the only quantity in the model that is not bytes.</a:t>
            </a:r>
          </a:p>
          <a:p>
            <a:endParaRPr/>
          </a:p>
          <a:p>
            <a:r>
              <a:t>The strip along the bottom is the step people miss. A fused kernel is the only thing that can</a:t>
            </a:r>
          </a:p>
          <a:p>
            <a:r>
              <a:t>be measured — there is no per-operation timing inside one — so the pass first reconstructs the</a:t>
            </a:r>
          </a:p>
          <a:p>
            <a:r>
              <a:t>kernels the backend will fuse. This whole graph is twenty-three operations that become one</a:t>
            </a:r>
          </a:p>
          <a:p>
            <a:r>
              <a:t>kernel, and it is priced once as a bundle. That matters because pricing is not additive: an</a:t>
            </a:r>
          </a:p>
          <a:p>
            <a:r>
              <a:t>input shared by several operations in the bundle is charged once, not once per consumer. If</a:t>
            </a:r>
          </a:p>
          <a:p>
            <a:r>
              <a:t>you add up the per-op numbers you will not get the kernel number, and that is deliberate.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06375" y="228600"/>
            <a:ext cx="6419850" cy="3611563"/>
          </a:xfrm>
        </p:spPr>
      </p:sp>
      <p:sp>
        <p:nvSpPr>
          <p:cNvPr id="3" name="Notes Placeholder 2"/>
          <p:cNvSpPr>
            <a:spLocks noGrp="1"/>
          </p:cNvSpPr>
          <p:nvPr>
            <p:ph type="body" sz="quarter" idx="3"/>
          </p:nvPr>
        </p:nvSpPr>
        <p:spPr/>
        <p:txBody>
          <a:bodyPr/>
          <a:lstStyle/>
          <a:p>
            <a:r>
              <a:t>Turning it on is one environment variable, and by default the pass returns before touching</a:t>
            </a:r>
          </a:p>
          <a:p>
            <a:r>
              <a:t>the graph, so a normal compile pays nothing for it.</a:t>
            </a:r>
          </a:p>
          <a:p/>
          <a:p>
            <a:r>
              <a:t>The example is a batched matmul whose contraction dimension has been split into eight tiles.</a:t>
            </a:r>
          </a:p>
          <a:p>
            <a:r>
              <a:t>Read from the top: the first line is the number to compare, then one row per kernel with its</a:t>
            </a:r>
          </a:p>
          <a:p>
            <a:r>
              <a:t>operations indented underneath.</a:t>
            </a:r>
          </a:p>
          <a:p/>
          <a:p>
            <a:r>
              <a:t>Two things are worth pausing on. First, a kernel does not have one iteration count. The matmul</a:t>
            </a:r>
          </a:p>
          <a:p>
            <a:r>
              <a:t>and the combine run eight times here, but the fill that initialises the accumulator sits</a:t>
            </a:r>
          </a:p>
          <a:p>
            <a:r>
              <a:t>outside the loop and runs once — which is why the count is printed on a block header rather</a:t>
            </a:r>
          </a:p>
          <a:p>
            <a:r>
              <a:t>than as a column.</a:t>
            </a:r>
          </a:p>
          <a:p/>
          <a:p>
            <a:r>
              <a:t>Second, the byte column, because it is easy to misread. Before the equals sign is the</a:t>
            </a:r>
          </a:p>
          <a:p>
            <a:r>
              <a:t>operation's total HBM traffic across the whole loop — 201 megabytes. After it, the same figure</a:t>
            </a:r>
          </a:p>
          <a:p>
            <a:r>
              <a:t>broken out as eight times 25.2, so 25.2 megabytes is what one iteration moves. That is</a:t>
            </a:r>
          </a:p>
          <a:p>
            <a:r>
              <a:t>traffic, not a tile size, and it is summed over the whole machine, not per core. Concretely:</a:t>
            </a:r>
          </a:p>
          <a:p>
            <a:r>
              <a:t>this row is the accumulate step, the output is four by 1024 by 1024 in half precision, which</a:t>
            </a:r>
          </a:p>
          <a:p>
            <a:r>
              <a:t>is 8.4 megabytes, and each iteration reads the accumulator, reads the new partial result and</a:t>
            </a:r>
          </a:p>
          <a:p>
            <a:r>
              <a:t>writes the accumulator back. Three times 8.4 is the 25.2.</a:t>
            </a:r>
          </a:p>
          <a:p/>
          <a:p>
            <a:r>
              <a:t>The per-iteration figure is the one that moves when you change the tile count, which is why</a:t>
            </a:r>
          </a:p>
          <a:p>
            <a:r>
              <a:t>both scales are printed rather than just the total.</a:t>
            </a:r>
          </a:p>
          <a:p/>
          <a:p>
            <a:r>
              <a:t>One thing I have trimmed for space: the real printout carries a second pair of columns for</a:t>
            </a:r>
          </a:p>
          <a:p>
            <a:r>
              <a:t>scratchpad traffic. Those are a different quantity — LX bytes are already per-tile, because a</a:t>
            </a:r>
          </a:p>
          <a:p>
            <a:r>
              <a:t>scratchpad buffer is allocated per tile. This slide is only telling you about main memory.</a:t>
            </a:r>
          </a:p>
          <a:p/>
          <a:p>
            <a:r>
              <a:t>And one honest note: this kernel measures about six thousand microseconds, so the prediction</a:t>
            </a:r>
          </a:p>
          <a:p>
            <a:r>
              <a:t>is roughly half. Batched matmul is the model's worst case, and I will come back to why.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06375" y="228600"/>
            <a:ext cx="6419850" cy="3611563"/>
          </a:xfrm>
        </p:spPr>
      </p:sp>
      <p:sp>
        <p:nvSpPr>
          <p:cNvPr id="3" name="Notes Placeholder 2"/>
          <p:cNvSpPr>
            <a:spLocks noGrp="1"/>
          </p:cNvSpPr>
          <p:nvPr>
            <p:ph type="body" sz="quarter" idx="3"/>
          </p:nvPr>
        </p:nvSpPr>
        <p:spPr/>
        <p:txBody>
          <a:bodyPr/>
          <a:lstStyle/>
          <a:p>
            <a:r>
              <a:t>This is the part that makes it a compiler feature rather than a debugging print.</a:t>
            </a:r>
          </a:p>
          <a:p>
            <a:endParaRPr/>
          </a:p>
          <a:p>
            <a:r>
              <a:t>The pass returns a report object. It has a total, which is the number to compare, and a</a:t>
            </a:r>
          </a:p>
          <a:p>
            <a:r>
              <a:t>per-kernel breakdown underneath it. Any other pre-scheduling pass can call it and read that</a:t>
            </a:r>
          </a:p>
          <a:p>
            <a:r>
              <a:t>total, because by the time it runs, everything the estimate depends on has been decided.</a:t>
            </a:r>
          </a:p>
          <a:p>
            <a:endParaRPr/>
          </a:p>
          <a:p>
            <a:r>
              <a:t>The example on the right is the one we actually care about — scratchpad allocation. The</a:t>
            </a:r>
          </a:p>
          <a:p>
            <a:r>
              <a:t>compiler ships four solvers that decide which buffers stay on chip, and today it simply uses</a:t>
            </a:r>
          </a:p>
          <a:p>
            <a:r>
              <a:t>whichever one the flag names. With the model, a planner can run each of them, price the</a:t>
            </a:r>
          </a:p>
          <a:p>
            <a:r>
              <a:t>program it produced, and keep the cheapest. Four candidate plans, and not one of them is</a:t>
            </a:r>
          </a:p>
          <a:p>
            <a:r>
              <a:t>compiled or run — the whole loop is a few hundred milliseconds of Python over an IR that is</a:t>
            </a:r>
          </a:p>
          <a:p>
            <a:r>
              <a:t>already in memory.</a:t>
            </a:r>
          </a:p>
          <a:p>
            <a:endParaRPr/>
          </a:p>
          <a:p>
            <a:r>
              <a:t>I want to be precise about the status. This loop is not wired into the compiler today. The</a:t>
            </a:r>
          </a:p>
          <a:p>
            <a:r>
              <a:t>pass is read-only: it prints, and it returns, and nothing consumes the return value yet. What</a:t>
            </a:r>
          </a:p>
          <a:p>
            <a:r>
              <a:t>I will show in the second half is the experiment that asks whether it deserves to be wired in</a:t>
            </a:r>
          </a:p>
          <a:p>
            <a:r>
              <a:t>— whether the ordering it produces actually matches what the hardware does when you run all</a:t>
            </a:r>
          </a:p>
          <a:p>
            <a:r>
              <a:t>four policies for real.</a:t>
            </a:r>
          </a:p>
          <a:p>
            <a:endParaRPr/>
          </a:p>
          <a:p>
            <a:r>
              <a:t>The other thing to note is that the same hook works for any decision made before scheduling,</a:t>
            </a:r>
          </a:p>
          <a:p>
            <a:r>
              <a:t>not just allocation. Tile size and work division are chosen in the same place, which is why</a:t>
            </a:r>
          </a:p>
          <a:p>
            <a:r>
              <a:t>the next steps at the end are about pricing those jointly.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06375" y="228600"/>
            <a:ext cx="6419850" cy="3611563"/>
          </a:xfrm>
        </p:spPr>
      </p:sp>
      <p:sp>
        <p:nvSpPr>
          <p:cNvPr id="3" name="Notes Placeholder 2"/>
          <p:cNvSpPr>
            <a:spLocks noGrp="1"/>
          </p:cNvSpPr>
          <p:nvPr>
            <p:ph type="body" sz="quarter" idx="3"/>
          </p:nvPr>
        </p:nvSpPr>
        <p:spPr/>
        <p:txBody>
          <a:bodyPr/>
          <a:lstStyle/>
          <a:p>
            <a:r>
              <a:t>Two slides on how this was built, because a model is only worth as much as the procedure</a:t>
            </a:r>
          </a:p>
          <a:p>
            <a:r>
              <a:t>behind it.</a:t>
            </a:r>
          </a:p>
          <a:p>
            <a:endParaRPr/>
          </a:p>
          <a:p>
            <a:r>
              <a:t>The first rule was to start from scratch and trust only measured device time from the</a:t>
            </a:r>
          </a:p>
          <a:p>
            <a:r>
              <a:t>profiler. No datasheet peak, no vendor number — every constant in the model is fitted against</a:t>
            </a:r>
          </a:p>
          <a:p>
            <a:r>
              <a:t>kernels we timed on the card.</a:t>
            </a:r>
          </a:p>
          <a:p>
            <a:endParaRPr/>
          </a:p>
          <a:p>
            <a:r>
              <a:t>The second rule is the one on this slide: never measure two effects at once. Read it left to</a:t>
            </a:r>
          </a:p>
          <a:p>
            <a:r>
              <a:t>right. We start with pointwise kernels, the simplest thing the device does — read a tensor,</a:t>
            </a:r>
          </a:p>
          <a:p>
            <a:r>
              <a:t>apply a function, write a tensor. Time is linear in bytes and passes through the origin, with</a:t>
            </a:r>
          </a:p>
          <a:p>
            <a:r>
              <a:t>an R-squared of five nines, and gelu costs the same as a negate at the same size. So the</a:t>
            </a:r>
          </a:p>
          <a:p>
            <a:r>
              <a:t>arithmetic is free and a pointwise kernel is purely a memory model. That gives us a ruler.</a:t>
            </a:r>
          </a:p>
          <a:p>
            <a:endParaRPr/>
          </a:p>
          <a:p>
            <a:r>
              <a:t>Then a matmul. It has two costs, and if you sweep ordinary shapes you can never separate</a:t>
            </a:r>
          </a:p>
          <a:p>
            <a:r>
              <a:t>them. So we do not. For the memory term we use multiplies with a very thin contraction</a:t>
            </a:r>
          </a:p>
          <a:p>
            <a:r>
              <a:t>dimension, which do almost no arithmetic — what is left is memory, and it turns out to be the</a:t>
            </a:r>
          </a:p>
          <a:p>
            <a:r>
              <a:t>pointwise model again, with no new constant. For the arithmetic term we sweep the core count</a:t>
            </a:r>
          </a:p>
          <a:p>
            <a:r>
              <a:t>and take the slope of time against one over cores. A slope is immune to any constant offset,</a:t>
            </a:r>
          </a:p>
          <a:p>
            <a:r>
              <a:t>which matters enormously here, because the thing we do not yet understand — how compute and</a:t>
            </a:r>
          </a:p>
          <a:p>
            <a:r>
              <a:t>memory overlap — is exactly such an offset. It cannot contaminate a slope.</a:t>
            </a:r>
          </a:p>
          <a:p>
            <a:endParaRPr/>
          </a:p>
          <a:p>
            <a:r>
              <a:t>Only then do we combine them. The array computes on one block of operands while the next</a:t>
            </a:r>
          </a:p>
          <a:p>
            <a:r>
              <a:t>streams in, so the kernel takes the longer of the two rather than their sum. That is the</a:t>
            </a:r>
          </a:p>
          <a:p>
            <a:r>
              <a:t>mechanism, and I will be honest on the accuracy slide about where it is not enough.</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second strategy is the opposite of the first. Rather than designing an experiment, sweep</a:t>
            </a:r>
          </a:p>
          <a:p>
            <a:r>
              <a:t>a very wide range, look at where the model is worst, and only then go looking for a mechanism.</a:t>
            </a:r>
          </a:p>
          <a:p/>
          <a:p>
            <a:r>
              <a:t>Each point here is a real matmul on 32 cores. The vertical axis is measured time minus what</a:t>
            </a:r>
          </a:p>
          <a:p>
            <a:r>
              <a:t>the model predicts without this term. Below about 128 kilobytes of per-core output tile the</a:t>
            </a:r>
          </a:p>
          <a:p>
            <a:r>
              <a:t>residual sits on zero. Above it, it climbs, and at the largest tiles it passes a millisecond.</a:t>
            </a:r>
          </a:p>
          <a:p>
            <a:r>
              <a:t>That is a big, structured miss, and the shape of it says something changes state at a</a:t>
            </a:r>
          </a:p>
          <a:p>
            <a:r>
              <a:t>threshold rather than degrading smoothly.</a:t>
            </a:r>
          </a:p>
          <a:p/>
          <a:p>
            <a:r>
              <a:t>The obvious guess is the LX scratchpad. It is not: the compiled programs show a matmul</a:t>
            </a:r>
          </a:p>
          <a:p>
            <a:r>
              <a:t>allocating none of it. What overflows is on the compute side — the accumulator the systolic</a:t>
            </a:r>
          </a:p>
          <a:p>
            <a:r>
              <a:t>array holds the running output in. While a core's whole output tile fits there, each operand</a:t>
            </a:r>
          </a:p>
          <a:p>
            <a:r>
              <a:t>is streamed in once and reused from the accumulator. 128 kilobytes is 65,536 half-precision</a:t>
            </a:r>
          </a:p>
          <a:p>
            <a:r>
              <a:t>elements, which is a 256 by 256 tile; past that the tile no longer fits, so both operands</a:t>
            </a:r>
          </a:p>
          <a:p>
            <a:r>
              <a:t>have to be streamed again to finish the reuse. That is the extra traffic we are seeing.</a:t>
            </a:r>
          </a:p>
          <a:p/>
          <a:p>
            <a:r>
              <a:t>I want to be careful about what is measured and what is fitted. The knee is measured — its</a:t>
            </a:r>
          </a:p>
          <a:p>
            <a:r>
              <a:t>location is consistent across the sweep, and we established what it is not before deciding</a:t>
            </a:r>
          </a:p>
          <a:p>
            <a:r>
              <a:t>what it is. The curve drawn over it above the knee is fitted. Those are different kinds of</a:t>
            </a:r>
          </a:p>
          <a:p>
            <a:r>
              <a:t>claim and we keep them apart, in the model and in the write-up. Where a coefficient existed</a:t>
            </a:r>
          </a:p>
          <a:p>
            <a:r>
              <a:t>only to absorb a residual with no mechanism behind it, we deleted it rather than shipped it.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06375" y="228600"/>
            <a:ext cx="6419850" cy="3611563"/>
          </a:xfrm>
        </p:spPr>
      </p:sp>
      <p:sp>
        <p:nvSpPr>
          <p:cNvPr id="3" name="Notes Placeholder 2"/>
          <p:cNvSpPr>
            <a:spLocks noGrp="1"/>
          </p:cNvSpPr>
          <p:nvPr>
            <p:ph type="body" sz="quarter" idx="3"/>
          </p:nvPr>
        </p:nvSpPr>
        <p:spPr/>
        <p:txBody>
          <a:bodyPr/>
          <a:lstStyle/>
          <a:p>
            <a:r>
              <a:t>This one matters for everything in the second half, so I want to spend a moment on it.</a:t>
            </a:r>
          </a:p>
          <a:p/>
          <a:p>
            <a:r>
              <a:t>The example is a single matrix multiply: a 4096 by 2048 matrix times a 2048 by 1024 one, with</a:t>
            </a:r>
          </a:p>
          <a:p>
            <a:r>
              <a:t>the output rows split into four tiles. Coarse tiling turns that one operation into a loop of</a:t>
            </a:r>
          </a:p>
          <a:p>
            <a:r>
              <a:t>four smaller ones so each step's working set fits on chip. The arithmetic is identical either</a:t>
            </a:r>
          </a:p>
          <a:p>
            <a:r>
              <a:t>way. The traffic is not, and the reason is not obvious.</a:t>
            </a:r>
          </a:p>
          <a:p/>
          <a:p>
            <a:r>
              <a:t>Look at each operand and ask one question: as the loop advances, does this tensor's address</a:t>
            </a:r>
          </a:p>
          <a:p>
            <a:r>
              <a:t>move along the dimension being tiled? For A, yes — each pass takes a different block of rows,</a:t>
            </a:r>
          </a:p>
          <a:p>
            <a:r>
              <a:t>so across the whole loop A is transferred exactly once. For the output C, the same. But for B,</a:t>
            </a:r>
          </a:p>
          <a:p>
            <a:r>
              <a:t>no. Every pass needs the entire B matrix, because every output row multiplies against all of</a:t>
            </a:r>
          </a:p>
          <a:p>
            <a:r>
              <a:t>it. So B is re-sent once per tile — four times here.</a:t>
            </a:r>
          </a:p>
          <a:p/>
          <a:p>
            <a:r>
              <a:t>Traffic is then the sum over tensors of size times moves. In this example that is 42 megabytes</a:t>
            </a:r>
          </a:p>
          <a:p>
            <a:r>
              <a:t>rather than the 29 you would get by counting each tensor once. And notice which tensor</a:t>
            </a:r>
          </a:p>
          <a:p>
            <a:r>
              <a:t>dominates: B is the smallest of the three at 4.2 megabytes, and it ends up costing as much as</a:t>
            </a:r>
          </a:p>
          <a:p>
            <a:r>
              <a:t>the 16.8-megabyte A.</a:t>
            </a:r>
          </a:p>
          <a:p/>
          <a:p>
            <a:r>
              <a:t>Two practical notes. Deciding this needs both halves of the compiled program — the tiling</a:t>
            </a:r>
          </a:p>
          <a:p>
            <a:r>
              <a:t>metadata says which dimension is tiled and how often, the addressing says which operands</a:t>
            </a:r>
          </a:p>
          <a:p>
            <a:r>
              <a:t>follow it, and the addressing alone proves nothing because it is character-for-character</a:t>
            </a:r>
          </a:p>
          <a:p>
            <a:r>
              <a:t>identical before and after tiling. And when the loop tiles a reduction instead, the compiler</a:t>
            </a:r>
          </a:p>
          <a:p>
            <a:r>
              <a:t>inserts helper steps to initialise and accumulate, and those carry about a third of the</a:t>
            </a:r>
          </a:p>
          <a:p>
            <a:r>
              <a:t>traffic. Which is why the unit we price is the loop, not the operation.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findings from the measurement campaign that were not what we expected, and that are</a:t>
            </a:r>
          </a:p>
          <a:p>
            <a:r>
              <a:t>useful beyond this model. This is the first.</a:t>
            </a:r>
          </a:p>
          <a:p>
            <a:endParaRPr/>
          </a:p>
          <a:p>
            <a:r>
              <a:t>We started with one bandwidth number. It does not exist. Sweeping only the traffic mix — at a</a:t>
            </a:r>
          </a:p>
          <a:p>
            <a:r>
              <a:t>single tensor height, so size cannot confound it — the effective bandwidth moves between about</a:t>
            </a:r>
          </a:p>
          <a:p>
            <a:r>
              <a:t>106 and 147 gigabytes per second. A kernel that almost only reads runs at 147. A kernel that</a:t>
            </a:r>
          </a:p>
          <a:p>
            <a:r>
              <a:t>reads one tensor and writes one runs at 106. That is a forty per cent spread from nothing but</a:t>
            </a:r>
          </a:p>
          <a:p>
            <a:r>
              <a:t>the ratio of reads to writes.</a:t>
            </a:r>
          </a:p>
          <a:p>
            <a:endParaRPr/>
          </a:p>
          <a:p>
            <a:r>
              <a:t>The shape is the giveaway. It is a symmetric valley: fastest at both ends, slowest in the</a:t>
            </a:r>
          </a:p>
          <a:p>
            <a:r>
              <a:t>middle. That is what a shared bus paying a turnaround cost looks like — the penalty is</a:t>
            </a:r>
          </a:p>
          <a:p>
            <a:r>
              <a:t>proportional to how often the direction changes, which is set by the smaller of the read and</a:t>
            </a:r>
          </a:p>
          <a:p>
            <a:r>
              <a:t>write volumes. It is zero for one-directional traffic and largest when the two are balanced.</a:t>
            </a:r>
          </a:p>
          <a:p>
            <a:r>
              <a:t>So the model carries one peak bandwidth plus a term on min of R and W, and the fitted</a:t>
            </a:r>
          </a:p>
          <a:p>
            <a:r>
              <a:t>turnaround is about six picoseconds per byte.</a:t>
            </a:r>
          </a:p>
          <a:p>
            <a:endParaRPr/>
          </a:p>
          <a:p>
            <a:r>
              <a:t>Two things worth taking away beyond the model. First, both ends of the valley reach the same</a:t>
            </a:r>
          </a:p>
          <a:p>
            <a:r>
              <a:t>height — 147 reading, 144 writing — so reads and writes share one rate and we do not need</a:t>
            </a:r>
          </a:p>
          <a:p>
            <a:r>
              <a:t>separate constants. Second, this is a compiler-visible effect: a pass that changes how much a</a:t>
            </a:r>
          </a:p>
          <a:p>
            <a:r>
              <a:t>kernel writes relative to what it reads is moving the effective bandwidth, not just the byte</a:t>
            </a:r>
          </a:p>
          <a:p>
            <a:r>
              <a:t>count. Fusion decisions do exactly that.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second finding is larger, and it surprised us.</a:t>
            </a:r>
          </a:p>
          <a:p>
            <a:endParaRPr/>
          </a:p>
          <a:p>
            <a:r>
              <a:t>A batched matrix multiply on this hardware runs up to eight times faster or slower depending</a:t>
            </a:r>
          </a:p>
          <a:p>
            <a:r>
              <a:t>only on how its three operands are laid out in memory. Every bar on this chart moves the same</a:t>
            </a:r>
          </a:p>
          <a:p>
            <a:r>
              <a:t>bytes and performs the same arithmetic. There is no re-layout copy inserted between them —</a:t>
            </a:r>
          </a:p>
          <a:p>
            <a:r>
              <a:t>both orders keep the 64-element stick axis in place, so switching is free. The only difference</a:t>
            </a:r>
          </a:p>
          <a:p>
            <a:r>
              <a:t>is which of the remaining axes is slowest-varying: the row, or the batch.</a:t>
            </a:r>
          </a:p>
          <a:p>
            <a:endParaRPr/>
          </a:p>
          <a:p>
            <a:r>
              <a:t>Row-outer is what the compiler emits by default, and it is the slowest of the eight</a:t>
            </a:r>
          </a:p>
          <a:p>
            <a:r>
              <a:t>arrangements. The fastest — both inputs and the output batch-outer — is 8.3 times quicker.</a:t>
            </a:r>
          </a:p>
          <a:p>
            <a:endParaRPr/>
          </a:p>
          <a:p>
            <a:r>
              <a:t>Two details matter for anyone who wants to act on this. The inputs do not act independently:</a:t>
            </a:r>
          </a:p>
          <a:p>
            <a:r>
              <a:t>converting A alone is worth 1.7, converting B alone 1.7, and if those combined independently</a:t>
            </a:r>
          </a:p>
          <a:p>
            <a:r>
              <a:t>you would expect about 2.8. You actually get 4.9. So converting one operand captures far less</a:t>
            </a:r>
          </a:p>
          <a:p>
            <a:r>
              <a:t>than half the available speedup. And the output layout is worth nothing at all until both</a:t>
            </a:r>
          </a:p>
          <a:p>
            <a:r>
              <a:t>inputs are already batch-outer, at which point it is worth another 1.7.</a:t>
            </a:r>
          </a:p>
          <a:p>
            <a:endParaRPr/>
          </a:p>
          <a:p>
            <a:r>
              <a:t>Why does it happen? It is arithmetic, not memory. Time per unit of arithmetic is flat at about</a:t>
            </a:r>
          </a:p>
          <a:p>
            <a:r>
              <a:t>215 microseconds per billion multiply-accumulates across the whole default-layout group,</a:t>
            </a:r>
          </a:p>
          <a:p>
            <a:r>
              <a:t>across sixteen shapes and a sixteen-fold range. A memory effect would track each shape's ratio</a:t>
            </a:r>
          </a:p>
          <a:p>
            <a:r>
              <a:t>of bytes to arithmetic; it does not. The default order walks the batch dimension on the</a:t>
            </a:r>
          </a:p>
          <a:p>
            <a:r>
              <a:t>inside, so consecutive batches share no operand locality and the systolic array is starved.</a:t>
            </a:r>
          </a:p>
          <a:p>
            <a:endParaRPr/>
          </a:p>
          <a:p>
            <a:r>
              <a:t>One honest caveat: these are build-specific numbers. The ratio itself moved between compiler</a:t>
            </a:r>
          </a:p>
          <a:p>
            <a:r>
              <a:t>builds during this work, so the cube should be re-measured rather than quoted forward.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how good is it. This table is the whole answer, and I want to be straightforward about the</a:t>
            </a:r>
          </a:p>
          <a:p>
            <a:r>
              <a:t>bad half as well as the good.</a:t>
            </a:r>
          </a:p>
          <a:p>
            <a:endParaRPr/>
          </a:p>
          <a:p>
            <a:r>
              <a:t>Everything memory-bound sits inside ten per cent RMS: pointwise at 3.6, broadcast at 5,</a:t>
            </a:r>
          </a:p>
          <a:p>
            <a:r>
              <a:t>transport at 6, reduction at 7. Those are hundreds of measured kernels, not a handful, and the</a:t>
            </a:r>
          </a:p>
          <a:p>
            <a:r>
              <a:t>bias is essentially zero — the errors scatter around the measurement rather than sitting to</a:t>
            </a:r>
          </a:p>
          <a:p>
            <a:r>
              <a:t>one side.</a:t>
            </a:r>
          </a:p>
          <a:p>
            <a:endParaRPr/>
          </a:p>
          <a:p>
            <a:r>
              <a:t>Matmul is the weak half. Divided matmuls read thirty per cent, batched matmuls thirty-nine.</a:t>
            </a:r>
          </a:p>
          <a:p>
            <a:r>
              <a:t>And the mean tells you it is not scatter: minus twenty-six and minus twenty-nine. We are</a:t>
            </a:r>
          </a:p>
          <a:p>
            <a:r>
              <a:t>systematically under-predicting.</a:t>
            </a:r>
          </a:p>
          <a:p>
            <a:endParaRPr/>
          </a:p>
          <a:p>
            <a:r>
              <a:t>We know why, and we chose not to paper over it. Compute and memory overlap, so a kernel takes</a:t>
            </a:r>
          </a:p>
          <a:p>
            <a:r>
              <a:t>the longer of the two rather than their sum. That is the right mechanism — adding them</a:t>
            </a:r>
          </a:p>
          <a:p>
            <a:r>
              <a:t>over-predicts everywhere. But the overlap is not perfect: part of the shorter stream fails to</a:t>
            </a:r>
          </a:p>
          <a:p>
            <a:r>
              <a:t>hide behind the longer, and nothing in the model charges for it. We had a fitted coefficient</a:t>
            </a:r>
          </a:p>
          <a:p>
            <a:r>
              <a:t>that closed most of the gap. It had no derivation, different populations wanted different</a:t>
            </a:r>
          </a:p>
          <a:p>
            <a:r>
              <a:t>values in opposite directions, so we removed it. A coefficient that exists only to absorb an</a:t>
            </a:r>
          </a:p>
          <a:p>
            <a:r>
              <a:t>unexplained residual makes a model look better understood than it is.</a:t>
            </a:r>
          </a:p>
          <a:p>
            <a:endParaRPr/>
          </a:p>
          <a:p>
            <a:r>
              <a:t>What survives is the ranking, and that is the column on the right. Rank correlation with</a:t>
            </a:r>
          </a:p>
          <a:p>
            <a:r>
              <a:t>measured time is 0.98 on divided matmuls and 0.88 on batched ones. The error is an offset, so</a:t>
            </a:r>
          </a:p>
          <a:p>
            <a:r>
              <a:t>the ordering is intact. Which means: use this to choose between two plans, do not use it to</a:t>
            </a:r>
          </a:p>
          <a:p>
            <a:r>
              <a:t>promise a wall-clock number. Everything in the rest of the talk is a ranking claim.</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Here is the first test of that. Flash attention is the hardest case in the deck for a good</a:t>
            </a:r>
          </a:p>
          <a:p>
            <a:r>
              <a:rPr dirty="0"/>
              <a:t>reason: it is the one workload with no fitted term of its own. It is a fused kernel of</a:t>
            </a:r>
          </a:p>
          <a:p>
            <a:r>
              <a:rPr dirty="0"/>
              <a:t>twenty-odd operations, and the model prices it purely from the parts we derived earlier —</a:t>
            </a:r>
          </a:p>
          <a:p>
            <a:r>
              <a:rPr dirty="0"/>
              <a:t>bytes, moves, residency, and the arithmetic rate.</a:t>
            </a:r>
          </a:p>
          <a:p>
            <a:endParaRPr dirty="0"/>
          </a:p>
          <a:p>
            <a:r>
              <a:rPr dirty="0"/>
              <a:t>Each point is one configuration: a head count, a sequence length and a core count. The</a:t>
            </a:r>
          </a:p>
          <a:p>
            <a:r>
              <a:rPr dirty="0"/>
              <a:t>horizontal axis is what the card measured, the vertical is what the model said before anything</a:t>
            </a:r>
          </a:p>
          <a:p>
            <a:r>
              <a:rPr dirty="0"/>
              <a:t>ran. The grey diagonal is where a perfect predictor would sit.</a:t>
            </a:r>
          </a:p>
          <a:p>
            <a:endParaRPr dirty="0"/>
          </a:p>
          <a:p>
            <a:r>
              <a:rPr dirty="0"/>
              <a:t>Two things to read off it. The points sit below the diagonal — we under-predict, exactly as</a:t>
            </a:r>
          </a:p>
          <a:p>
            <a:r>
              <a:rPr dirty="0"/>
              <a:t>the previous slide said we would. But within each core count the series rises monotonically:</a:t>
            </a:r>
          </a:p>
          <a:p>
            <a:r>
              <a:rPr dirty="0"/>
              <a:t>as the measured time goes up, so does the prediction, without crossings. That is the property</a:t>
            </a:r>
          </a:p>
          <a:p>
            <a:r>
              <a:rPr dirty="0"/>
              <a:t>a planner needs. If you ask "is this configuration faster than that one", the model answers</a:t>
            </a:r>
          </a:p>
          <a:p>
            <a:r>
              <a:rPr dirty="0"/>
              <a:t>correctly, even though it will tell you both are quicker than they really are.</a:t>
            </a:r>
          </a:p>
          <a:p>
            <a:endParaRPr dirty="0"/>
          </a:p>
          <a:p>
            <a:r>
              <a:rPr dirty="0"/>
              <a:t>The two bands are the two core counts, and that separation is itself informative — it is a</a:t>
            </a:r>
          </a:p>
          <a:p>
            <a:r>
              <a:rPr dirty="0"/>
              <a:t>scale offset between eight and thirty-two cores rather than a ranking error inside either. It</a:t>
            </a:r>
          </a:p>
          <a:p>
            <a:r>
              <a:rPr dirty="0"/>
              <a:t>is also a known gap: the memory term has no core-count scaling below thirty-two cores, and we</a:t>
            </a:r>
          </a:p>
          <a:p>
            <a:r>
              <a:rPr dirty="0"/>
              <a:t>have deliberately not fitted one, because the experiment that would settle it — a core ladder</a:t>
            </a:r>
          </a:p>
          <a:p>
            <a:r>
              <a:rPr dirty="0"/>
              <a:t>with repeats at matched shape — has not been run. Fitting it on the three core counts we have</a:t>
            </a:r>
          </a:p>
          <a:p>
            <a:r>
              <a:rPr dirty="0"/>
              <a:t>would be fitting, not explaining.</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the experiment I most wanted to run: does the model help with a real compiler decision?</a:t>
            </a:r>
          </a:p>
          <a:p/>
          <a:p>
            <a:r>
              <a:t>The decision is scratchpad allocation. Each core has about 1.6 megabytes of LX. When a fused</a:t>
            </a:r>
          </a:p>
          <a:p>
            <a:r>
              <a:t>kernel's intermediates do not all fit, something has to choose which stay on chip, and the</a:t>
            </a:r>
          </a:p>
          <a:p>
            <a:r>
              <a:t>compiler ships four solvers to make that choice. They are on the right. Greedy is the default</a:t>
            </a:r>
          </a:p>
          <a:p>
            <a:r>
              <a:t>and it has no objective function at all — it walks the program in order and keeps whatever</a:t>
            </a:r>
          </a:p>
          <a:p>
            <a:r>
              <a:t>still fits. CP-SAT is an exact solver maximising the bytes kept, weighting each buffer by how</a:t>
            </a:r>
          </a:p>
          <a:p>
            <a:r>
              <a:t>often it is read. Firstfit and bestfit share an ordering — lifetime divided by uses — and</a:t>
            </a:r>
          </a:p>
          <a:p>
            <a:r>
              <a:t>differ only in which gap they drop a buffer into.</a:t>
            </a:r>
          </a:p>
          <a:p/>
          <a:p>
            <a:r>
              <a:t>The example is one flash-attention kernel: sixteen heads, sequence length 1024, on 32 cores.</a:t>
            </a:r>
          </a:p>
          <a:p>
            <a:r>
              <a:t>Every row is a separate compile with the solver flag set, and the residency, the features and</a:t>
            </a:r>
          </a:p>
          <a:p>
            <a:r>
              <a:t>the measured time all come from that same compile. Nothing is reconstructed offline. An</a:t>
            </a:r>
          </a:p>
          <a:p>
            <a:r>
              <a:t>earlier version of this work simulated what each policy would choose, and every one of those</a:t>
            </a:r>
          </a:p>
          <a:p>
            <a:r>
              <a:t>reconstructions differed from what the compiler actually did.</a:t>
            </a:r>
          </a:p>
          <a:p/>
          <a:p>
            <a:r>
              <a:t>The chart draws every movable buffer across the operations it is live for, with height</a:t>
            </a:r>
          </a:p>
          <a:p>
            <a:r>
              <a:t>proportional to per-core size. Purple is kept by all four policies, grey is spilled by all</a:t>
            </a:r>
          </a:p>
          <a:p>
            <a:r>
              <a:t>four, and the single blue bar is the entire disagreement. That buffer is a megabyte per core</a:t>
            </a:r>
          </a:p>
          <a:p>
            <a:r>
              <a:t>and it is read twice. Greedy and cpsat keep it and run 778 microseconds; firstfit and bestfit</a:t>
            </a:r>
          </a:p>
          <a:p>
            <a:r>
              <a:t>spill it and take 1,592. So on this shape the policy choice is worth roughly a factor of two,</a:t>
            </a:r>
          </a:p>
          <a:p>
            <a:r>
              <a:t>and the whole difference is one decision about one tensor.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And here is whether the model saw it coming.</a:t>
            </a:r>
          </a:p>
          <a:p>
            <a:endParaRPr/>
          </a:p>
          <a:p>
            <a:r>
              <a:t>Left panel: what the card measured, each solver divided by the fastest solver on that shape.</a:t>
            </a:r>
          </a:p>
          <a:p>
            <a:r>
              <a:t>Right panel: what the model predicted, normalised the same way, computed from each solver's</a:t>
            </a:r>
          </a:p>
          <a:p>
            <a:r>
              <a:t>own compile before anything ran.</a:t>
            </a:r>
          </a:p>
          <a:p>
            <a:endParaRPr/>
          </a:p>
          <a:p>
            <a:r>
              <a:t>The two panels have the same shape. That is the whole claim. On every shape the model</a:t>
            </a:r>
          </a:p>
          <a:p>
            <a:r>
              <a:t>separates the fast pair from the slow pair, and across the four shapes that is thirteen</a:t>
            </a:r>
          </a:p>
          <a:p>
            <a:r>
              <a:t>comparable pairs ordered correctly out of thirteen.</a:t>
            </a:r>
          </a:p>
          <a:p>
            <a:endParaRPr/>
          </a:p>
          <a:p>
            <a:r>
              <a:t>It is not perfect and I would rather show you where it is not. It over-states the penalty: on</a:t>
            </a:r>
          </a:p>
          <a:p>
            <a:r>
              <a:t>the widest gap it predicts 3.2 times where the card measured 2.2. And in absolute terms it</a:t>
            </a:r>
          </a:p>
          <a:p>
            <a:r>
              <a:t>runs between 0.39 and 0.97 of measured — the systematic under-prediction from the accuracy</a:t>
            </a:r>
          </a:p>
          <a:p>
            <a:r>
              <a:t>slide, showing up again. If you asked it how long the kernel takes, it would be wrong. If you</a:t>
            </a:r>
          </a:p>
          <a:p>
            <a:r>
              <a:t>ask it which policy to use, it is right every time here.</a:t>
            </a:r>
          </a:p>
          <a:p>
            <a:endParaRPr/>
          </a:p>
          <a:p>
            <a:r>
              <a:t>One more thing worth saying, because it is a negative result and those tend to go unreported.</a:t>
            </a:r>
          </a:p>
          <a:p>
            <a:r>
              <a:t>We looked for a case where the default policy loses to cpsat and found none — on all four</a:t>
            </a:r>
          </a:p>
          <a:p>
            <a:r>
              <a:t>shapes cpsat is fastest or tied, and on three of them it picks the byte-identical allocation</a:t>
            </a:r>
          </a:p>
          <a:p>
            <a:r>
              <a:t>to greedy. An offline enumeration over 419 tile configurations agrees: the byte objective is</a:t>
            </a:r>
          </a:p>
          <a:p>
            <a:r>
              <a:t>never strictly worse. So this experiment does not argue for changing the default. What it does</a:t>
            </a:r>
          </a:p>
          <a:p>
            <a:r>
              <a:t>establish is that the model can be trusted to rank allocations, which is the property a</a:t>
            </a:r>
          </a:p>
          <a:p>
            <a:r>
              <a:t>planning pass would need.</a:t>
            </a:r>
          </a:p>
          <a:p>
            <a:endParaRPr/>
          </a:p>
          <a:p>
            <a:r>
              <a:t>One question you should ask: I said earlier that plans could be priced without compiling, and</a:t>
            </a:r>
          </a:p>
          <a:p>
            <a:r>
              <a:t>here I compiled four times. That is deliberate. An earlier version of this experiment</a:t>
            </a:r>
          </a:p>
          <a:p>
            <a:r>
              <a:t>reconstructed each policy's allocation offline instead of running it, and every one of those</a:t>
            </a:r>
          </a:p>
          <a:p>
            <a:r>
              <a:t>reconstructions was wrong — they kept buffers the compiler spills. So the honest version runs</a:t>
            </a:r>
          </a:p>
          <a:p>
            <a:r>
              <a:t>the real solver. Querying the solver in-pass, rather than through a full compile, is the first</a:t>
            </a:r>
          </a:p>
          <a:p>
            <a:r>
              <a:t>piece of engineering that would follow.</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directions, roughly in order of how ready they are.</a:t>
            </a:r>
          </a:p>
          <a:p>
            <a:endParaRPr/>
          </a:p>
          <a:p>
            <a:r>
              <a:t>The first is to actually drive a pass with this. Scratchpad allocation and coarse tiling are</a:t>
            </a:r>
          </a:p>
          <a:p>
            <a:r>
              <a:t>both chosen in the same place in the pipeline, and HBM traffic is still what dominates these</a:t>
            </a:r>
          </a:p>
          <a:p>
            <a:r>
              <a:t>kernels — so this is where the model would pay. But the case I just showed is deliberately the</a:t>
            </a:r>
          </a:p>
          <a:p>
            <a:r>
              <a:t>easy version: four policies, one program, everything else held fixed. The real decision is</a:t>
            </a:r>
          </a:p>
          <a:p>
            <a:r>
              <a:t>larger. How many tiles, how big each tile is, and which buffers stay resident are not</a:t>
            </a:r>
          </a:p>
          <a:p>
            <a:r>
              <a:t>independent — a smaller tile spills less but moves more, and the best allocation depends on</a:t>
            </a:r>
          </a:p>
          <a:p>
            <a:r>
              <a:t>the tiling you chose. Pricing those together is a much bigger space than four candidates, and</a:t>
            </a:r>
          </a:p>
          <a:p>
            <a:r>
              <a:t>it is exactly the kind of space a cheap analytical model is for.</a:t>
            </a:r>
          </a:p>
          <a:p>
            <a:endParaRPr/>
          </a:p>
          <a:p>
            <a:r>
              <a:t>The second is that the findings are worth more than the model. Read-write ratio moves</a:t>
            </a:r>
          </a:p>
          <a:p>
            <a:r>
              <a:t>effective bandwidth by forty per cent. Operand layout moves a batched multiply by eight times.</a:t>
            </a:r>
          </a:p>
          <a:p>
            <a:r>
              <a:t>Work division changes both. Each of those is larger than the model's own error, and each is</a:t>
            </a:r>
          </a:p>
          <a:p>
            <a:r>
              <a:t>decided by a pass that currently cannot see it. That is true whether or not anyone ever wires</a:t>
            </a:r>
          </a:p>
          <a:p>
            <a:r>
              <a:t>the cost model in.</a:t>
            </a:r>
          </a:p>
          <a:p>
            <a:endParaRPr/>
          </a:p>
          <a:p>
            <a:r>
              <a:t>The third is the honest maintenance list: the core-count offset below thirty-two cores, and</a:t>
            </a:r>
          </a:p>
          <a:p>
            <a:r>
              <a:t>the overlap residual on matmul. Both are known, both are one-sided, and both need a controlled</a:t>
            </a:r>
          </a:p>
          <a:p>
            <a:r>
              <a:t>sweep with repeats rather than another fitted coefficient. I would rather carry a stated gap</a:t>
            </a:r>
          </a:p>
          <a:p>
            <a:r>
              <a:t>than a number nobody can explain.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 want to close on a direction that came out of this work sideways, and to be specific about</a:t>
            </a:r>
          </a:p>
          <a:p>
            <a:r>
              <a:t>the arithmetic rather than waving at a diagram.</a:t>
            </a:r>
          </a:p>
          <a:p/>
          <a:p>
            <a:r>
              <a:t>Take one attention head. The output is softmax of Q K-transpose, times V. Now split the work</a:t>
            </a:r>
          </a:p>
          <a:p>
            <a:r>
              <a:t>across cores the way the compiler does when there are fewer heads than cores: each core takes</a:t>
            </a:r>
          </a:p>
          <a:p>
            <a:r>
              <a:t>a slice of the query rows. Q is split, and so is the output — each core owns its own rows and</a:t>
            </a:r>
          </a:p>
          <a:p>
            <a:r>
              <a:t>reads and writes them once.</a:t>
            </a:r>
          </a:p>
          <a:p/>
          <a:p>
            <a:r>
              <a:t>K and V are different. Every query attends to every key, so every core in that cohort needs</a:t>
            </a:r>
          </a:p>
          <a:p>
            <a:r>
              <a:t>all of K and all of V. They are not split; they are shared. And the sharing is between cores,</a:t>
            </a:r>
          </a:p>
          <a:p>
            <a:r>
              <a:t>not inside one. So the traffic per head is L by D for Q, L by D for the output, and c times</a:t>
            </a:r>
          </a:p>
          <a:p>
            <a:r>
              <a:t>two L by D for K and V, where c is how many cores share the head. At 32 cores with four</a:t>
            </a:r>
          </a:p>
          <a:p>
            <a:r>
              <a:t>key-value heads, c is eight — we move K and V across the memory bus eight times.</a:t>
            </a:r>
          </a:p>
          <a:p/>
          <a:p>
            <a:r>
              <a:t>Now, Spyre has a bi-directional ring, and in fact two of them. The reduce-sum ring is in use</a:t>
            </a:r>
          </a:p>
          <a:p>
            <a:r>
              <a:t>today: when the compiler splits a matmul's contraction dimension, the partial sums cross the</a:t>
            </a:r>
          </a:p>
          <a:p>
            <a:r>
              <a:t>fabric, and there is even a pass that permutes core IDs so the collaborating cores land next</a:t>
            </a:r>
          </a:p>
          <a:p>
            <a:r>
              <a:t>to each other. The data ring — core-to-core scratchpad reads — has never been emitted. Not</a:t>
            </a:r>
          </a:p>
          <a:p>
            <a:r>
              <a:t>once, in any schedule.</a:t>
            </a:r>
          </a:p>
          <a:p/>
          <a:p>
            <a:r>
              <a:t>So the situation is this. The one tensor pair that every core in the cohort needs is precisely</a:t>
            </a:r>
          </a:p>
          <a:p>
            <a:r>
              <a:t>the one we send over the external bus the most, and the on-chip path that could carry it</a:t>
            </a:r>
          </a:p>
          <a:p>
            <a:r>
              <a:t>between cores exists and is unused. That is the opportunity, and it is arithmetic, not</a:t>
            </a:r>
          </a:p>
          <a:p>
            <a:r>
              <a:t>speculation.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what would collect it.</a:t>
            </a:r>
          </a:p>
          <a:p/>
          <a:p>
            <a:r>
              <a:t>The key licensing fact is in FlashAttention itself. The online softmax keeps a running maximum</a:t>
            </a:r>
          </a:p>
          <a:p>
            <a:r>
              <a:t>and a running sum and rescales as it goes, which means the K/V blocks can be consumed in any</a:t>
            </a:r>
          </a:p>
          <a:p>
            <a:r>
              <a:t>order and you still get the identical result. That associativity is normally used to stream</a:t>
            </a:r>
          </a:p>
          <a:p>
            <a:r>
              <a:t>blocks from memory one at a time. It equally permits the blocks to arrive from a neighbouring</a:t>
            </a:r>
          </a:p>
          <a:p>
            <a:r>
              <a:t>core.</a:t>
            </a:r>
          </a:p>
          <a:p/>
          <a:p>
            <a:r>
              <a:t>So: give each of the c cores one c-th of K and V rather than all of it. Then take c minus one</a:t>
            </a:r>
          </a:p>
          <a:p>
            <a:r>
              <a:t>steps. At each step every core computes its partial attention against the block it currently</a:t>
            </a:r>
          </a:p>
          <a:p>
            <a:r>
              <a:t>holds, updates its running max and sum, and passes that block to its ring neighbour. After the</a:t>
            </a:r>
          </a:p>
          <a:p>
            <a:r>
              <a:t>last step every core has seen every block, and K and V have crossed the external bus exactly</a:t>
            </a:r>
          </a:p>
          <a:p>
            <a:r>
              <a:t>once instead of c times. On the left of the figure is what we do now — the whole block pulled</a:t>
            </a:r>
          </a:p>
          <a:p>
            <a:r>
              <a:t>per core. On the right is the rotation. At a realistic configuration that is 32 megabytes of</a:t>
            </a:r>
          </a:p>
          <a:p>
            <a:r>
              <a:t>off-chip traffic against four.</a:t>
            </a:r>
          </a:p>
          <a:p/>
          <a:p>
            <a:r>
              <a:t>The primitive this needs is the weakest one on the list: send to your neighbour. It is not a</a:t>
            </a:r>
          </a:p>
          <a:p>
            <a:r>
              <a:t>multicast — a ring would be genuinely bad at multicast, and if the win required one I would not</a:t>
            </a:r>
          </a:p>
          <a:p>
            <a:r>
              <a:t>be showing you this. Every link is busy at once, and the exchange costs about one block time</a:t>
            </a:r>
          </a:p>
          <a:p>
            <a:r>
              <a:t>regardless of how many cores are in the ring.</a:t>
            </a:r>
          </a:p>
          <a:p/>
          <a:p>
            <a:r>
              <a:t>I will end on the honest limit, because it splits the idea in two. Rotation is the ring's best</a:t>
            </a:r>
          </a:p>
          <a:p>
            <a:r>
              <a:t>case. An arbitrary re-shuffle — which is the general case the scratchpad planner keeps hitting</a:t>
            </a:r>
          </a:p>
          <a:p>
            <a:r>
              <a:t>— is its worst: a ring's bisection is two links, so a full permutation could be slower than</a:t>
            </a:r>
          </a:p>
          <a:p>
            <a:r>
              <a:t>going through memory. So the decision is per-instance, it depends on the access pattern, and</a:t>
            </a:r>
          </a:p>
          <a:p>
            <a:r>
              <a:t>it needs a model that knows both the pattern and the topology. Which is roughly where this</a:t>
            </a:r>
          </a:p>
          <a:p>
            <a:r>
              <a:t>talk started.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Thanks — I am Haoyang, and for the last stretch I have been working inside torch-spyre, the</a:t>
            </a:r>
          </a:p>
          <a:p>
            <a:r>
              <a:t>PyTorch backend for the Spyre accelerator, on the middle of the compiler.</a:t>
            </a:r>
          </a:p>
          <a:p/>
          <a:p>
            <a:r>
              <a:t>The one-line version of this talk: I built an analytical cost model that predicts how long a</a:t>
            </a:r>
          </a:p>
          <a:p>
            <a:r>
              <a:t>compiled kernel will take before anything runs, derived it from measurements on the card</a:t>
            </a:r>
          </a:p>
          <a:p>
            <a:r>
              <a:t>rather than from a datasheet, and then tested whether it is good enough to make a real</a:t>
            </a:r>
          </a:p>
          <a:p>
            <a:r>
              <a:t>compiler decision. Along the way the measurements turned up two things about this hardware</a:t>
            </a:r>
          </a:p>
          <a:p>
            <a:r>
              <a:t>that are worth knowing regardless of the model.</a:t>
            </a:r>
          </a:p>
          <a:p/>
          <a:p>
            <a:r>
              <a:t>I will be explicit throughout about which parts are measured, which are fitted, and which are</a:t>
            </a:r>
          </a:p>
          <a:p>
            <a:r>
              <a:t>still open — including the places where the model is plainly wrong.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set up what the thing is before any numbers.</a:t>
            </a:r>
          </a:p>
          <a:p/>
          <a:p>
            <a:r>
              <a:t>The motivation is that the compiler makes several decisions — how to tile an operation, how to</a:t>
            </a:r>
          </a:p>
          <a:p>
            <a:r>
              <a:t>divide work across cores, which buffers stay in the scratchpad — and today it makes them with</a:t>
            </a:r>
          </a:p>
          <a:p>
            <a:r>
              <a:t>heuristics that have no notion of time. Some have no objective function at all. To do better</a:t>
            </a:r>
          </a:p>
          <a:p>
            <a:r>
              <a:t>you need to be able to compare two candidate plans, and on this hardware you cannot simply</a:t>
            </a:r>
          </a:p>
          <a:p>
            <a:r>
              <a:t>compile and run both: hardware is scarce, a compile is minutes, and the search space is large.</a:t>
            </a:r>
          </a:p>
          <a:p>
            <a:r>
              <a:t>So you need to be able to price a plan cheaply, from the compiler's own data structures.</a:t>
            </a:r>
          </a:p>
          <a:p/>
          <a:p>
            <a:r>
              <a:t>That is what this is. The input is the loop-level IR after every pre-scheduling pass — the</a:t>
            </a:r>
          </a:p>
          <a:p>
            <a:r>
              <a:t>point where the program's shape is final. The output is a predicted runtime for the whole</a:t>
            </a:r>
          </a:p>
          <a:p>
            <a:r>
              <a:t>program, printed for a human and returned as a value another pass can read.</a:t>
            </a:r>
          </a:p>
          <a:p/>
          <a:p>
            <a:r>
              <a:t>On coverage: it prices all the ordinary op classes — pointwise, reductions, broadcasts,</a:t>
            </a:r>
          </a:p>
          <a:p>
            <a:r>
              <a:t>transports and matmul — and it handles coarse tiling, which is the compiler's special fusion</a:t>
            </a:r>
          </a:p>
          <a:p>
            <a:r>
              <a:t>where one operation becomes a loop. It is verified end to end on flash attention, which is</a:t>
            </a:r>
          </a:p>
          <a:p>
            <a:r>
              <a:t>useful precisely because flash attention has no fitted term of its own: it is priced purely</a:t>
            </a:r>
          </a:p>
          <a:p>
            <a:r>
              <a:t>from the parts.</a:t>
            </a:r>
          </a:p>
          <a:p/>
          <a:p>
            <a:r>
              <a:t>One thing it is not. It is off by default and it is read-only. It prints and it returns;</a:t>
            </a:r>
          </a:p>
          <a:p>
            <a:r>
              <a:t>nothing in the compiler consumes it yet. The second half of the talk is the evidence about</a:t>
            </a:r>
          </a:p>
          <a:p>
            <a:r>
              <a:t>whether it deserves to.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imagery">
    <p:spTree>
      <p:nvGrpSpPr>
        <p:cNvPr id="1" name=""/>
        <p:cNvGrpSpPr/>
        <p:nvPr/>
      </p:nvGrpSpPr>
      <p:grpSpPr>
        <a:xfrm>
          <a:off x="0" y="0"/>
          <a:ext cx="0" cy="0"/>
          <a:chOff x="0" y="0"/>
          <a:chExt cx="0" cy="0"/>
        </a:xfrm>
      </p:grpSpPr>
      <p:sp>
        <p:nvSpPr>
          <p:cNvPr id="5" name="Picture Placeholder 4" descr="Place imagery here">
            <a:extLst>
              <a:ext uri="{FF2B5EF4-FFF2-40B4-BE49-F238E27FC236}">
                <a16:creationId xmlns:a16="http://schemas.microsoft.com/office/drawing/2014/main" id="{EA7055A2-0B5C-73F2-C2DB-FC7245A7AB38}"/>
              </a:ext>
            </a:extLst>
          </p:cNvPr>
          <p:cNvSpPr>
            <a:spLocks noGrp="1"/>
          </p:cNvSpPr>
          <p:nvPr>
            <p:ph type="pic" sz="quarter" idx="11" hasCustomPrompt="1"/>
          </p:nvPr>
        </p:nvSpPr>
        <p:spPr>
          <a:xfrm>
            <a:off x="0" y="0"/>
            <a:ext cx="24387175" cy="12001500"/>
          </a:xfrm>
          <a:solidFill>
            <a:srgbClr val="E0E0E0"/>
          </a:solidFill>
        </p:spPr>
        <p:txBody>
          <a:bodyPr anchor="ctr"/>
          <a:lstStyle>
            <a:lvl1pPr algn="ctr">
              <a:defRPr>
                <a:solidFill>
                  <a:schemeClr val="accent5"/>
                </a:solidFill>
              </a:defRPr>
            </a:lvl1pPr>
          </a:lstStyle>
          <a:p>
            <a:r>
              <a:rPr lang="en-US" dirty="0"/>
              <a:t>Place imagery here</a:t>
            </a: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8" cy="6288087"/>
          </a:xfrm>
        </p:spPr>
        <p:txBody>
          <a:bodyPr/>
          <a:lstStyle>
            <a:lvl1pPr>
              <a:lnSpc>
                <a:spcPct val="100000"/>
              </a:lnSpc>
              <a:defRPr sz="8600">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D404A9AD-5866-6BA4-C928-31A5F88EF1E5}"/>
              </a:ext>
            </a:extLst>
          </p:cNvPr>
          <p:cNvSpPr>
            <a:spLocks noGrp="1"/>
          </p:cNvSpPr>
          <p:nvPr>
            <p:ph type="body" sz="quarter" idx="12"/>
          </p:nvPr>
        </p:nvSpPr>
        <p:spPr>
          <a:xfrm>
            <a:off x="576072" y="12088368"/>
            <a:ext cx="4937887" cy="1143000"/>
          </a:xfrm>
        </p:spPr>
        <p:txBody>
          <a:bodyPr anchor="b"/>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7D4A8A02-E5FB-018D-1574-2015680C3A07}"/>
              </a:ext>
            </a:extLst>
          </p:cNvPr>
          <p:cNvSpPr>
            <a:spLocks noGrp="1"/>
          </p:cNvSpPr>
          <p:nvPr>
            <p:ph type="body" sz="quarter" idx="13"/>
          </p:nvPr>
        </p:nvSpPr>
        <p:spPr>
          <a:xfrm>
            <a:off x="6671501" y="12084739"/>
            <a:ext cx="4937887" cy="1143000"/>
          </a:xfrm>
        </p:spPr>
        <p:txBody>
          <a:bodyPr anchor="b"/>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8" name="Picture 7" descr="IBM 8-bar logo">
            <a:extLst>
              <a:ext uri="{FF2B5EF4-FFF2-40B4-BE49-F238E27FC236}">
                <a16:creationId xmlns:a16="http://schemas.microsoft.com/office/drawing/2014/main" id="{418F6040-10C6-A4A5-7C1E-09A9F553C05B}"/>
              </a:ext>
            </a:extLst>
          </p:cNvPr>
          <p:cNvPicPr>
            <a:picLocks noChangeAspect="1"/>
          </p:cNvPicPr>
          <p:nvPr userDrawn="1"/>
        </p:nvPicPr>
        <p:blipFill>
          <a:blip r:embed="rId2"/>
          <a:stretch>
            <a:fillRect/>
          </a:stretch>
        </p:blipFill>
        <p:spPr>
          <a:xfrm>
            <a:off x="22279951" y="12526963"/>
            <a:ext cx="1638300" cy="609600"/>
          </a:xfrm>
          <a:prstGeom prst="rect">
            <a:avLst/>
          </a:prstGeom>
        </p:spPr>
      </p:pic>
    </p:spTree>
    <p:extLst>
      <p:ext uri="{BB962C8B-B14F-4D97-AF65-F5344CB8AC3E}">
        <p14:creationId xmlns:p14="http://schemas.microsoft.com/office/powerpoint/2010/main" val="4196795180"/>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cyan">
    <p:spTree>
      <p:nvGrpSpPr>
        <p:cNvPr id="1" name=""/>
        <p:cNvGrpSpPr/>
        <p:nvPr/>
      </p:nvGrpSpPr>
      <p:grpSpPr>
        <a:xfrm>
          <a:off x="0" y="0"/>
          <a:ext cx="0" cy="0"/>
          <a:chOff x="0" y="0"/>
          <a:chExt cx="0" cy="0"/>
        </a:xfrm>
      </p:grpSpPr>
      <p:sp>
        <p:nvSpPr>
          <p:cNvPr id="3" name="Rectangle 2" descr="Blue 10 full slide background ">
            <a:extLst>
              <a:ext uri="{FF2B5EF4-FFF2-40B4-BE49-F238E27FC236}">
                <a16:creationId xmlns:a16="http://schemas.microsoft.com/office/drawing/2014/main" id="{8D23798D-A03E-2BC6-136A-14C1E387E723}"/>
              </a:ext>
            </a:extLst>
          </p:cNvPr>
          <p:cNvSpPr/>
          <p:nvPr userDrawn="1"/>
        </p:nvSpPr>
        <p:spPr bwMode="auto">
          <a:xfrm>
            <a:off x="0" y="0"/>
            <a:ext cx="24387175" cy="12001500"/>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9" cy="4573587"/>
          </a:xfrm>
        </p:spPr>
        <p:txBody>
          <a:bodyPr/>
          <a:lstStyle>
            <a:lvl1pPr>
              <a:lnSpc>
                <a:spcPct val="100000"/>
              </a:lnSpc>
              <a:defRPr sz="8600">
                <a:solidFill>
                  <a:schemeClr val="tx2"/>
                </a:solidFill>
              </a:defRPr>
            </a:lvl1pPr>
          </a:lstStyle>
          <a:p>
            <a:r>
              <a:rPr lang="en-US"/>
              <a:t>Click to edit Master title style</a:t>
            </a:r>
            <a:endParaRPr lang="en-US" dirty="0"/>
          </a:p>
        </p:txBody>
      </p:sp>
      <p:sp>
        <p:nvSpPr>
          <p:cNvPr id="5" name="Text Placeholder 6">
            <a:extLst>
              <a:ext uri="{FF2B5EF4-FFF2-40B4-BE49-F238E27FC236}">
                <a16:creationId xmlns:a16="http://schemas.microsoft.com/office/drawing/2014/main" id="{28CADC67-06E4-9D0B-7A49-159C1E99D517}"/>
              </a:ext>
            </a:extLst>
          </p:cNvPr>
          <p:cNvSpPr>
            <a:spLocks noGrp="1"/>
          </p:cNvSpPr>
          <p:nvPr>
            <p:ph type="body" sz="quarter" idx="12"/>
          </p:nvPr>
        </p:nvSpPr>
        <p:spPr>
          <a:xfrm>
            <a:off x="576072" y="12088368"/>
            <a:ext cx="4937887" cy="1143000"/>
          </a:xfrm>
        </p:spPr>
        <p:txBody>
          <a:bodyPr anchor="b"/>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6BAFC6AD-C46B-8438-C789-096006859E45}"/>
              </a:ext>
            </a:extLst>
          </p:cNvPr>
          <p:cNvSpPr>
            <a:spLocks noGrp="1"/>
          </p:cNvSpPr>
          <p:nvPr>
            <p:ph type="body" sz="quarter" idx="13"/>
          </p:nvPr>
        </p:nvSpPr>
        <p:spPr>
          <a:xfrm>
            <a:off x="6671501" y="12084739"/>
            <a:ext cx="4937887" cy="1143000"/>
          </a:xfrm>
        </p:spPr>
        <p:txBody>
          <a:bodyPr anchor="b"/>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4" name="Picture 3" descr="IBM 8-bar logo">
            <a:extLst>
              <a:ext uri="{FF2B5EF4-FFF2-40B4-BE49-F238E27FC236}">
                <a16:creationId xmlns:a16="http://schemas.microsoft.com/office/drawing/2014/main" id="{CCD12723-D775-EE21-95A9-8E6D8BA4DC28}"/>
              </a:ext>
            </a:extLst>
          </p:cNvPr>
          <p:cNvPicPr>
            <a:picLocks noChangeAspect="1"/>
          </p:cNvPicPr>
          <p:nvPr userDrawn="1"/>
        </p:nvPicPr>
        <p:blipFill>
          <a:blip r:embed="rId2"/>
          <a:stretch>
            <a:fillRect/>
          </a:stretch>
        </p:blipFill>
        <p:spPr>
          <a:xfrm>
            <a:off x="22279951" y="12526963"/>
            <a:ext cx="1638300" cy="609600"/>
          </a:xfrm>
          <a:prstGeom prst="rect">
            <a:avLst/>
          </a:prstGeom>
        </p:spPr>
      </p:pic>
    </p:spTree>
    <p:extLst>
      <p:ext uri="{BB962C8B-B14F-4D97-AF65-F5344CB8AC3E}">
        <p14:creationId xmlns:p14="http://schemas.microsoft.com/office/powerpoint/2010/main" val="1698670438"/>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plai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9" cy="4573587"/>
          </a:xfrm>
        </p:spPr>
        <p:txBody>
          <a:bodyPr/>
          <a:lstStyle>
            <a:lvl1pPr>
              <a:lnSpc>
                <a:spcPct val="100000"/>
              </a:lnSpc>
              <a:defRPr sz="8600"/>
            </a:lvl1pPr>
          </a:lstStyle>
          <a:p>
            <a:r>
              <a:rPr lang="en-US"/>
              <a:t>Click to edit Master title style</a:t>
            </a:r>
            <a:endParaRPr lang="en-US" dirty="0"/>
          </a:p>
        </p:txBody>
      </p:sp>
      <p:pic>
        <p:nvPicPr>
          <p:cNvPr id="3" name="Picture 2" descr="IBM 8-bar logo">
            <a:extLst>
              <a:ext uri="{FF2B5EF4-FFF2-40B4-BE49-F238E27FC236}">
                <a16:creationId xmlns:a16="http://schemas.microsoft.com/office/drawing/2014/main" id="{D1A09496-D938-6EB1-106C-48C5E423EAB0}"/>
              </a:ext>
            </a:extLst>
          </p:cNvPr>
          <p:cNvPicPr>
            <a:picLocks noChangeAspect="1"/>
          </p:cNvPicPr>
          <p:nvPr userDrawn="1"/>
        </p:nvPicPr>
        <p:blipFill>
          <a:blip r:embed="rId2"/>
          <a:stretch>
            <a:fillRect/>
          </a:stretch>
        </p:blipFill>
        <p:spPr>
          <a:xfrm>
            <a:off x="22279951" y="12526963"/>
            <a:ext cx="1638300" cy="609600"/>
          </a:xfrm>
          <a:prstGeom prst="rect">
            <a:avLst/>
          </a:prstGeom>
        </p:spPr>
      </p:pic>
    </p:spTree>
    <p:extLst>
      <p:ext uri="{BB962C8B-B14F-4D97-AF65-F5344CB8AC3E}">
        <p14:creationId xmlns:p14="http://schemas.microsoft.com/office/powerpoint/2010/main" val="222487865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plain, business uni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8" cy="4573587"/>
          </a:xfrm>
        </p:spPr>
        <p:txBody>
          <a:bodyPr/>
          <a:lstStyle>
            <a:lvl1pPr>
              <a:lnSpc>
                <a:spcPct val="100000"/>
              </a:lnSpc>
              <a:defRPr sz="86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3A2629C-3C99-5809-3D6C-46ACEB922F7C}"/>
              </a:ext>
            </a:extLst>
          </p:cNvPr>
          <p:cNvSpPr>
            <a:spLocks noGrp="1"/>
          </p:cNvSpPr>
          <p:nvPr>
            <p:ph type="body" sz="quarter" idx="10"/>
          </p:nvPr>
        </p:nvSpPr>
        <p:spPr>
          <a:xfrm>
            <a:off x="576072" y="12463272"/>
            <a:ext cx="11050588" cy="762000"/>
          </a:xfrm>
        </p:spPr>
        <p:txBody>
          <a:bodyPr anchor="b"/>
          <a:lstStyle>
            <a:lvl1pPr>
              <a:lnSpc>
                <a:spcPct val="110000"/>
              </a:lnSpc>
              <a:spcBef>
                <a:spcPts val="0"/>
              </a:spcBef>
              <a:defRPr sz="2800">
                <a:solidFill>
                  <a:schemeClr val="tx1"/>
                </a:solidFill>
              </a:defRPr>
            </a:lvl1pPr>
          </a:lstStyle>
          <a:p>
            <a:pPr lvl="0"/>
            <a:r>
              <a:rPr lang="en-US"/>
              <a:t>Click to edit Master text styles</a:t>
            </a:r>
          </a:p>
        </p:txBody>
      </p:sp>
      <p:pic>
        <p:nvPicPr>
          <p:cNvPr id="3" name="Picture 2" descr="IBM 8-bar logo">
            <a:extLst>
              <a:ext uri="{FF2B5EF4-FFF2-40B4-BE49-F238E27FC236}">
                <a16:creationId xmlns:a16="http://schemas.microsoft.com/office/drawing/2014/main" id="{6C5E26C6-9CEF-2A61-0C64-FAACB68F53D2}"/>
              </a:ext>
            </a:extLst>
          </p:cNvPr>
          <p:cNvPicPr>
            <a:picLocks noChangeAspect="1"/>
          </p:cNvPicPr>
          <p:nvPr userDrawn="1"/>
        </p:nvPicPr>
        <p:blipFill>
          <a:blip r:embed="rId2"/>
          <a:stretch>
            <a:fillRect/>
          </a:stretch>
        </p:blipFill>
        <p:spPr>
          <a:xfrm>
            <a:off x="22279951" y="12526963"/>
            <a:ext cx="1638300" cy="609600"/>
          </a:xfrm>
          <a:prstGeom prst="rect">
            <a:avLst/>
          </a:prstGeom>
        </p:spPr>
      </p:pic>
    </p:spTree>
    <p:extLst>
      <p:ext uri="{BB962C8B-B14F-4D97-AF65-F5344CB8AC3E}">
        <p14:creationId xmlns:p14="http://schemas.microsoft.com/office/powerpoint/2010/main" val="817174950"/>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imagery, half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576072" y="384048"/>
            <a:ext cx="10101072" cy="10479087"/>
          </a:xfrm>
        </p:spPr>
        <p:txBody>
          <a:bodyPr/>
          <a:lstStyle>
            <a:lvl1pPr>
              <a:lnSpc>
                <a:spcPct val="100000"/>
              </a:lnSpc>
              <a:defRPr sz="8600">
                <a:solidFill>
                  <a:schemeClr val="tx2"/>
                </a:solidFill>
              </a:defRPr>
            </a:lvl1pPr>
          </a:lstStyle>
          <a:p>
            <a:r>
              <a:rPr lang="en-US"/>
              <a:t>Click to edit Master title style</a:t>
            </a:r>
            <a:endParaRPr lang="en-US" dirty="0"/>
          </a:p>
        </p:txBody>
      </p:sp>
      <p:sp>
        <p:nvSpPr>
          <p:cNvPr id="7" name="Picture Placeholder 6" descr="Place imagery here">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500" y="569913"/>
            <a:ext cx="11049000" cy="12574587"/>
          </a:xfrm>
          <a:solidFill>
            <a:srgbClr val="E0E0E0"/>
          </a:solidFill>
        </p:spPr>
        <p:txBody>
          <a:bodyPr anchor="ctr"/>
          <a:lstStyle>
            <a:lvl1pPr algn="ctr">
              <a:defRPr>
                <a:solidFill>
                  <a:schemeClr val="accent5"/>
                </a:solidFill>
              </a:defRPr>
            </a:lvl1pPr>
          </a:lstStyle>
          <a:p>
            <a:r>
              <a:rPr lang="en-US" dirty="0"/>
              <a:t>Place imagery here</a:t>
            </a:r>
          </a:p>
        </p:txBody>
      </p:sp>
      <p:pic>
        <p:nvPicPr>
          <p:cNvPr id="9" name="Picture 8" descr="IBM 8-bar logo">
            <a:extLst>
              <a:ext uri="{FF2B5EF4-FFF2-40B4-BE49-F238E27FC236}">
                <a16:creationId xmlns:a16="http://schemas.microsoft.com/office/drawing/2014/main" id="{735CD4FC-3A11-28F6-09EF-9089FE9596BF}"/>
              </a:ext>
            </a:extLst>
          </p:cNvPr>
          <p:cNvPicPr>
            <a:picLocks noChangeAspect="1"/>
          </p:cNvPicPr>
          <p:nvPr userDrawn="1"/>
        </p:nvPicPr>
        <p:blipFill>
          <a:blip r:embed="rId2"/>
          <a:stretch>
            <a:fillRect/>
          </a:stretch>
        </p:blipFill>
        <p:spPr>
          <a:xfrm>
            <a:off x="577850" y="12526963"/>
            <a:ext cx="1638300" cy="609600"/>
          </a:xfrm>
          <a:prstGeom prst="rect">
            <a:avLst/>
          </a:prstGeom>
        </p:spPr>
      </p:pic>
    </p:spTree>
    <p:extLst>
      <p:ext uri="{BB962C8B-B14F-4D97-AF65-F5344CB8AC3E}">
        <p14:creationId xmlns:p14="http://schemas.microsoft.com/office/powerpoint/2010/main" val="4152614004"/>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imagery, half, business unit">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76E74B7-8F2A-46A5-97C4-76677246CFAF}"/>
              </a:ext>
            </a:extLst>
          </p:cNvPr>
          <p:cNvSpPr>
            <a:spLocks noGrp="1"/>
          </p:cNvSpPr>
          <p:nvPr>
            <p:ph type="body" sz="quarter" idx="11"/>
          </p:nvPr>
        </p:nvSpPr>
        <p:spPr>
          <a:xfrm>
            <a:off x="576072" y="576072"/>
            <a:ext cx="10099675" cy="571500"/>
          </a:xfrm>
        </p:spPr>
        <p:txBody>
          <a:bodyPr/>
          <a:lstStyle>
            <a:lvl1pPr>
              <a:spcBef>
                <a:spcPts val="0"/>
              </a:spcBef>
              <a:defRPr sz="2800">
                <a:solidFill>
                  <a:schemeClr val="tx2"/>
                </a:solidFill>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576072" y="1527048"/>
            <a:ext cx="10099675" cy="9337675"/>
          </a:xfrm>
        </p:spPr>
        <p:txBody>
          <a:bodyPr/>
          <a:lstStyle>
            <a:lvl1pPr>
              <a:lnSpc>
                <a:spcPct val="100000"/>
              </a:lnSpc>
              <a:defRPr sz="8600">
                <a:solidFill>
                  <a:schemeClr val="tx2"/>
                </a:solidFill>
              </a:defRPr>
            </a:lvl1pPr>
          </a:lstStyle>
          <a:p>
            <a:r>
              <a:rPr lang="en-US"/>
              <a:t>Click to edit Master title style</a:t>
            </a:r>
            <a:endParaRPr lang="en-US" dirty="0"/>
          </a:p>
        </p:txBody>
      </p:sp>
      <p:sp>
        <p:nvSpPr>
          <p:cNvPr id="7" name="Picture Placeholder 6" descr="Place imagery here">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500" y="569913"/>
            <a:ext cx="11049000" cy="12574587"/>
          </a:xfrm>
          <a:solidFill>
            <a:srgbClr val="E0E0E0"/>
          </a:solidFill>
        </p:spPr>
        <p:txBody>
          <a:bodyPr anchor="ctr"/>
          <a:lstStyle>
            <a:lvl1pPr algn="ctr">
              <a:defRPr>
                <a:solidFill>
                  <a:schemeClr val="accent5"/>
                </a:solidFill>
              </a:defRPr>
            </a:lvl1pPr>
          </a:lstStyle>
          <a:p>
            <a:r>
              <a:rPr lang="en-US" dirty="0"/>
              <a:t>Place imagery here</a:t>
            </a:r>
          </a:p>
        </p:txBody>
      </p:sp>
      <p:pic>
        <p:nvPicPr>
          <p:cNvPr id="4" name="Picture 3" descr="IBM 8-bar logo">
            <a:extLst>
              <a:ext uri="{FF2B5EF4-FFF2-40B4-BE49-F238E27FC236}">
                <a16:creationId xmlns:a16="http://schemas.microsoft.com/office/drawing/2014/main" id="{EEE0A3D1-7815-E46E-77D1-E2DC099B4733}"/>
              </a:ext>
            </a:extLst>
          </p:cNvPr>
          <p:cNvPicPr>
            <a:picLocks noChangeAspect="1"/>
          </p:cNvPicPr>
          <p:nvPr userDrawn="1"/>
        </p:nvPicPr>
        <p:blipFill>
          <a:blip r:embed="rId2"/>
          <a:stretch>
            <a:fillRect/>
          </a:stretch>
        </p:blipFill>
        <p:spPr>
          <a:xfrm>
            <a:off x="577850" y="12526963"/>
            <a:ext cx="1638300" cy="609600"/>
          </a:xfrm>
          <a:prstGeom prst="rect">
            <a:avLst/>
          </a:prstGeom>
        </p:spPr>
      </p:pic>
    </p:spTree>
    <p:extLst>
      <p:ext uri="{BB962C8B-B14F-4D97-AF65-F5344CB8AC3E}">
        <p14:creationId xmlns:p14="http://schemas.microsoft.com/office/powerpoint/2010/main" val="3340209367"/>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4956175" cy="4573587"/>
          </a:xfrm>
        </p:spPr>
        <p:txBody>
          <a:bodyPr/>
          <a:lstStyle>
            <a:lvl1pPr>
              <a:lnSpc>
                <a:spcPct val="100000"/>
              </a:lnSpc>
              <a:defRPr sz="6400">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12763500" y="569913"/>
            <a:ext cx="4953000" cy="11431587"/>
          </a:xfrm>
        </p:spPr>
        <p:txBody>
          <a:bodyPr/>
          <a:lstStyle>
            <a:lvl1pPr defTabSz="1161288">
              <a:spcBef>
                <a:spcPts val="0"/>
              </a:spcBef>
              <a:defRPr>
                <a:solidFill>
                  <a:schemeClr val="tx1"/>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5A647AD3-098B-D1AB-C8D8-463E38402F94}"/>
              </a:ext>
            </a:extLst>
          </p:cNvPr>
          <p:cNvSpPr>
            <a:spLocks noGrp="1"/>
          </p:cNvSpPr>
          <p:nvPr>
            <p:ph type="body" sz="quarter" idx="11"/>
          </p:nvPr>
        </p:nvSpPr>
        <p:spPr>
          <a:xfrm>
            <a:off x="18862675" y="569913"/>
            <a:ext cx="4949825" cy="11431587"/>
          </a:xfrm>
        </p:spPr>
        <p:txBody>
          <a:bodyPr/>
          <a:lstStyle>
            <a:lvl1pPr defTabSz="1161288">
              <a:spcBef>
                <a:spcPts val="0"/>
              </a:spcBef>
              <a:defRPr>
                <a:solidFill>
                  <a:schemeClr val="tx1"/>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3">
            <a:extLst>
              <a:ext uri="{FF2B5EF4-FFF2-40B4-BE49-F238E27FC236}">
                <a16:creationId xmlns:a16="http://schemas.microsoft.com/office/drawing/2014/main" id="{028AA764-A00C-AFFF-7F3F-49A733DCD474}"/>
              </a:ext>
            </a:extLst>
          </p:cNvPr>
          <p:cNvSpPr>
            <a:spLocks noGrp="1"/>
          </p:cNvSpPr>
          <p:nvPr>
            <p:ph type="ftr" sz="quarter" idx="18"/>
          </p:nvPr>
        </p:nvSpPr>
        <p:spPr>
          <a:xfrm>
            <a:off x="568324" y="12804235"/>
            <a:ext cx="4956176" cy="381000"/>
          </a:xfrm>
        </p:spPr>
        <p:txBody>
          <a:bodyPr/>
          <a:lstStyle/>
          <a:p>
            <a:endParaRPr lang="en-US" dirty="0"/>
          </a:p>
        </p:txBody>
      </p:sp>
      <p:sp>
        <p:nvSpPr>
          <p:cNvPr id="4" name="Slide Number">
            <a:extLst>
              <a:ext uri="{FF2B5EF4-FFF2-40B4-BE49-F238E27FC236}">
                <a16:creationId xmlns:a16="http://schemas.microsoft.com/office/drawing/2014/main" id="{D5D1D2A7-CF30-5698-14FC-F71CB82D5BCC}"/>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314303940"/>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8" cy="2859087"/>
          </a:xfrm>
        </p:spPr>
        <p:txBody>
          <a:bodyPr rIns="457200"/>
          <a:lstStyle>
            <a:lvl1pPr>
              <a:lnSpc>
                <a:spcPct val="100000"/>
              </a:lnSpc>
              <a:defRPr sz="6400">
                <a:solidFill>
                  <a:schemeClr val="tx2"/>
                </a:solidFill>
              </a:defRPr>
            </a:lvl1pPr>
          </a:lstStyle>
          <a:p>
            <a:r>
              <a:rPr lang="en-US"/>
              <a:t>Click to edit Master title style</a:t>
            </a:r>
            <a:endParaRPr lang="en-US" dirty="0"/>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568324" y="12804235"/>
            <a:ext cx="4956176" cy="381000"/>
          </a:xfrm>
        </p:spPr>
        <p:txBody>
          <a:bodyPr/>
          <a:lstStyle/>
          <a:p>
            <a:endParaRPr lang="en-US" dirty="0"/>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572839104"/>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arge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574675" y="420624"/>
            <a:ext cx="17141825" cy="8191500"/>
          </a:xfrm>
        </p:spPr>
        <p:txBody>
          <a:bodyPr/>
          <a:lstStyle>
            <a:lvl1pPr>
              <a:defRPr sz="17200" b="0" i="0">
                <a:solidFill>
                  <a:schemeClr val="tx2"/>
                </a:solidFill>
                <a:latin typeface="IBM Plex Sans ExtLt" panose="020B0303050203000203" pitchFamily="34" charset="0"/>
              </a:defRPr>
            </a:lvl1pPr>
          </a:lstStyle>
          <a:p>
            <a:r>
              <a:rPr lang="en-US"/>
              <a:t>Click to edit Master title style</a:t>
            </a:r>
            <a:endParaRPr lang="en-US" dirty="0"/>
          </a:p>
        </p:txBody>
      </p:sp>
      <p:sp>
        <p:nvSpPr>
          <p:cNvPr id="5" name="Footer Placeholder 3">
            <a:extLst>
              <a:ext uri="{FF2B5EF4-FFF2-40B4-BE49-F238E27FC236}">
                <a16:creationId xmlns:a16="http://schemas.microsoft.com/office/drawing/2014/main" id="{BC591478-AD3F-2EF7-29A4-36A887DC1956}"/>
              </a:ext>
            </a:extLst>
          </p:cNvPr>
          <p:cNvSpPr>
            <a:spLocks noGrp="1"/>
          </p:cNvSpPr>
          <p:nvPr>
            <p:ph type="ftr" sz="quarter" idx="18"/>
          </p:nvPr>
        </p:nvSpPr>
        <p:spPr>
          <a:xfrm>
            <a:off x="568324" y="12804235"/>
            <a:ext cx="4956176" cy="381000"/>
          </a:xfrm>
        </p:spPr>
        <p:txBody>
          <a:bodyPr/>
          <a:lstStyle/>
          <a:p>
            <a:endParaRPr lang="en-US" dirty="0"/>
          </a:p>
        </p:txBody>
      </p:sp>
      <p:sp>
        <p:nvSpPr>
          <p:cNvPr id="4" name="Slide Number">
            <a:extLst>
              <a:ext uri="{FF2B5EF4-FFF2-40B4-BE49-F238E27FC236}">
                <a16:creationId xmlns:a16="http://schemas.microsoft.com/office/drawing/2014/main" id="{76697187-0170-8894-23C9-28F80A0C3B2B}"/>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201808370"/>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allout, headli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9909175" cy="2859087"/>
          </a:xfrm>
        </p:spPr>
        <p:txBody>
          <a:bodyPr/>
          <a:lstStyle>
            <a:lvl1pPr>
              <a:lnSpc>
                <a:spcPct val="100000"/>
              </a:lnSpc>
              <a:defRPr sz="6400">
                <a:solidFill>
                  <a:schemeClr val="tx2"/>
                </a:solidFill>
              </a:defRPr>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0354631A-4ED7-F527-1CBC-9AF7BE2CB676}"/>
              </a:ext>
            </a:extLst>
          </p:cNvPr>
          <p:cNvSpPr>
            <a:spLocks noGrp="1"/>
          </p:cNvSpPr>
          <p:nvPr>
            <p:ph type="body" sz="quarter" idx="10"/>
          </p:nvPr>
        </p:nvSpPr>
        <p:spPr>
          <a:xfrm>
            <a:off x="12767252" y="448056"/>
            <a:ext cx="11042073" cy="8574087"/>
          </a:xfrm>
        </p:spPr>
        <p:txBody>
          <a:bodyPr/>
          <a:lstStyle>
            <a:lvl1pPr>
              <a:lnSpc>
                <a:spcPct val="100000"/>
              </a:lnSpc>
              <a:spcBef>
                <a:spcPts val="0"/>
              </a:spcBef>
              <a:defRPr sz="6400">
                <a:solidFill>
                  <a:schemeClr val="tx2"/>
                </a:solidFill>
              </a:defRPr>
            </a:lvl1pPr>
            <a:lvl2pPr marL="585216" indent="-585216">
              <a:lnSpc>
                <a:spcPct val="100000"/>
              </a:lnSpc>
              <a:spcBef>
                <a:spcPts val="0"/>
              </a:spcBef>
              <a:defRPr sz="6400">
                <a:solidFill>
                  <a:schemeClr val="tx2"/>
                </a:solidFill>
              </a:defRPr>
            </a:lvl2pPr>
            <a:lvl3pPr marL="1097280" indent="-585216">
              <a:lnSpc>
                <a:spcPct val="100000"/>
              </a:lnSpc>
              <a:spcBef>
                <a:spcPts val="0"/>
              </a:spcBef>
              <a:defRPr sz="6400">
                <a:solidFill>
                  <a:schemeClr val="tx2"/>
                </a:solidFill>
              </a:defRPr>
            </a:lvl3pPr>
            <a:lvl4pPr marL="1755648">
              <a:lnSpc>
                <a:spcPct val="100000"/>
              </a:lnSpc>
              <a:spcBef>
                <a:spcPts val="0"/>
              </a:spcBef>
              <a:defRPr sz="6400">
                <a:solidFill>
                  <a:schemeClr val="tx2"/>
                </a:solidFill>
              </a:defRPr>
            </a:lvl4pPr>
            <a:lvl5pPr>
              <a:lnSpc>
                <a:spcPct val="100000"/>
              </a:lnSpc>
              <a:spcBef>
                <a:spcPts val="0"/>
              </a:spcBef>
              <a:defRPr sz="64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3">
            <a:extLst>
              <a:ext uri="{FF2B5EF4-FFF2-40B4-BE49-F238E27FC236}">
                <a16:creationId xmlns:a16="http://schemas.microsoft.com/office/drawing/2014/main" id="{7BE5947E-6D4A-9E09-E5A6-D31DBCAEE2C6}"/>
              </a:ext>
            </a:extLst>
          </p:cNvPr>
          <p:cNvSpPr>
            <a:spLocks noGrp="1"/>
          </p:cNvSpPr>
          <p:nvPr>
            <p:ph type="ftr" sz="quarter" idx="18"/>
          </p:nvPr>
        </p:nvSpPr>
        <p:spPr>
          <a:xfrm>
            <a:off x="568324" y="12804235"/>
            <a:ext cx="4956176" cy="381000"/>
          </a:xfrm>
        </p:spPr>
        <p:txBody>
          <a:bodyPr/>
          <a:lstStyle/>
          <a:p>
            <a:endParaRPr lang="en-US" dirty="0"/>
          </a:p>
        </p:txBody>
      </p:sp>
      <p:sp>
        <p:nvSpPr>
          <p:cNvPr id="6" name="Slide Number">
            <a:extLst>
              <a:ext uri="{FF2B5EF4-FFF2-40B4-BE49-F238E27FC236}">
                <a16:creationId xmlns:a16="http://schemas.microsoft.com/office/drawing/2014/main" id="{C82E6DCD-41A5-9DA3-C061-E8DA39B99059}"/>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42206079"/>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allout, stand-alo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420624"/>
            <a:ext cx="14662150" cy="9717087"/>
          </a:xfrm>
        </p:spPr>
        <p:txBody>
          <a:bodyPr/>
          <a:lstStyle>
            <a:lvl1pPr>
              <a:lnSpc>
                <a:spcPct val="100000"/>
              </a:lnSpc>
              <a:defRPr sz="8600">
                <a:solidFill>
                  <a:schemeClr val="tx2"/>
                </a:solidFill>
              </a:defRPr>
            </a:lvl1pPr>
          </a:lstStyle>
          <a:p>
            <a:r>
              <a:rPr lang="en-US"/>
              <a:t>Click to edit Master title style</a:t>
            </a:r>
            <a:endParaRPr lang="en-US" dirty="0"/>
          </a:p>
        </p:txBody>
      </p:sp>
      <p:sp>
        <p:nvSpPr>
          <p:cNvPr id="5" name="Footer Placeholder 3">
            <a:extLst>
              <a:ext uri="{FF2B5EF4-FFF2-40B4-BE49-F238E27FC236}">
                <a16:creationId xmlns:a16="http://schemas.microsoft.com/office/drawing/2014/main" id="{1FCFA7EA-8E9F-E01B-AB9C-B7BE7D3D11E9}"/>
              </a:ext>
            </a:extLst>
          </p:cNvPr>
          <p:cNvSpPr>
            <a:spLocks noGrp="1"/>
          </p:cNvSpPr>
          <p:nvPr>
            <p:ph type="ftr" sz="quarter" idx="18"/>
          </p:nvPr>
        </p:nvSpPr>
        <p:spPr>
          <a:xfrm>
            <a:off x="568324" y="12804235"/>
            <a:ext cx="4956176" cy="381000"/>
          </a:xfrm>
        </p:spPr>
        <p:txBody>
          <a:bodyPr/>
          <a:lstStyle/>
          <a:p>
            <a:endParaRPr lang="en-US" dirty="0"/>
          </a:p>
        </p:txBody>
      </p:sp>
      <p:sp>
        <p:nvSpPr>
          <p:cNvPr id="4" name="Slide Number">
            <a:extLst>
              <a:ext uri="{FF2B5EF4-FFF2-40B4-BE49-F238E27FC236}">
                <a16:creationId xmlns:a16="http://schemas.microsoft.com/office/drawing/2014/main" id="{12510822-3D1B-0CFC-3FF0-1E55DA550F8D}"/>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471603199"/>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ata, 2 callouts, vertical">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D5E03B0-C633-E81D-0D42-3FCCAFD64B0F}"/>
              </a:ext>
            </a:extLst>
          </p:cNvPr>
          <p:cNvSpPr>
            <a:spLocks noGrp="1"/>
          </p:cNvSpPr>
          <p:nvPr>
            <p:ph type="body" sz="quarter" idx="12"/>
          </p:nvPr>
        </p:nvSpPr>
        <p:spPr>
          <a:xfrm>
            <a:off x="576072" y="576072"/>
            <a:ext cx="7623175" cy="6288087"/>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576072" y="9299448"/>
            <a:ext cx="11050588" cy="3543300"/>
          </a:xfrm>
        </p:spPr>
        <p:txBody>
          <a:bodyPr anchor="b"/>
          <a:lstStyle>
            <a:lvl1pPr>
              <a:lnSpc>
                <a:spcPct val="90000"/>
              </a:lnSpc>
              <a:spcBef>
                <a:spcPts val="0"/>
              </a:spcBef>
              <a:defRPr sz="25800" b="0" i="0">
                <a:solidFill>
                  <a:schemeClr val="accent1"/>
                </a:solidFill>
                <a:latin typeface="IBM Plex Sans ExtLt" panose="020B0303050203000203" pitchFamily="34" charset="0"/>
              </a:defRPr>
            </a:lvl1pPr>
          </a:lstStyle>
          <a:p>
            <a:r>
              <a:rPr lang="en-US" dirty="0"/>
              <a:t>↗︎00M</a:t>
            </a:r>
          </a:p>
        </p:txBody>
      </p:sp>
      <p:cxnSp>
        <p:nvCxnSpPr>
          <p:cNvPr id="9" name="Straight Connector 8" descr="Vertical column divider">
            <a:extLst>
              <a:ext uri="{FF2B5EF4-FFF2-40B4-BE49-F238E27FC236}">
                <a16:creationId xmlns:a16="http://schemas.microsoft.com/office/drawing/2014/main" id="{1C44518A-7FBB-67DA-E35B-8BC0AAFC6062}"/>
              </a:ext>
            </a:extLst>
          </p:cNvPr>
          <p:cNvCxnSpPr/>
          <p:nvPr userDrawn="1"/>
        </p:nvCxnSpPr>
        <p:spPr bwMode="auto">
          <a:xfrm>
            <a:off x="12193587"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ext Placeholder 5">
            <a:extLst>
              <a:ext uri="{FF2B5EF4-FFF2-40B4-BE49-F238E27FC236}">
                <a16:creationId xmlns:a16="http://schemas.microsoft.com/office/drawing/2014/main" id="{0A7285B0-4A1E-8885-0C0E-77D0ECA9CACD}"/>
              </a:ext>
            </a:extLst>
          </p:cNvPr>
          <p:cNvSpPr>
            <a:spLocks noGrp="1"/>
          </p:cNvSpPr>
          <p:nvPr>
            <p:ph type="body" sz="quarter" idx="11"/>
          </p:nvPr>
        </p:nvSpPr>
        <p:spPr>
          <a:xfrm>
            <a:off x="12763500" y="576072"/>
            <a:ext cx="7620000" cy="6288087"/>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12763500" y="9296400"/>
            <a:ext cx="11049000" cy="3543300"/>
          </a:xfrm>
        </p:spPr>
        <p:txBody>
          <a:bodyPr anchor="b"/>
          <a:lstStyle>
            <a:lvl1pPr>
              <a:lnSpc>
                <a:spcPct val="90000"/>
              </a:lnSpc>
              <a:spcBef>
                <a:spcPts val="0"/>
              </a:spcBef>
              <a:defRPr sz="25800" b="0" i="0">
                <a:solidFill>
                  <a:schemeClr val="accent1"/>
                </a:solidFill>
                <a:latin typeface="IBM Plex Sans ExtLt" panose="020B0303050203000203" pitchFamily="34" charset="0"/>
              </a:defRPr>
            </a:lvl1pPr>
          </a:lstStyle>
          <a:p>
            <a:r>
              <a:rPr lang="en-US" dirty="0"/>
              <a:t>+00%</a:t>
            </a:r>
          </a:p>
        </p:txBody>
      </p:sp>
      <p:sp>
        <p:nvSpPr>
          <p:cNvPr id="3" name="Footer Placeholder 3">
            <a:extLst>
              <a:ext uri="{FF2B5EF4-FFF2-40B4-BE49-F238E27FC236}">
                <a16:creationId xmlns:a16="http://schemas.microsoft.com/office/drawing/2014/main" id="{8F3E002C-97C5-3260-CB49-7E93DF3397C8}"/>
              </a:ext>
            </a:extLst>
          </p:cNvPr>
          <p:cNvSpPr>
            <a:spLocks noGrp="1"/>
          </p:cNvSpPr>
          <p:nvPr>
            <p:ph type="ftr" sz="quarter" idx="18"/>
          </p:nvPr>
        </p:nvSpPr>
        <p:spPr>
          <a:xfrm>
            <a:off x="568324" y="12804235"/>
            <a:ext cx="4956176" cy="381000"/>
          </a:xfrm>
        </p:spPr>
        <p:txBody>
          <a:bodyPr/>
          <a:lstStyle/>
          <a:p>
            <a:endParaRPr lang="en-US" dirty="0"/>
          </a:p>
        </p:txBody>
      </p:sp>
      <p:sp>
        <p:nvSpPr>
          <p:cNvPr id="4" name="Slide Number">
            <a:extLst>
              <a:ext uri="{FF2B5EF4-FFF2-40B4-BE49-F238E27FC236}">
                <a16:creationId xmlns:a16="http://schemas.microsoft.com/office/drawing/2014/main" id="{160DC6C8-AF18-F14B-A164-C49B271F59AD}"/>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447478196"/>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ata, 3 callouts, vertic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2" y="576072"/>
            <a:ext cx="4949825" cy="2859088"/>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429768"/>
            <a:ext cx="4951413" cy="1907912"/>
          </a:xfrm>
        </p:spPr>
        <p:txBody>
          <a:bodyPr/>
          <a:lstStyle>
            <a:lvl1pPr>
              <a:lnSpc>
                <a:spcPct val="90000"/>
              </a:lnSpc>
              <a:defRPr sz="13000">
                <a:solidFill>
                  <a:schemeClr val="accent1"/>
                </a:solidFill>
              </a:defRPr>
            </a:lvl1pPr>
            <a:lvl2pPr marL="0" indent="0">
              <a:buNone/>
              <a:defRPr/>
            </a:lvl2pPr>
          </a:lstStyle>
          <a:p>
            <a:pPr lvl="0"/>
            <a:r>
              <a:rPr lang="en-US" dirty="0"/>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6667500" y="2333068"/>
            <a:ext cx="4951413" cy="967304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12768263" y="426481"/>
            <a:ext cx="4949825" cy="1906588"/>
          </a:xfrm>
        </p:spPr>
        <p:txBody>
          <a:bodyPr/>
          <a:lstStyle>
            <a:lvl1pPr>
              <a:lnSpc>
                <a:spcPct val="90000"/>
              </a:lnSpc>
              <a:defRPr sz="13000">
                <a:solidFill>
                  <a:schemeClr val="accent1"/>
                </a:solidFill>
              </a:defRPr>
            </a:lvl1pPr>
          </a:lstStyle>
          <a:p>
            <a:pPr lvl="0"/>
            <a:r>
              <a:rPr lang="en-US" dirty="0"/>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500" y="2334654"/>
            <a:ext cx="4953000" cy="9666845"/>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18859500" y="429654"/>
            <a:ext cx="4949825" cy="1903413"/>
          </a:xfrm>
        </p:spPr>
        <p:txBody>
          <a:bodyPr/>
          <a:lstStyle>
            <a:lvl1pPr>
              <a:lnSpc>
                <a:spcPct val="90000"/>
              </a:lnSpc>
              <a:defRPr sz="13000">
                <a:solidFill>
                  <a:schemeClr val="accent1"/>
                </a:solidFill>
              </a:defRPr>
            </a:lvl1pPr>
          </a:lstStyle>
          <a:p>
            <a:pPr lvl="0"/>
            <a:r>
              <a:rPr lang="en-US" dirty="0"/>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8859500" y="2333067"/>
            <a:ext cx="4953000" cy="9666845"/>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042775"/>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15DBF980-9C8F-3F7A-E896-C207BA2781B7}"/>
              </a:ext>
            </a:extLst>
          </p:cNvPr>
          <p:cNvSpPr>
            <a:spLocks noGrp="1"/>
          </p:cNvSpPr>
          <p:nvPr>
            <p:ph type="ftr" sz="quarter" idx="18"/>
          </p:nvPr>
        </p:nvSpPr>
        <p:spPr>
          <a:xfrm>
            <a:off x="568324" y="12804235"/>
            <a:ext cx="4956176" cy="381000"/>
          </a:xfrm>
        </p:spPr>
        <p:txBody>
          <a:bodyPr/>
          <a:lstStyle/>
          <a:p>
            <a:endParaRPr lang="en-US" dirty="0"/>
          </a:p>
        </p:txBody>
      </p:sp>
      <p:sp>
        <p:nvSpPr>
          <p:cNvPr id="6" name="Slide Number">
            <a:extLst>
              <a:ext uri="{FF2B5EF4-FFF2-40B4-BE49-F238E27FC236}">
                <a16:creationId xmlns:a16="http://schemas.microsoft.com/office/drawing/2014/main" id="{85A7B871-06B9-0A3F-4D1D-A14D572C268D}"/>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08336805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ata, 2 callouts, horizont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48808-B77B-7E67-E7EA-BCC945D4D51B}"/>
              </a:ext>
            </a:extLst>
          </p:cNvPr>
          <p:cNvSpPr>
            <a:spLocks noGrp="1"/>
          </p:cNvSpPr>
          <p:nvPr>
            <p:ph type="title" hasCustomPrompt="1"/>
          </p:nvPr>
        </p:nvSpPr>
        <p:spPr>
          <a:xfrm>
            <a:off x="574675" y="402336"/>
            <a:ext cx="4949825" cy="5335588"/>
          </a:xfrm>
        </p:spPr>
        <p:txBody>
          <a:bodyPr/>
          <a:lstStyle>
            <a:lvl1pPr>
              <a:lnSpc>
                <a:spcPct val="100000"/>
              </a:lnSpc>
              <a:defRPr sz="8600">
                <a:solidFill>
                  <a:schemeClr val="accent1"/>
                </a:solidFill>
              </a:defRPr>
            </a:lvl1pPr>
          </a:lstStyle>
          <a:p>
            <a:r>
              <a:rPr lang="en-US" dirty="0"/>
              <a:t>+000%</a:t>
            </a:r>
          </a:p>
        </p:txBody>
      </p:sp>
      <p:sp>
        <p:nvSpPr>
          <p:cNvPr id="5" name="Text Placeholder 4">
            <a:extLst>
              <a:ext uri="{FF2B5EF4-FFF2-40B4-BE49-F238E27FC236}">
                <a16:creationId xmlns:a16="http://schemas.microsoft.com/office/drawing/2014/main" id="{88378CF2-9CD6-2749-A489-08A4608D0BDA}"/>
              </a:ext>
            </a:extLst>
          </p:cNvPr>
          <p:cNvSpPr>
            <a:spLocks noGrp="1"/>
          </p:cNvSpPr>
          <p:nvPr>
            <p:ph type="body" sz="quarter" idx="11"/>
          </p:nvPr>
        </p:nvSpPr>
        <p:spPr>
          <a:xfrm>
            <a:off x="6667500" y="402336"/>
            <a:ext cx="11049000" cy="5335587"/>
          </a:xfrm>
        </p:spPr>
        <p:txBody>
          <a:bodyPr/>
          <a:lstStyle>
            <a:lvl1pPr>
              <a:lnSpc>
                <a:spcPct val="100000"/>
              </a:lnSpc>
              <a:spcBef>
                <a:spcPts val="0"/>
              </a:spcBef>
              <a:defRPr sz="8600">
                <a:solidFill>
                  <a:schemeClr val="tx1"/>
                </a:solidFill>
              </a:defRPr>
            </a:lvl1pPr>
            <a:lvl2pPr marL="786384" indent="-786384">
              <a:lnSpc>
                <a:spcPct val="100000"/>
              </a:lnSpc>
              <a:spcBef>
                <a:spcPts val="0"/>
              </a:spcBef>
              <a:defRPr sz="8600">
                <a:solidFill>
                  <a:schemeClr val="tx1"/>
                </a:solidFill>
              </a:defRPr>
            </a:lvl2pPr>
            <a:lvl3pPr marL="1499616" indent="-786384">
              <a:lnSpc>
                <a:spcPct val="100000"/>
              </a:lnSpc>
              <a:spcBef>
                <a:spcPts val="0"/>
              </a:spcBef>
              <a:defRPr sz="8600">
                <a:solidFill>
                  <a:schemeClr val="tx1"/>
                </a:solidFill>
              </a:defRPr>
            </a:lvl3pPr>
            <a:lvl4pPr marL="2286000" indent="-786384">
              <a:lnSpc>
                <a:spcPct val="100000"/>
              </a:lnSpc>
              <a:spcBef>
                <a:spcPts val="0"/>
              </a:spcBef>
              <a:defRPr sz="8600">
                <a:solidFill>
                  <a:schemeClr val="tx1"/>
                </a:solidFill>
              </a:defRPr>
            </a:lvl4pPr>
            <a:lvl5pPr>
              <a:lnSpc>
                <a:spcPct val="100000"/>
              </a:lnSpc>
              <a:spcBef>
                <a:spcPts val="0"/>
              </a:spcBef>
              <a:defRPr sz="8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0" name="Straight Connector 9" descr="Horizontal row divider">
            <a:extLst>
              <a:ext uri="{FF2B5EF4-FFF2-40B4-BE49-F238E27FC236}">
                <a16:creationId xmlns:a16="http://schemas.microsoft.com/office/drawing/2014/main" id="{3D81813D-DA09-FCA0-D570-1E2D428C59E9}"/>
              </a:ext>
            </a:extLst>
          </p:cNvPr>
          <p:cNvCxnSpPr/>
          <p:nvPr userDrawn="1"/>
        </p:nvCxnSpPr>
        <p:spPr bwMode="auto">
          <a:xfrm>
            <a:off x="568325" y="6096000"/>
            <a:ext cx="2324417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8">
            <a:extLst>
              <a:ext uri="{FF2B5EF4-FFF2-40B4-BE49-F238E27FC236}">
                <a16:creationId xmlns:a16="http://schemas.microsoft.com/office/drawing/2014/main" id="{A16C1F9D-1D2C-5BDA-E821-35CB4A8708F5}"/>
              </a:ext>
            </a:extLst>
          </p:cNvPr>
          <p:cNvSpPr>
            <a:spLocks noGrp="1"/>
          </p:cNvSpPr>
          <p:nvPr>
            <p:ph type="body" sz="quarter" idx="12" hasCustomPrompt="1"/>
          </p:nvPr>
        </p:nvSpPr>
        <p:spPr>
          <a:xfrm>
            <a:off x="574675" y="6477000"/>
            <a:ext cx="4949825" cy="5334000"/>
          </a:xfrm>
        </p:spPr>
        <p:txBody>
          <a:bodyPr/>
          <a:lstStyle>
            <a:lvl1pPr>
              <a:lnSpc>
                <a:spcPct val="100000"/>
              </a:lnSpc>
              <a:defRPr sz="8600">
                <a:solidFill>
                  <a:schemeClr val="accent1"/>
                </a:solidFill>
              </a:defRPr>
            </a:lvl1pPr>
            <a:lvl2pPr>
              <a:lnSpc>
                <a:spcPct val="100000"/>
              </a:lnSpc>
              <a:defRPr sz="8600">
                <a:solidFill>
                  <a:schemeClr val="accent1"/>
                </a:solidFill>
              </a:defRPr>
            </a:lvl2pPr>
            <a:lvl3pPr>
              <a:lnSpc>
                <a:spcPct val="100000"/>
              </a:lnSpc>
              <a:defRPr sz="8600">
                <a:solidFill>
                  <a:schemeClr val="accent1"/>
                </a:solidFill>
              </a:defRPr>
            </a:lvl3pPr>
            <a:lvl4pPr>
              <a:lnSpc>
                <a:spcPct val="100000"/>
              </a:lnSpc>
              <a:defRPr sz="8600">
                <a:solidFill>
                  <a:schemeClr val="accent1"/>
                </a:solidFill>
              </a:defRPr>
            </a:lvl4pPr>
            <a:lvl5pPr>
              <a:lnSpc>
                <a:spcPct val="100000"/>
              </a:lnSpc>
              <a:defRPr sz="8600">
                <a:solidFill>
                  <a:schemeClr val="accent1"/>
                </a:solidFill>
              </a:defRPr>
            </a:lvl5pPr>
          </a:lstStyle>
          <a:p>
            <a:pPr lvl="0"/>
            <a:r>
              <a:rPr lang="en-US" dirty="0"/>
              <a:t>+000M</a:t>
            </a:r>
          </a:p>
        </p:txBody>
      </p:sp>
      <p:sp>
        <p:nvSpPr>
          <p:cNvPr id="11" name="Text Placeholder 10">
            <a:extLst>
              <a:ext uri="{FF2B5EF4-FFF2-40B4-BE49-F238E27FC236}">
                <a16:creationId xmlns:a16="http://schemas.microsoft.com/office/drawing/2014/main" id="{2C97FE8A-75E3-6FC8-02DD-50E0A4C8C958}"/>
              </a:ext>
            </a:extLst>
          </p:cNvPr>
          <p:cNvSpPr>
            <a:spLocks noGrp="1"/>
          </p:cNvSpPr>
          <p:nvPr>
            <p:ph type="body" sz="quarter" idx="13"/>
          </p:nvPr>
        </p:nvSpPr>
        <p:spPr>
          <a:xfrm>
            <a:off x="6667500" y="6477000"/>
            <a:ext cx="11049000" cy="5334000"/>
          </a:xfrm>
        </p:spPr>
        <p:txBody>
          <a:bodyPr/>
          <a:lstStyle>
            <a:lvl1pPr>
              <a:lnSpc>
                <a:spcPct val="100000"/>
              </a:lnSpc>
              <a:spcBef>
                <a:spcPts val="0"/>
              </a:spcBef>
              <a:defRPr sz="8600">
                <a:solidFill>
                  <a:schemeClr val="tx1"/>
                </a:solidFill>
              </a:defRPr>
            </a:lvl1pPr>
            <a:lvl2pPr marL="786384" indent="-786384">
              <a:lnSpc>
                <a:spcPct val="100000"/>
              </a:lnSpc>
              <a:spcBef>
                <a:spcPts val="0"/>
              </a:spcBef>
              <a:defRPr sz="8600">
                <a:solidFill>
                  <a:schemeClr val="tx1"/>
                </a:solidFill>
              </a:defRPr>
            </a:lvl2pPr>
            <a:lvl3pPr marL="1499616" indent="-786384">
              <a:lnSpc>
                <a:spcPct val="100000"/>
              </a:lnSpc>
              <a:spcBef>
                <a:spcPts val="0"/>
              </a:spcBef>
              <a:defRPr sz="8600">
                <a:solidFill>
                  <a:schemeClr val="tx1"/>
                </a:solidFill>
              </a:defRPr>
            </a:lvl3pPr>
            <a:lvl4pPr marL="2286000" indent="-786384">
              <a:lnSpc>
                <a:spcPct val="100000"/>
              </a:lnSpc>
              <a:spcBef>
                <a:spcPts val="0"/>
              </a:spcBef>
              <a:defRPr sz="8600">
                <a:solidFill>
                  <a:schemeClr val="tx1"/>
                </a:solidFill>
              </a:defRPr>
            </a:lvl4pPr>
            <a:lvl5pPr>
              <a:lnSpc>
                <a:spcPct val="100000"/>
              </a:lnSpc>
              <a:spcBef>
                <a:spcPts val="0"/>
              </a:spcBef>
              <a:defRPr sz="8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0837D060-1DA4-2AC5-AC63-E1AFDD16370F}"/>
              </a:ext>
            </a:extLst>
          </p:cNvPr>
          <p:cNvSpPr>
            <a:spLocks noGrp="1"/>
          </p:cNvSpPr>
          <p:nvPr>
            <p:ph type="ftr" sz="quarter" idx="18"/>
          </p:nvPr>
        </p:nvSpPr>
        <p:spPr>
          <a:xfrm>
            <a:off x="568324" y="12804235"/>
            <a:ext cx="4956176" cy="381000"/>
          </a:xfrm>
        </p:spPr>
        <p:txBody>
          <a:bodyPr/>
          <a:lstStyle/>
          <a:p>
            <a:endParaRPr lang="en-US" dirty="0"/>
          </a:p>
        </p:txBody>
      </p:sp>
      <p:sp>
        <p:nvSpPr>
          <p:cNvPr id="6" name="Slide Number">
            <a:extLst>
              <a:ext uri="{FF2B5EF4-FFF2-40B4-BE49-F238E27FC236}">
                <a16:creationId xmlns:a16="http://schemas.microsoft.com/office/drawing/2014/main" id="{B3EE9E1A-5619-752E-836B-A127FD2C7D75}"/>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774764434"/>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ata, 3 callouts, horizont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2" y="576072"/>
            <a:ext cx="4949825" cy="2859088"/>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411480"/>
            <a:ext cx="4951413" cy="2859087"/>
          </a:xfrm>
        </p:spPr>
        <p:txBody>
          <a:bodyPr/>
          <a:lstStyle>
            <a:lvl1pPr>
              <a:lnSpc>
                <a:spcPct val="90000"/>
              </a:lnSpc>
              <a:defRPr sz="13000">
                <a:solidFill>
                  <a:schemeClr val="accent1"/>
                </a:solidFill>
              </a:defRPr>
            </a:lvl1pPr>
            <a:lvl2pPr marL="0" indent="0">
              <a:buNone/>
              <a:defRPr/>
            </a:lvl2pPr>
          </a:lstStyle>
          <a:p>
            <a:r>
              <a:rPr lang="en-US" dirty="0"/>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12763500" y="576072"/>
            <a:ext cx="7620000" cy="2859087"/>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7" name="Straight Connector 16" descr="Horizontal row divider">
            <a:extLst>
              <a:ext uri="{FF2B5EF4-FFF2-40B4-BE49-F238E27FC236}">
                <a16:creationId xmlns:a16="http://schemas.microsoft.com/office/drawing/2014/main" id="{1103109C-6DA9-8F27-B4B1-EE276442E489}"/>
              </a:ext>
            </a:extLst>
          </p:cNvPr>
          <p:cNvCxnSpPr/>
          <p:nvPr userDrawn="1"/>
        </p:nvCxnSpPr>
        <p:spPr bwMode="auto">
          <a:xfrm>
            <a:off x="6667500" y="4000500"/>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667500" y="4187952"/>
            <a:ext cx="4951413" cy="2857506"/>
          </a:xfrm>
        </p:spPr>
        <p:txBody>
          <a:bodyPr/>
          <a:lstStyle>
            <a:lvl1pPr>
              <a:lnSpc>
                <a:spcPct val="90000"/>
              </a:lnSpc>
              <a:defRPr sz="13000">
                <a:solidFill>
                  <a:schemeClr val="accent1"/>
                </a:solidFill>
              </a:defRPr>
            </a:lvl1pPr>
          </a:lstStyle>
          <a:p>
            <a:r>
              <a:rPr lang="en-US" dirty="0"/>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500" y="4381500"/>
            <a:ext cx="7620000" cy="2857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5" name="Straight Connector 14" descr="Horizontal row divider">
            <a:extLst>
              <a:ext uri="{FF2B5EF4-FFF2-40B4-BE49-F238E27FC236}">
                <a16:creationId xmlns:a16="http://schemas.microsoft.com/office/drawing/2014/main" id="{687931BB-B3EF-829C-B354-B048514D5138}"/>
              </a:ext>
            </a:extLst>
          </p:cNvPr>
          <p:cNvCxnSpPr/>
          <p:nvPr userDrawn="1"/>
        </p:nvCxnSpPr>
        <p:spPr bwMode="auto">
          <a:xfrm>
            <a:off x="6667500" y="8191500"/>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6667501" y="8403336"/>
            <a:ext cx="4951411" cy="2857506"/>
          </a:xfrm>
        </p:spPr>
        <p:txBody>
          <a:bodyPr/>
          <a:lstStyle>
            <a:lvl1pPr>
              <a:lnSpc>
                <a:spcPct val="90000"/>
              </a:lnSpc>
              <a:defRPr sz="13000">
                <a:solidFill>
                  <a:schemeClr val="accent1"/>
                </a:solidFill>
              </a:defRPr>
            </a:lvl1pPr>
          </a:lstStyle>
          <a:p>
            <a:r>
              <a:rPr lang="en-US" dirty="0"/>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2763500" y="8572500"/>
            <a:ext cx="7620000" cy="2857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042775"/>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a:lnSpc>
                <a:spcPct val="120000"/>
              </a:lnSpc>
              <a:spcBef>
                <a:spcPts val="0"/>
              </a:spcBef>
              <a:defRPr sz="1600" b="0" i="0">
                <a:solidFill>
                  <a:schemeClr val="tx1"/>
                </a:solidFill>
                <a:latin typeface="IBM Plex Sans" panose="020B0503050203000203" pitchFamily="34" charset="0"/>
              </a:defRPr>
            </a:lvl2pPr>
            <a:lvl3pPr>
              <a:lnSpc>
                <a:spcPct val="120000"/>
              </a:lnSpc>
              <a:spcBef>
                <a:spcPts val="0"/>
              </a:spcBef>
              <a:defRPr sz="1600" b="0" i="0">
                <a:solidFill>
                  <a:schemeClr val="tx1"/>
                </a:solidFill>
                <a:latin typeface="IBM Plex Sans" panose="020B0503050203000203" pitchFamily="34" charset="0"/>
              </a:defRPr>
            </a:lvl3pPr>
            <a:lvl4pPr>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75C67502-D618-DC10-9CCC-905693ABB58E}"/>
              </a:ext>
            </a:extLst>
          </p:cNvPr>
          <p:cNvSpPr>
            <a:spLocks noGrp="1"/>
          </p:cNvSpPr>
          <p:nvPr>
            <p:ph type="ftr" sz="quarter" idx="18"/>
          </p:nvPr>
        </p:nvSpPr>
        <p:spPr>
          <a:xfrm>
            <a:off x="568324" y="12804235"/>
            <a:ext cx="4956176" cy="381000"/>
          </a:xfrm>
        </p:spPr>
        <p:txBody>
          <a:bodyPr/>
          <a:lstStyle/>
          <a:p>
            <a:endParaRPr lang="en-US" dirty="0"/>
          </a:p>
        </p:txBody>
      </p:sp>
      <p:sp>
        <p:nvSpPr>
          <p:cNvPr id="6" name="Slide Number">
            <a:extLst>
              <a:ext uri="{FF2B5EF4-FFF2-40B4-BE49-F238E27FC236}">
                <a16:creationId xmlns:a16="http://schemas.microsoft.com/office/drawing/2014/main" id="{022EFDDC-A614-EFF6-CE30-E60F4DB9F755}"/>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656111609"/>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4 columns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1C17B282-9F6A-839A-442D-69BC9DF3749A}"/>
              </a:ext>
            </a:extLst>
          </p:cNvPr>
          <p:cNvSpPr>
            <a:spLocks noGrp="1"/>
          </p:cNvSpPr>
          <p:nvPr>
            <p:ph type="body" sz="quarter" idx="11"/>
          </p:nvPr>
        </p:nvSpPr>
        <p:spPr>
          <a:xfrm>
            <a:off x="576072" y="3429000"/>
            <a:ext cx="4956175"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495300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500" y="3429000"/>
            <a:ext cx="495935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FBB77C83-5304-5E09-3590-D4337DA42A40}"/>
              </a:ext>
            </a:extLst>
          </p:cNvPr>
          <p:cNvSpPr>
            <a:spLocks noGrp="1"/>
          </p:cNvSpPr>
          <p:nvPr>
            <p:ph type="ftr" sz="quarter" idx="18"/>
          </p:nvPr>
        </p:nvSpPr>
        <p:spPr>
          <a:xfrm>
            <a:off x="568324" y="12804235"/>
            <a:ext cx="4956176" cy="381000"/>
          </a:xfrm>
        </p:spPr>
        <p:txBody>
          <a:bodyPr/>
          <a:lstStyle/>
          <a:p>
            <a:endParaRPr lang="en-US" dirty="0"/>
          </a:p>
        </p:txBody>
      </p:sp>
      <p:sp>
        <p:nvSpPr>
          <p:cNvPr id="6" name="Slide Number">
            <a:extLst>
              <a:ext uri="{FF2B5EF4-FFF2-40B4-BE49-F238E27FC236}">
                <a16:creationId xmlns:a16="http://schemas.microsoft.com/office/drawing/2014/main" id="{E78A9E4F-B41B-2A68-ED74-D619432AAB28}"/>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261313497"/>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4 columns, short divide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0" y="576072"/>
            <a:ext cx="4956175" cy="1525587"/>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6">
            <a:extLst>
              <a:ext uri="{FF2B5EF4-FFF2-40B4-BE49-F238E27FC236}">
                <a16:creationId xmlns:a16="http://schemas.microsoft.com/office/drawing/2014/main" id="{1239EA8E-6B4C-405F-E7F6-ABB450E07109}"/>
              </a:ext>
            </a:extLst>
          </p:cNvPr>
          <p:cNvSpPr>
            <a:spLocks noGrp="1"/>
          </p:cNvSpPr>
          <p:nvPr>
            <p:ph type="body" sz="quarter" idx="19"/>
          </p:nvPr>
        </p:nvSpPr>
        <p:spPr>
          <a:xfrm>
            <a:off x="579437" y="3429000"/>
            <a:ext cx="4951413"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0" name="Straight Connector 19" descr="Vertical column divider">
            <a:extLst>
              <a:ext uri="{FF2B5EF4-FFF2-40B4-BE49-F238E27FC236}">
                <a16:creationId xmlns:a16="http://schemas.microsoft.com/office/drawing/2014/main" id="{ABAB2974-AD95-0BF2-C41A-265AEF03B4F7}"/>
              </a:ext>
            </a:extLst>
          </p:cNvPr>
          <p:cNvCxnSpPr>
            <a:cxnSpLocks/>
          </p:cNvCxnSpPr>
          <p:nvPr userDrawn="1"/>
        </p:nvCxnSpPr>
        <p:spPr bwMode="auto">
          <a:xfrm>
            <a:off x="6096000" y="3429000"/>
            <a:ext cx="0" cy="8572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1" name="Straight Connector 20" descr="Vertical column divider">
            <a:extLst>
              <a:ext uri="{FF2B5EF4-FFF2-40B4-BE49-F238E27FC236}">
                <a16:creationId xmlns:a16="http://schemas.microsoft.com/office/drawing/2014/main" id="{CDB8CB8D-C4DB-E357-4948-59CD6A18A9DC}"/>
              </a:ext>
            </a:extLst>
          </p:cNvPr>
          <p:cNvCxnSpPr/>
          <p:nvPr userDrawn="1"/>
        </p:nvCxnSpPr>
        <p:spPr bwMode="auto">
          <a:xfrm>
            <a:off x="12188952" y="3429000"/>
            <a:ext cx="0" cy="8577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495300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2" name="Straight Connector 21" descr="Vertical column divider">
            <a:extLst>
              <a:ext uri="{FF2B5EF4-FFF2-40B4-BE49-F238E27FC236}">
                <a16:creationId xmlns:a16="http://schemas.microsoft.com/office/drawing/2014/main" id="{8B5887E5-28C4-AA99-EBD5-E34B88F46F25}"/>
              </a:ext>
            </a:extLst>
          </p:cNvPr>
          <p:cNvCxnSpPr/>
          <p:nvPr userDrawn="1"/>
        </p:nvCxnSpPr>
        <p:spPr bwMode="auto">
          <a:xfrm>
            <a:off x="18288000" y="3429000"/>
            <a:ext cx="0" cy="8577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500" y="3429000"/>
            <a:ext cx="495935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769EE7B3-BC6A-6676-8FA2-607F9B08DA3D}"/>
              </a:ext>
            </a:extLst>
          </p:cNvPr>
          <p:cNvSpPr>
            <a:spLocks noGrp="1"/>
          </p:cNvSpPr>
          <p:nvPr>
            <p:ph type="ftr" sz="quarter" idx="18"/>
          </p:nvPr>
        </p:nvSpPr>
        <p:spPr>
          <a:xfrm>
            <a:off x="568324" y="12804235"/>
            <a:ext cx="4956176" cy="381000"/>
          </a:xfrm>
        </p:spPr>
        <p:txBody>
          <a:bodyPr/>
          <a:lstStyle/>
          <a:p>
            <a:endParaRPr lang="en-US" dirty="0"/>
          </a:p>
        </p:txBody>
      </p:sp>
      <p:sp>
        <p:nvSpPr>
          <p:cNvPr id="5" name="Slide Number">
            <a:extLst>
              <a:ext uri="{FF2B5EF4-FFF2-40B4-BE49-F238E27FC236}">
                <a16:creationId xmlns:a16="http://schemas.microsoft.com/office/drawing/2014/main" id="{DB52D7E1-3828-A1B9-9239-637B1E2A5431}"/>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152310234"/>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4 columns, dividers, headlin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cxnSp>
        <p:nvCxnSpPr>
          <p:cNvPr id="14" name="Straight Connector 13" descr="Vertical column divider">
            <a:extLst>
              <a:ext uri="{FF2B5EF4-FFF2-40B4-BE49-F238E27FC236}">
                <a16:creationId xmlns:a16="http://schemas.microsoft.com/office/drawing/2014/main" id="{C6EB28FF-C21F-A83D-2D19-2242B76C6B09}"/>
              </a:ext>
            </a:extLst>
          </p:cNvPr>
          <p:cNvCxnSpPr/>
          <p:nvPr userDrawn="1"/>
        </p:nvCxnSpPr>
        <p:spPr bwMode="auto">
          <a:xfrm>
            <a:off x="6096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0" y="576072"/>
            <a:ext cx="4956175"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8" name="Straight Connector 17" descr="Vertical column divider">
            <a:extLst>
              <a:ext uri="{FF2B5EF4-FFF2-40B4-BE49-F238E27FC236}">
                <a16:creationId xmlns:a16="http://schemas.microsoft.com/office/drawing/2014/main" id="{3D7A0E74-695D-C6F5-07CD-01209D58A70A}"/>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76072"/>
            <a:ext cx="495300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495300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19E1AC9A-B000-435B-E4BC-54B09FB7957C}"/>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500" y="576072"/>
            <a:ext cx="495935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500" y="3429000"/>
            <a:ext cx="495935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E3F3A850-F28F-F30E-5505-EA11791B052B}"/>
              </a:ext>
            </a:extLst>
          </p:cNvPr>
          <p:cNvSpPr>
            <a:spLocks noGrp="1"/>
          </p:cNvSpPr>
          <p:nvPr>
            <p:ph type="ftr" sz="quarter" idx="18"/>
          </p:nvPr>
        </p:nvSpPr>
        <p:spPr>
          <a:xfrm>
            <a:off x="568324" y="12804235"/>
            <a:ext cx="4956176" cy="381000"/>
          </a:xfrm>
        </p:spPr>
        <p:txBody>
          <a:bodyPr/>
          <a:lstStyle/>
          <a:p>
            <a:endParaRPr lang="en-US" dirty="0"/>
          </a:p>
        </p:txBody>
      </p:sp>
      <p:sp>
        <p:nvSpPr>
          <p:cNvPr id="5" name="Slide Number">
            <a:extLst>
              <a:ext uri="{FF2B5EF4-FFF2-40B4-BE49-F238E27FC236}">
                <a16:creationId xmlns:a16="http://schemas.microsoft.com/office/drawing/2014/main" id="{B96005D4-0874-989F-217D-8A2592F81D57}"/>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599707034"/>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4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4332-B5B5-4358-3C72-8B35F374A887}"/>
              </a:ext>
            </a:extLst>
          </p:cNvPr>
          <p:cNvSpPr>
            <a:spLocks noGrp="1"/>
          </p:cNvSpPr>
          <p:nvPr>
            <p:ph type="title"/>
          </p:nvPr>
        </p:nvSpPr>
        <p:spPr>
          <a:xfrm>
            <a:off x="576072" y="576072"/>
            <a:ext cx="4949825" cy="2097087"/>
          </a:xfrm>
        </p:spPr>
        <p:txBody>
          <a:bodyPr/>
          <a:lstStyle>
            <a:lvl1pPr>
              <a:lnSpc>
                <a:spcPct val="110000"/>
              </a:lnSpc>
              <a:defRPr sz="24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A59C4772-2960-241E-274D-18A4B5568DAB}"/>
              </a:ext>
            </a:extLst>
          </p:cNvPr>
          <p:cNvSpPr>
            <a:spLocks noGrp="1"/>
          </p:cNvSpPr>
          <p:nvPr>
            <p:ph type="body" sz="quarter" idx="11"/>
          </p:nvPr>
        </p:nvSpPr>
        <p:spPr>
          <a:xfrm>
            <a:off x="576072" y="3429000"/>
            <a:ext cx="4956175" cy="4000500"/>
          </a:xfrm>
        </p:spPr>
        <p:txBody>
          <a:bodyPr/>
          <a:lstStyle>
            <a:lvl1pPr>
              <a:lnSpc>
                <a:spcPct val="100000"/>
              </a:lnSpc>
              <a:spcBef>
                <a:spcPts val="0"/>
              </a:spcBef>
              <a:defRPr sz="3600">
                <a:solidFill>
                  <a:schemeClr val="tx1"/>
                </a:solidFill>
              </a:defRPr>
            </a:lvl1pPr>
          </a:lstStyle>
          <a:p>
            <a:pPr lvl="0"/>
            <a:r>
              <a:rPr lang="en-US"/>
              <a:t>Click to edit Master text styles</a:t>
            </a:r>
          </a:p>
        </p:txBody>
      </p:sp>
      <p:cxnSp>
        <p:nvCxnSpPr>
          <p:cNvPr id="17" name="Straight Connector 16" descr="Vertical column divider">
            <a:extLst>
              <a:ext uri="{FF2B5EF4-FFF2-40B4-BE49-F238E27FC236}">
                <a16:creationId xmlns:a16="http://schemas.microsoft.com/office/drawing/2014/main" id="{4D695107-5427-4D2D-F88F-89BA74127CBF}"/>
              </a:ext>
            </a:extLst>
          </p:cNvPr>
          <p:cNvCxnSpPr/>
          <p:nvPr userDrawn="1"/>
        </p:nvCxnSpPr>
        <p:spPr bwMode="auto">
          <a:xfrm>
            <a:off x="6096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4" name="Picture Placeholder 13" descr="Place pictogram here">
            <a:extLst>
              <a:ext uri="{FF2B5EF4-FFF2-40B4-BE49-F238E27FC236}">
                <a16:creationId xmlns:a16="http://schemas.microsoft.com/office/drawing/2014/main" id="{637C5D5A-A533-DB2D-8BBE-C9DAA013CA01}"/>
              </a:ext>
            </a:extLst>
          </p:cNvPr>
          <p:cNvSpPr>
            <a:spLocks noGrp="1"/>
          </p:cNvSpPr>
          <p:nvPr>
            <p:ph type="pic" sz="quarter" idx="15" hasCustomPrompt="1"/>
          </p:nvPr>
        </p:nvSpPr>
        <p:spPr>
          <a:xfrm>
            <a:off x="6667500" y="576072"/>
            <a:ext cx="1216152" cy="1216152"/>
          </a:xfrm>
        </p:spPr>
        <p:txBody>
          <a:bodyPr anchor="ctr"/>
          <a:lstStyle>
            <a:lvl1pPr algn="ctr">
              <a:defRPr sz="1600">
                <a:solidFill>
                  <a:schemeClr val="tx1"/>
                </a:solidFill>
              </a:defRPr>
            </a:lvl1pPr>
          </a:lstStyle>
          <a:p>
            <a:r>
              <a:rPr lang="en-US" dirty="0"/>
              <a:t>Pictogram</a:t>
            </a:r>
          </a:p>
        </p:txBody>
      </p:sp>
      <p:sp>
        <p:nvSpPr>
          <p:cNvPr id="10" name="Text Placeholder 9">
            <a:extLst>
              <a:ext uri="{FF2B5EF4-FFF2-40B4-BE49-F238E27FC236}">
                <a16:creationId xmlns:a16="http://schemas.microsoft.com/office/drawing/2014/main" id="{627CF39F-F0FC-7815-2582-A13E0599BC21}"/>
              </a:ext>
            </a:extLst>
          </p:cNvPr>
          <p:cNvSpPr>
            <a:spLocks noGrp="1"/>
          </p:cNvSpPr>
          <p:nvPr>
            <p:ph type="body" sz="quarter" idx="12"/>
          </p:nvPr>
        </p:nvSpPr>
        <p:spPr>
          <a:xfrm>
            <a:off x="6667500" y="3429000"/>
            <a:ext cx="4951413" cy="85725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8" name="Straight Connector 17" descr="Vertical column divider">
            <a:extLst>
              <a:ext uri="{FF2B5EF4-FFF2-40B4-BE49-F238E27FC236}">
                <a16:creationId xmlns:a16="http://schemas.microsoft.com/office/drawing/2014/main" id="{43B07B4A-5DB5-8126-EA79-502787053E82}"/>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5" name="Picture Placeholder 13" descr="Place pictogram here">
            <a:extLst>
              <a:ext uri="{FF2B5EF4-FFF2-40B4-BE49-F238E27FC236}">
                <a16:creationId xmlns:a16="http://schemas.microsoft.com/office/drawing/2014/main" id="{81413BEF-DDD1-548F-409B-224DE030B67E}"/>
              </a:ext>
            </a:extLst>
          </p:cNvPr>
          <p:cNvSpPr>
            <a:spLocks noGrp="1"/>
          </p:cNvSpPr>
          <p:nvPr>
            <p:ph type="pic" sz="quarter" idx="16" hasCustomPrompt="1"/>
          </p:nvPr>
        </p:nvSpPr>
        <p:spPr>
          <a:xfrm>
            <a:off x="12776353" y="576072"/>
            <a:ext cx="1216152" cy="1216152"/>
          </a:xfrm>
        </p:spPr>
        <p:txBody>
          <a:bodyPr anchor="ctr"/>
          <a:lstStyle>
            <a:lvl1pPr algn="ctr">
              <a:defRPr sz="1600">
                <a:solidFill>
                  <a:schemeClr val="tx1"/>
                </a:solidFill>
              </a:defRPr>
            </a:lvl1pPr>
          </a:lstStyle>
          <a:p>
            <a:r>
              <a:rPr lang="en-US" dirty="0"/>
              <a:t>Pictogram</a:t>
            </a:r>
          </a:p>
        </p:txBody>
      </p:sp>
      <p:sp>
        <p:nvSpPr>
          <p:cNvPr id="11" name="Text Placeholder 9">
            <a:extLst>
              <a:ext uri="{FF2B5EF4-FFF2-40B4-BE49-F238E27FC236}">
                <a16:creationId xmlns:a16="http://schemas.microsoft.com/office/drawing/2014/main" id="{68C92137-8AC3-46D8-C9A2-F6F058938BEF}"/>
              </a:ext>
            </a:extLst>
          </p:cNvPr>
          <p:cNvSpPr>
            <a:spLocks noGrp="1"/>
          </p:cNvSpPr>
          <p:nvPr>
            <p:ph type="body" sz="quarter" idx="13"/>
          </p:nvPr>
        </p:nvSpPr>
        <p:spPr>
          <a:xfrm>
            <a:off x="12768031" y="3429000"/>
            <a:ext cx="4942120" cy="85725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4D829559-0A72-8826-E06A-C6CCD39750A4}"/>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Picture Placeholder 13" descr="Place pictogram here">
            <a:extLst>
              <a:ext uri="{FF2B5EF4-FFF2-40B4-BE49-F238E27FC236}">
                <a16:creationId xmlns:a16="http://schemas.microsoft.com/office/drawing/2014/main" id="{B37C3DBB-1177-5FC6-7F7F-E6C5931C9620}"/>
              </a:ext>
            </a:extLst>
          </p:cNvPr>
          <p:cNvSpPr>
            <a:spLocks noGrp="1"/>
          </p:cNvSpPr>
          <p:nvPr>
            <p:ph type="pic" sz="quarter" idx="17" hasCustomPrompt="1"/>
          </p:nvPr>
        </p:nvSpPr>
        <p:spPr>
          <a:xfrm>
            <a:off x="18859500" y="576072"/>
            <a:ext cx="1216152" cy="1216152"/>
          </a:xfrm>
        </p:spPr>
        <p:txBody>
          <a:bodyPr anchor="ctr"/>
          <a:lstStyle>
            <a:lvl1pPr algn="ctr">
              <a:defRPr sz="1600">
                <a:solidFill>
                  <a:schemeClr val="tx1"/>
                </a:solidFill>
              </a:defRPr>
            </a:lvl1pPr>
          </a:lstStyle>
          <a:p>
            <a:r>
              <a:rPr lang="en-US" dirty="0"/>
              <a:t>Pictogram</a:t>
            </a:r>
          </a:p>
        </p:txBody>
      </p:sp>
      <p:sp>
        <p:nvSpPr>
          <p:cNvPr id="12" name="Text Placeholder 9">
            <a:extLst>
              <a:ext uri="{FF2B5EF4-FFF2-40B4-BE49-F238E27FC236}">
                <a16:creationId xmlns:a16="http://schemas.microsoft.com/office/drawing/2014/main" id="{AC380211-AA5F-2F8D-309F-DC766DF1EF52}"/>
              </a:ext>
            </a:extLst>
          </p:cNvPr>
          <p:cNvSpPr>
            <a:spLocks noGrp="1"/>
          </p:cNvSpPr>
          <p:nvPr>
            <p:ph type="body" sz="quarter" idx="14"/>
          </p:nvPr>
        </p:nvSpPr>
        <p:spPr>
          <a:xfrm>
            <a:off x="18859501" y="3429000"/>
            <a:ext cx="4952999" cy="85725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ACE782CF-665F-3C56-698C-16112EB19B2F}"/>
              </a:ext>
            </a:extLst>
          </p:cNvPr>
          <p:cNvSpPr>
            <a:spLocks noGrp="1"/>
          </p:cNvSpPr>
          <p:nvPr>
            <p:ph type="ftr" sz="quarter" idx="18"/>
          </p:nvPr>
        </p:nvSpPr>
        <p:spPr/>
        <p:txBody>
          <a:bodyPr/>
          <a:lstStyle/>
          <a:p>
            <a:endParaRPr lang="en-US" dirty="0"/>
          </a:p>
        </p:txBody>
      </p:sp>
      <p:sp>
        <p:nvSpPr>
          <p:cNvPr id="6" name="Slide Number">
            <a:extLst>
              <a:ext uri="{FF2B5EF4-FFF2-40B4-BE49-F238E27FC236}">
                <a16:creationId xmlns:a16="http://schemas.microsoft.com/office/drawing/2014/main" id="{D2A45AB7-102C-FBDF-94FD-99783B6A5A18}"/>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595899409"/>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1 wide colum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384048"/>
            <a:ext cx="4949825" cy="1141412"/>
          </a:xfrm>
        </p:spPr>
        <p:txBody>
          <a:bodyPr/>
          <a:lstStyle>
            <a:lvl1pPr>
              <a:lnSpc>
                <a:spcPct val="100000"/>
              </a:lnSpc>
              <a:defRPr sz="64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5976" y="384048"/>
            <a:ext cx="4956175" cy="1141412"/>
          </a:xfrm>
        </p:spPr>
        <p:txBody>
          <a:bodyPr/>
          <a:lstStyle>
            <a:lvl1pPr>
              <a:lnSpc>
                <a:spcPct val="100000"/>
              </a:lnSpc>
              <a:spcBef>
                <a:spcPts val="0"/>
              </a:spcBef>
              <a:defRPr sz="6400">
                <a:solidFill>
                  <a:schemeClr val="tx2"/>
                </a:solidFill>
              </a:defRPr>
            </a:lvl1pPr>
            <a:lvl2pPr>
              <a:spcBef>
                <a:spcPts val="0"/>
              </a:spcBef>
              <a:defRPr sz="2800"/>
            </a:lvl2pPr>
            <a:lvl3pPr>
              <a:spcBef>
                <a:spcPts val="0"/>
              </a:spcBef>
              <a:defRPr sz="2800"/>
            </a:lvl3pPr>
            <a:lvl4pPr>
              <a:spcBef>
                <a:spcPts val="0"/>
              </a:spcBef>
              <a:defRPr sz="2800"/>
            </a:lvl4pPr>
            <a:lvl5pPr>
              <a:spcBef>
                <a:spcPts val="0"/>
              </a:spcBef>
              <a:defRPr sz="2800"/>
            </a:lvl5pPr>
          </a:lstStyle>
          <a:p>
            <a:pPr lvl="0"/>
            <a:r>
              <a:rPr lang="en-US"/>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10096500" cy="8572500"/>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A03B922-FA59-5165-48BF-0B57DFD66348}"/>
              </a:ext>
            </a:extLst>
          </p:cNvPr>
          <p:cNvSpPr>
            <a:spLocks noGrp="1"/>
          </p:cNvSpPr>
          <p:nvPr>
            <p:ph type="ftr" sz="quarter" idx="16"/>
          </p:nvPr>
        </p:nvSpPr>
        <p:spPr/>
        <p:txBody>
          <a:bodyPr/>
          <a:lstStyle/>
          <a:p>
            <a:endParaRPr lang="en-US" dirty="0"/>
          </a:p>
        </p:txBody>
      </p:sp>
      <p:sp>
        <p:nvSpPr>
          <p:cNvPr id="5" name="Slide Number">
            <a:extLst>
              <a:ext uri="{FF2B5EF4-FFF2-40B4-BE49-F238E27FC236}">
                <a16:creationId xmlns:a16="http://schemas.microsoft.com/office/drawing/2014/main" id="{5C3B405E-94D1-4A09-C6BF-A66D9CBEF63D}"/>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553649678"/>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 2 wide colum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576072" y="576072"/>
            <a:ext cx="7424927" cy="1906588"/>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576072" y="3429000"/>
            <a:ext cx="10099675" cy="8572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12763500" y="3429000"/>
            <a:ext cx="10096500" cy="8572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91A0F4B3-D63C-0D8F-2804-F97776F90E4E}"/>
              </a:ext>
            </a:extLst>
          </p:cNvPr>
          <p:cNvSpPr>
            <a:spLocks noGrp="1"/>
          </p:cNvSpPr>
          <p:nvPr>
            <p:ph type="ftr" sz="quarter" idx="13"/>
          </p:nvPr>
        </p:nvSpPr>
        <p:spPr/>
        <p:txBody>
          <a:bodyPr/>
          <a:lstStyle/>
          <a:p>
            <a:endParaRPr lang="en-US" dirty="0"/>
          </a:p>
        </p:txBody>
      </p:sp>
      <p:sp>
        <p:nvSpPr>
          <p:cNvPr id="7" name="Slide Number">
            <a:extLst>
              <a:ext uri="{FF2B5EF4-FFF2-40B4-BE49-F238E27FC236}">
                <a16:creationId xmlns:a16="http://schemas.microsoft.com/office/drawing/2014/main" id="{38EC09FB-402F-F3CE-E1D2-51583F1BCCFA}"/>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874945124"/>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 2 column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72" y="384048"/>
            <a:ext cx="11045825" cy="4573587"/>
          </a:xfrm>
        </p:spPr>
        <p:txBody>
          <a:bodyPr rIns="457200"/>
          <a:lstStyle>
            <a:lvl1pPr>
              <a:lnSpc>
                <a:spcPct val="100000"/>
              </a:lnSpc>
              <a:defRPr>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63500" y="576072"/>
            <a:ext cx="4953000" cy="11431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59500" y="576072"/>
            <a:ext cx="4953000" cy="11431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p>
            <a:endParaRPr lang="en-US" dirty="0"/>
          </a:p>
        </p:txBody>
      </p:sp>
      <p:sp>
        <p:nvSpPr>
          <p:cNvPr id="7" name="Slide Number">
            <a:extLst>
              <a:ext uri="{FF2B5EF4-FFF2-40B4-BE49-F238E27FC236}">
                <a16:creationId xmlns:a16="http://schemas.microsoft.com/office/drawing/2014/main" id="{C7A51FE3-0F54-1487-47B4-164B5B802CA1}"/>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559821703"/>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xt, 2 column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72" y="576072"/>
            <a:ext cx="4953000" cy="4573587"/>
          </a:xfrm>
        </p:spPr>
        <p:txBody>
          <a:bodyPr/>
          <a:lstStyle>
            <a:lvl1pPr>
              <a:lnSpc>
                <a:spcPct val="100000"/>
              </a:lnSpc>
              <a:defRPr sz="36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63500" y="569913"/>
            <a:ext cx="4953000" cy="11431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59500" y="569913"/>
            <a:ext cx="4953000" cy="11431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p>
            <a:endParaRPr lang="en-US" dirty="0"/>
          </a:p>
        </p:txBody>
      </p:sp>
      <p:sp>
        <p:nvSpPr>
          <p:cNvPr id="7" name="Slide Number">
            <a:extLst>
              <a:ext uri="{FF2B5EF4-FFF2-40B4-BE49-F238E27FC236}">
                <a16:creationId xmlns:a16="http://schemas.microsoft.com/office/drawing/2014/main" id="{745FF4F8-7F82-E9C2-8046-C791019E1694}"/>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204956051"/>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 2 columns, divider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72" y="384048"/>
            <a:ext cx="11039476" cy="4573587"/>
          </a:xfrm>
        </p:spPr>
        <p:txBody>
          <a:bodyPr rIns="457200"/>
          <a:lstStyle>
            <a:lvl1pPr>
              <a:lnSpc>
                <a:spcPct val="100000"/>
              </a:lnSpc>
              <a:defRPr>
                <a:solidFill>
                  <a:schemeClr val="tx2"/>
                </a:solidFill>
              </a:defRPr>
            </a:lvl1pPr>
          </a:lstStyle>
          <a:p>
            <a:r>
              <a:rPr lang="en-US"/>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63500" y="576072"/>
            <a:ext cx="495300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63500" y="3429000"/>
            <a:ext cx="495300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59500" y="576072"/>
            <a:ext cx="495935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2675" y="3429000"/>
            <a:ext cx="495300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p>
            <a:endParaRPr lang="en-US" dirty="0"/>
          </a:p>
        </p:txBody>
      </p:sp>
      <p:sp>
        <p:nvSpPr>
          <p:cNvPr id="7" name="Slide Number">
            <a:extLst>
              <a:ext uri="{FF2B5EF4-FFF2-40B4-BE49-F238E27FC236}">
                <a16:creationId xmlns:a16="http://schemas.microsoft.com/office/drawing/2014/main" id="{9BFC0CA6-CE6F-D94C-2967-FBF2240020C4}"/>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77170831"/>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2 columns, divider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72" y="576072"/>
            <a:ext cx="4949826" cy="4573587"/>
          </a:xfrm>
        </p:spPr>
        <p:txBody>
          <a:bodyPr rIns="0"/>
          <a:lstStyle>
            <a:lvl1pPr>
              <a:lnSpc>
                <a:spcPct val="100000"/>
              </a:lnSpc>
              <a:defRPr sz="2800">
                <a:solidFill>
                  <a:schemeClr val="tx2"/>
                </a:solidFill>
              </a:defRPr>
            </a:lvl1pPr>
          </a:lstStyle>
          <a:p>
            <a:r>
              <a:rPr lang="en-US"/>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63500" y="576072"/>
            <a:ext cx="495300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63500" y="3429000"/>
            <a:ext cx="495300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59500" y="576072"/>
            <a:ext cx="495935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5850" y="3429000"/>
            <a:ext cx="495300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p>
            <a:endParaRPr lang="en-US" dirty="0"/>
          </a:p>
        </p:txBody>
      </p:sp>
      <p:sp>
        <p:nvSpPr>
          <p:cNvPr id="7" name="Slide Number">
            <a:extLst>
              <a:ext uri="{FF2B5EF4-FFF2-40B4-BE49-F238E27FC236}">
                <a16:creationId xmlns:a16="http://schemas.microsoft.com/office/drawing/2014/main" id="{8CF1D655-1791-BEF3-D8AA-E589057E73AC}"/>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629240754"/>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2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384048"/>
            <a:ext cx="4949825" cy="1141413"/>
          </a:xfrm>
        </p:spPr>
        <p:txBody>
          <a:bodyPr/>
          <a:lstStyle>
            <a:lvl1pPr>
              <a:lnSpc>
                <a:spcPct val="100000"/>
              </a:lnSpc>
              <a:defRPr sz="64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9151" y="384048"/>
            <a:ext cx="4956175" cy="1141412"/>
          </a:xfrm>
        </p:spPr>
        <p:txBody>
          <a:bodyPr/>
          <a:lstStyle>
            <a:lvl1pPr>
              <a:lnSpc>
                <a:spcPct val="100000"/>
              </a:lnSpc>
              <a:spcBef>
                <a:spcPts val="0"/>
              </a:spcBef>
              <a:defRPr sz="6400">
                <a:solidFill>
                  <a:schemeClr val="tx2"/>
                </a:solidFill>
              </a:defRPr>
            </a:lvl1pPr>
            <a:lvl2pPr>
              <a:lnSpc>
                <a:spcPct val="90000"/>
              </a:lnSpc>
              <a:spcBef>
                <a:spcPts val="0"/>
              </a:spcBef>
              <a:defRPr sz="2800"/>
            </a:lvl2pPr>
            <a:lvl3pPr>
              <a:lnSpc>
                <a:spcPct val="90000"/>
              </a:lnSpc>
              <a:spcBef>
                <a:spcPts val="0"/>
              </a:spcBef>
              <a:defRPr sz="2800"/>
            </a:lvl3pPr>
            <a:lvl4pPr>
              <a:lnSpc>
                <a:spcPct val="90000"/>
              </a:lnSpc>
              <a:spcBef>
                <a:spcPts val="0"/>
              </a:spcBef>
              <a:defRPr sz="2800"/>
            </a:lvl4pPr>
            <a:lvl5pPr>
              <a:lnSpc>
                <a:spcPct val="90000"/>
              </a:lnSpc>
              <a:spcBef>
                <a:spcPts val="0"/>
              </a:spcBef>
              <a:defRPr sz="2800"/>
            </a:lvl5pPr>
          </a:lstStyle>
          <a:p>
            <a:pPr lvl="0"/>
            <a:r>
              <a:rPr lang="en-US"/>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3" name="Straight Connector 12" descr="Vertical column divider">
            <a:extLst>
              <a:ext uri="{FF2B5EF4-FFF2-40B4-BE49-F238E27FC236}">
                <a16:creationId xmlns:a16="http://schemas.microsoft.com/office/drawing/2014/main" id="{202744BD-C7A4-D538-2E19-AA279C025A21}"/>
              </a:ext>
            </a:extLst>
          </p:cNvPr>
          <p:cNvCxnSpPr/>
          <p:nvPr userDrawn="1"/>
        </p:nvCxnSpPr>
        <p:spPr bwMode="auto">
          <a:xfrm>
            <a:off x="12188952"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Picture Placeholder 4" descr="Place pictogram here">
            <a:extLst>
              <a:ext uri="{FF2B5EF4-FFF2-40B4-BE49-F238E27FC236}">
                <a16:creationId xmlns:a16="http://schemas.microsoft.com/office/drawing/2014/main" id="{4E8FFEFF-CCD0-A436-418A-5FB8624CCC89}"/>
              </a:ext>
            </a:extLst>
          </p:cNvPr>
          <p:cNvSpPr>
            <a:spLocks noGrp="1" noChangeAspect="1"/>
          </p:cNvSpPr>
          <p:nvPr>
            <p:ph type="pic" sz="quarter" idx="16" hasCustomPrompt="1"/>
          </p:nvPr>
        </p:nvSpPr>
        <p:spPr>
          <a:xfrm>
            <a:off x="12763500" y="576072"/>
            <a:ext cx="1216152" cy="1214462"/>
          </a:xfrm>
        </p:spPr>
        <p:txBody>
          <a:bodyPr anchor="ctr"/>
          <a:lstStyle>
            <a:lvl1pPr algn="ctr">
              <a:defRPr sz="1600">
                <a:solidFill>
                  <a:schemeClr val="tx1"/>
                </a:solidFill>
              </a:defRPr>
            </a:lvl1pPr>
          </a:lstStyle>
          <a:p>
            <a:r>
              <a:rPr lang="en-US" dirty="0"/>
              <a:t>Pictogram</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7638" y="3429000"/>
            <a:ext cx="495300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descr="Vertical column divider">
            <a:extLst>
              <a:ext uri="{FF2B5EF4-FFF2-40B4-BE49-F238E27FC236}">
                <a16:creationId xmlns:a16="http://schemas.microsoft.com/office/drawing/2014/main" id="{ADCE883F-3781-7F7E-8236-8BB5CEBAD77C}"/>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 name="Picture Placeholder 11" descr="Place pictogram here">
            <a:extLst>
              <a:ext uri="{FF2B5EF4-FFF2-40B4-BE49-F238E27FC236}">
                <a16:creationId xmlns:a16="http://schemas.microsoft.com/office/drawing/2014/main" id="{484E55D7-CBB2-992D-3E77-5CB7B7CADA9C}"/>
              </a:ext>
            </a:extLst>
          </p:cNvPr>
          <p:cNvSpPr>
            <a:spLocks noGrp="1" noChangeAspect="1"/>
          </p:cNvSpPr>
          <p:nvPr>
            <p:ph type="pic" sz="quarter" idx="17" hasCustomPrompt="1"/>
          </p:nvPr>
        </p:nvSpPr>
        <p:spPr>
          <a:xfrm>
            <a:off x="18859500" y="576072"/>
            <a:ext cx="1217844" cy="1216152"/>
          </a:xfrm>
        </p:spPr>
        <p:txBody>
          <a:bodyPr anchor="ctr"/>
          <a:lstStyle>
            <a:lvl1pPr algn="ctr">
              <a:defRPr sz="1600">
                <a:solidFill>
                  <a:schemeClr val="tx1"/>
                </a:solidFill>
              </a:defRPr>
            </a:lvl1pPr>
          </a:lstStyle>
          <a:p>
            <a:r>
              <a:rPr lang="en-US" dirty="0"/>
              <a:t>Pictogram</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63638" y="3429000"/>
            <a:ext cx="495935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87B96A2B-2DD4-AEBB-75C4-9215E33D2664}"/>
              </a:ext>
            </a:extLst>
          </p:cNvPr>
          <p:cNvSpPr>
            <a:spLocks noGrp="1"/>
          </p:cNvSpPr>
          <p:nvPr>
            <p:ph type="ftr" sz="quarter" idx="18"/>
          </p:nvPr>
        </p:nvSpPr>
        <p:spPr/>
        <p:txBody>
          <a:bodyPr/>
          <a:lstStyle/>
          <a:p>
            <a:endParaRPr lang="en-US" dirty="0"/>
          </a:p>
        </p:txBody>
      </p:sp>
      <p:sp>
        <p:nvSpPr>
          <p:cNvPr id="8" name="Slide Number">
            <a:extLst>
              <a:ext uri="{FF2B5EF4-FFF2-40B4-BE49-F238E27FC236}">
                <a16:creationId xmlns:a16="http://schemas.microsoft.com/office/drawing/2014/main" id="{FE28AB83-26B6-464D-000B-077BBC188616}"/>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4133412524"/>
      </p:ext>
    </p:extLst>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oxes, 4 stacked wide, pictograms">
    <p:bg>
      <p:bgPr>
        <a:solidFill>
          <a:schemeClr val="bg1"/>
        </a:solidFill>
        <a:effectLst/>
      </p:bgPr>
    </p:bg>
    <p:spTree>
      <p:nvGrpSpPr>
        <p:cNvPr id="1" name=""/>
        <p:cNvGrpSpPr/>
        <p:nvPr/>
      </p:nvGrpSpPr>
      <p:grpSpPr>
        <a:xfrm>
          <a:off x="0" y="0"/>
          <a:ext cx="0" cy="0"/>
          <a:chOff x="0" y="0"/>
          <a:chExt cx="0" cy="0"/>
        </a:xfrm>
      </p:grpSpPr>
      <p:sp>
        <p:nvSpPr>
          <p:cNvPr id="13" name="Picture Placeholder 12" descr="Place pictogram here">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576072" y="576072"/>
            <a:ext cx="1216152" cy="1216152"/>
          </a:xfrm>
        </p:spPr>
        <p:txBody>
          <a:bodyPr anchor="ctr"/>
          <a:lstStyle>
            <a:lvl1pPr algn="ctr">
              <a:defRPr sz="1600"/>
            </a:lvl1pPr>
          </a:lstStyle>
          <a:p>
            <a:r>
              <a:rPr lang="en-US" dirty="0"/>
              <a:t>Pictogram</a:t>
            </a:r>
          </a:p>
        </p:txBody>
      </p:sp>
      <p:sp>
        <p:nvSpPr>
          <p:cNvPr id="5" name="Text Placeholder 4">
            <a:extLst>
              <a:ext uri="{FF2B5EF4-FFF2-40B4-BE49-F238E27FC236}">
                <a16:creationId xmlns:a16="http://schemas.microsoft.com/office/drawing/2014/main" id="{931099CB-CB87-D5D5-506D-4B49C08161D3}"/>
              </a:ext>
            </a:extLst>
          </p:cNvPr>
          <p:cNvSpPr>
            <a:spLocks noGrp="1"/>
          </p:cNvSpPr>
          <p:nvPr>
            <p:ph type="body" sz="quarter" idx="11"/>
          </p:nvPr>
        </p:nvSpPr>
        <p:spPr>
          <a:xfrm>
            <a:off x="576072" y="2478024"/>
            <a:ext cx="6670675" cy="3048000"/>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descr="Vertical column divider">
            <a:extLst>
              <a:ext uri="{FF2B5EF4-FFF2-40B4-BE49-F238E27FC236}">
                <a16:creationId xmlns:a16="http://schemas.microsoft.com/office/drawing/2014/main" id="{00A530A6-2F26-DA70-D0D9-6DD90453CEC1}"/>
              </a:ext>
              <a:ext uri="{C183D7F6-B498-43B3-948B-1728B52AA6E4}">
                <adec:decorative xmlns:adec="http://schemas.microsoft.com/office/drawing/2017/decorative" val="0"/>
              </a:ext>
            </a:extLst>
          </p:cNvPr>
          <p:cNvCxnSpPr/>
          <p:nvPr userDrawn="1"/>
        </p:nvCxnSpPr>
        <p:spPr bwMode="auto">
          <a:xfrm>
            <a:off x="12192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5" name="Picture Placeholder 14" descr="Place pictogram here">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12763500" y="576072"/>
            <a:ext cx="1216152" cy="1216152"/>
          </a:xfrm>
        </p:spPr>
        <p:txBody>
          <a:bodyPr anchor="ctr"/>
          <a:lstStyle>
            <a:lvl1pPr algn="ctr">
              <a:defRPr sz="1600"/>
            </a:lvl1pPr>
          </a:lstStyle>
          <a:p>
            <a:r>
              <a:rPr lang="en-US" dirty="0"/>
              <a:t>Pictogram</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sz="quarter" idx="12"/>
          </p:nvPr>
        </p:nvSpPr>
        <p:spPr>
          <a:xfrm>
            <a:off x="12763500" y="2476500"/>
            <a:ext cx="6667500" cy="3048000"/>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9C5483A0-0E31-72CE-21C3-6248FAEBC09A}"/>
              </a:ext>
              <a:ext uri="{C183D7F6-B498-43B3-948B-1728B52AA6E4}">
                <adec:decorative xmlns:adec="http://schemas.microsoft.com/office/drawing/2017/decorative" val="0"/>
              </a:ext>
            </a:extLst>
          </p:cNvPr>
          <p:cNvCxnSpPr/>
          <p:nvPr userDrawn="1"/>
        </p:nvCxnSpPr>
        <p:spPr bwMode="auto">
          <a:xfrm>
            <a:off x="568325" y="6096000"/>
            <a:ext cx="2324417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Picture Placeholder 16" descr="Place pictogram here">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576072" y="6473951"/>
            <a:ext cx="1216152" cy="1216152"/>
          </a:xfrm>
        </p:spPr>
        <p:txBody>
          <a:bodyPr anchor="ctr"/>
          <a:lstStyle>
            <a:lvl1pPr algn="ctr">
              <a:defRPr sz="1600"/>
            </a:lvl1pPr>
          </a:lstStyle>
          <a:p>
            <a:r>
              <a:rPr lang="en-US" dirty="0"/>
              <a:t>Pictogram</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sz="quarter" idx="13"/>
          </p:nvPr>
        </p:nvSpPr>
        <p:spPr>
          <a:xfrm>
            <a:off x="576072" y="8385048"/>
            <a:ext cx="6670676" cy="3048000"/>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18" descr="Place pictogram here">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12763500" y="6477000"/>
            <a:ext cx="1216152" cy="1216152"/>
          </a:xfrm>
        </p:spPr>
        <p:txBody>
          <a:bodyPr anchor="ctr"/>
          <a:lstStyle>
            <a:lvl1pPr algn="ctr">
              <a:defRPr sz="1600"/>
            </a:lvl1pPr>
          </a:lstStyle>
          <a:p>
            <a:r>
              <a:rPr lang="en-US" dirty="0"/>
              <a:t>Pictogram</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sz="quarter" idx="14"/>
          </p:nvPr>
        </p:nvSpPr>
        <p:spPr>
          <a:xfrm>
            <a:off x="12763501" y="8382000"/>
            <a:ext cx="6667500" cy="3048000"/>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007BB90E-D2B7-D6BA-E8F5-B16C3F57F6F9}"/>
              </a:ext>
            </a:extLst>
          </p:cNvPr>
          <p:cNvSpPr>
            <a:spLocks noGrp="1"/>
          </p:cNvSpPr>
          <p:nvPr>
            <p:ph type="ftr" sz="quarter" idx="19"/>
          </p:nvPr>
        </p:nvSpPr>
        <p:spPr/>
        <p:txBody>
          <a:bodyPr/>
          <a:lstStyle/>
          <a:p>
            <a:endParaRPr lang="en-US" dirty="0"/>
          </a:p>
        </p:txBody>
      </p:sp>
      <p:sp>
        <p:nvSpPr>
          <p:cNvPr id="4" name="Slide Number">
            <a:extLst>
              <a:ext uri="{FF2B5EF4-FFF2-40B4-BE49-F238E27FC236}">
                <a16:creationId xmlns:a16="http://schemas.microsoft.com/office/drawing/2014/main" id="{FDDCE3A8-54F6-70FC-38D0-2AF2D8AB71EE}"/>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380496384"/>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oxes, 4 stacked, small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72" y="576072"/>
            <a:ext cx="4956175" cy="1141412"/>
          </a:xfrm>
        </p:spPr>
        <p:txBody>
          <a:bodyPr/>
          <a:lstStyle>
            <a:lvl1pPr>
              <a:defRPr sz="2800">
                <a:solidFill>
                  <a:schemeClr val="tx2"/>
                </a:solidFill>
              </a:defRPr>
            </a:lvl1pPr>
          </a:lstStyle>
          <a:p>
            <a:pPr lvl="0"/>
            <a:r>
              <a:rPr lang="en-US"/>
              <a:t>Click to edit Master text styles</a:t>
            </a:r>
          </a:p>
        </p:txBody>
      </p:sp>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1682496"/>
            <a:ext cx="5715000" cy="2276856"/>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5024" y="576072"/>
            <a:ext cx="495300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500" y="576072"/>
            <a:ext cx="495935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63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59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p>
            <a:endParaRPr lang="en-US" dirty="0"/>
          </a:p>
        </p:txBody>
      </p:sp>
      <p:sp>
        <p:nvSpPr>
          <p:cNvPr id="6" name="Slide Number">
            <a:extLst>
              <a:ext uri="{FF2B5EF4-FFF2-40B4-BE49-F238E27FC236}">
                <a16:creationId xmlns:a16="http://schemas.microsoft.com/office/drawing/2014/main" id="{6CE92126-B67C-8301-95D0-A821B804399E}"/>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70433241"/>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oxes, 4 stacked, large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72" y="576072"/>
            <a:ext cx="4956175" cy="448056"/>
          </a:xfrm>
        </p:spPr>
        <p:txBody>
          <a:bodyPr/>
          <a:lstStyle>
            <a:lvl1pPr>
              <a:defRPr sz="2800">
                <a:solidFill>
                  <a:schemeClr val="tx2"/>
                </a:solidFill>
              </a:defRPr>
            </a:lvl1pPr>
          </a:lstStyle>
          <a:p>
            <a:pPr lvl="0"/>
            <a:r>
              <a:rPr lang="en-US"/>
              <a:t>Click to edit Master text styles</a:t>
            </a:r>
          </a:p>
        </p:txBody>
      </p:sp>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1527048"/>
            <a:ext cx="11044239" cy="2276856"/>
          </a:xfrm>
        </p:spPr>
        <p:txBody>
          <a:bodyPr rIns="457200"/>
          <a:lstStyle>
            <a:lvl1pPr>
              <a:lnSpc>
                <a:spcPct val="110000"/>
              </a:lnSpc>
              <a:defRPr sz="6400">
                <a:solidFill>
                  <a:schemeClr val="tx2"/>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69913"/>
            <a:ext cx="495300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500" y="569913"/>
            <a:ext cx="495935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63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59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p>
            <a:endParaRPr lang="en-US" dirty="0"/>
          </a:p>
        </p:txBody>
      </p:sp>
      <p:sp>
        <p:nvSpPr>
          <p:cNvPr id="6" name="Slide Number">
            <a:extLst>
              <a:ext uri="{FF2B5EF4-FFF2-40B4-BE49-F238E27FC236}">
                <a16:creationId xmlns:a16="http://schemas.microsoft.com/office/drawing/2014/main" id="{D8351E8F-C586-866F-37A3-340B3DD347B2}"/>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891810613"/>
      </p:ext>
    </p:extLst>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oxes, 4 horizontal,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76072" y="576072"/>
            <a:ext cx="4956175" cy="4573587"/>
          </a:xfrm>
        </p:spPr>
        <p:txBody>
          <a:bodyPr/>
          <a:lstStyle>
            <a:lvl1pPr>
              <a:lnSpc>
                <a:spcPct val="100000"/>
              </a:lnSpc>
              <a:defRPr sz="2800">
                <a:solidFill>
                  <a:schemeClr val="tx2"/>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2" y="6656832"/>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3241"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0"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0"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p>
            <a:endParaRPr lang="en-US" dirty="0"/>
          </a:p>
        </p:txBody>
      </p:sp>
      <p:sp>
        <p:nvSpPr>
          <p:cNvPr id="5" name="Slide Number">
            <a:extLst>
              <a:ext uri="{FF2B5EF4-FFF2-40B4-BE49-F238E27FC236}">
                <a16:creationId xmlns:a16="http://schemas.microsoft.com/office/drawing/2014/main" id="{7D0BCD34-4CA7-388C-5244-7DC8F9F36FAC}"/>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954362297"/>
      </p:ext>
    </p:extLst>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oxes, 4 horizontal,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76072" y="384048"/>
            <a:ext cx="11050589" cy="4573587"/>
          </a:xfrm>
        </p:spPr>
        <p:txBody>
          <a:bodyPr rIns="457200"/>
          <a:lstStyle>
            <a:lvl1pPr>
              <a:lnSpc>
                <a:spcPct val="100000"/>
              </a:lnSpc>
              <a:defRPr>
                <a:solidFill>
                  <a:schemeClr val="tx2"/>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2" y="6656832"/>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9591"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0"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0"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p>
            <a:endParaRPr lang="en-US" dirty="0"/>
          </a:p>
        </p:txBody>
      </p:sp>
      <p:sp>
        <p:nvSpPr>
          <p:cNvPr id="5" name="Slide Number">
            <a:extLst>
              <a:ext uri="{FF2B5EF4-FFF2-40B4-BE49-F238E27FC236}">
                <a16:creationId xmlns:a16="http://schemas.microsoft.com/office/drawing/2014/main" id="{238163DF-77AB-875A-C8AC-2F8AEABFB85F}"/>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457828484"/>
      </p:ext>
    </p:extLst>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oxes, 6 stack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576072"/>
            <a:ext cx="4949825" cy="4573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14" name="Text Placeholder 9">
            <a:extLst>
              <a:ext uri="{FF2B5EF4-FFF2-40B4-BE49-F238E27FC236}">
                <a16:creationId xmlns:a16="http://schemas.microsoft.com/office/drawing/2014/main" id="{B1D44C30-196F-B4B1-540A-E556579735DB}"/>
              </a:ext>
            </a:extLst>
          </p:cNvPr>
          <p:cNvSpPr>
            <a:spLocks noGrp="1"/>
          </p:cNvSpPr>
          <p:nvPr>
            <p:ph type="body" sz="quarter" idx="20"/>
          </p:nvPr>
        </p:nvSpPr>
        <p:spPr>
          <a:xfrm>
            <a:off x="6665976" y="576072"/>
            <a:ext cx="495300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76072"/>
            <a:ext cx="495300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500" y="576072"/>
            <a:ext cx="495935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Text Placeholder 4">
            <a:extLst>
              <a:ext uri="{FF2B5EF4-FFF2-40B4-BE49-F238E27FC236}">
                <a16:creationId xmlns:a16="http://schemas.microsoft.com/office/drawing/2014/main" id="{AB1A268B-43F5-F600-93B7-6248877F5D30}"/>
              </a:ext>
            </a:extLst>
          </p:cNvPr>
          <p:cNvSpPr>
            <a:spLocks noGrp="1"/>
          </p:cNvSpPr>
          <p:nvPr>
            <p:ph type="body" sz="quarter" idx="21"/>
          </p:nvPr>
        </p:nvSpPr>
        <p:spPr>
          <a:xfrm>
            <a:off x="6669151"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63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59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01A4BD59-9F51-7E32-8659-A763D0799EB2}"/>
              </a:ext>
            </a:extLst>
          </p:cNvPr>
          <p:cNvSpPr>
            <a:spLocks noGrp="1"/>
          </p:cNvSpPr>
          <p:nvPr>
            <p:ph type="ftr" sz="quarter" idx="22"/>
          </p:nvPr>
        </p:nvSpPr>
        <p:spPr/>
        <p:txBody>
          <a:bodyPr/>
          <a:lstStyle/>
          <a:p>
            <a:endParaRPr lang="en-US" dirty="0"/>
          </a:p>
        </p:txBody>
      </p:sp>
      <p:sp>
        <p:nvSpPr>
          <p:cNvPr id="6" name="Slide Number">
            <a:extLst>
              <a:ext uri="{FF2B5EF4-FFF2-40B4-BE49-F238E27FC236}">
                <a16:creationId xmlns:a16="http://schemas.microsoft.com/office/drawing/2014/main" id="{180E7AB4-F0E4-7C09-7FE7-9F182217FE07}"/>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156056091"/>
      </p:ext>
    </p:extLst>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oxes, 6 stacked, ico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5819-78ED-4475-16CD-65C8A2C5EC85}"/>
              </a:ext>
            </a:extLst>
          </p:cNvPr>
          <p:cNvSpPr>
            <a:spLocks noGrp="1"/>
          </p:cNvSpPr>
          <p:nvPr>
            <p:ph type="title"/>
          </p:nvPr>
        </p:nvSpPr>
        <p:spPr>
          <a:xfrm>
            <a:off x="576072" y="576072"/>
            <a:ext cx="4949825" cy="2859087"/>
          </a:xfrm>
        </p:spPr>
        <p:txBody>
          <a:bodyPr/>
          <a:lstStyle>
            <a:lvl1pPr>
              <a:lnSpc>
                <a:spcPct val="110000"/>
              </a:lnSpc>
              <a:defRPr sz="2800">
                <a:solidFill>
                  <a:schemeClr val="tx2"/>
                </a:solidFill>
              </a:defRPr>
            </a:lvl1pPr>
          </a:lstStyle>
          <a:p>
            <a:r>
              <a:rPr lang="en-US"/>
              <a:t>Click to edit Master title style</a:t>
            </a:r>
            <a:endParaRPr lang="en-US" dirty="0"/>
          </a:p>
        </p:txBody>
      </p:sp>
      <p:cxnSp>
        <p:nvCxnSpPr>
          <p:cNvPr id="24" name="Straight Connector 23" descr="Vertical column divider">
            <a:extLst>
              <a:ext uri="{FF2B5EF4-FFF2-40B4-BE49-F238E27FC236}">
                <a16:creationId xmlns:a16="http://schemas.microsoft.com/office/drawing/2014/main" id="{B5CBE6E3-0E18-8A57-578D-D314948AF14F}"/>
              </a:ext>
              <a:ext uri="{C183D7F6-B498-43B3-948B-1728B52AA6E4}">
                <adec:decorative xmlns:adec="http://schemas.microsoft.com/office/drawing/2017/decorative" val="0"/>
              </a:ext>
            </a:extLst>
          </p:cNvPr>
          <p:cNvCxnSpPr/>
          <p:nvPr userDrawn="1"/>
        </p:nvCxnSpPr>
        <p:spPr bwMode="auto">
          <a:xfrm>
            <a:off x="6096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Picture Placeholder 15" descr="Place icon here">
            <a:extLst>
              <a:ext uri="{FF2B5EF4-FFF2-40B4-BE49-F238E27FC236}">
                <a16:creationId xmlns:a16="http://schemas.microsoft.com/office/drawing/2014/main" id="{DD1F0C48-79E5-E356-43FC-0FCF2DE89A20}"/>
              </a:ext>
            </a:extLst>
          </p:cNvPr>
          <p:cNvSpPr>
            <a:spLocks noGrp="1"/>
          </p:cNvSpPr>
          <p:nvPr>
            <p:ph type="pic" sz="quarter" idx="17" hasCustomPrompt="1"/>
          </p:nvPr>
        </p:nvSpPr>
        <p:spPr>
          <a:xfrm>
            <a:off x="6667500" y="576072"/>
            <a:ext cx="402336" cy="403225"/>
          </a:xfrm>
        </p:spPr>
        <p:txBody>
          <a:bodyPr/>
          <a:lstStyle>
            <a:lvl1pPr>
              <a:defRPr sz="1400">
                <a:solidFill>
                  <a:schemeClr val="tx1"/>
                </a:solidFill>
              </a:defRPr>
            </a:lvl1pPr>
          </a:lstStyle>
          <a:p>
            <a:r>
              <a:rPr lang="en-US" dirty="0"/>
              <a:t>Icon</a:t>
            </a:r>
          </a:p>
        </p:txBody>
      </p:sp>
      <p:sp>
        <p:nvSpPr>
          <p:cNvPr id="5" name="Text Placeholder 4">
            <a:extLst>
              <a:ext uri="{FF2B5EF4-FFF2-40B4-BE49-F238E27FC236}">
                <a16:creationId xmlns:a16="http://schemas.microsoft.com/office/drawing/2014/main" id="{B3148C06-F3C6-0E95-A225-29F730DD158B}"/>
              </a:ext>
            </a:extLst>
          </p:cNvPr>
          <p:cNvSpPr>
            <a:spLocks noGrp="1"/>
          </p:cNvSpPr>
          <p:nvPr>
            <p:ph type="body" sz="quarter" idx="11"/>
          </p:nvPr>
        </p:nvSpPr>
        <p:spPr>
          <a:xfrm>
            <a:off x="6667500" y="1333500"/>
            <a:ext cx="4951413" cy="38100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8" name="Straight Connector 27" descr="Vertical column divider">
            <a:extLst>
              <a:ext uri="{FF2B5EF4-FFF2-40B4-BE49-F238E27FC236}">
                <a16:creationId xmlns:a16="http://schemas.microsoft.com/office/drawing/2014/main" id="{52FF3B59-8BBA-8C99-9D4D-743723E434FC}"/>
              </a:ext>
              <a:ext uri="{C183D7F6-B498-43B3-948B-1728B52AA6E4}">
                <adec:decorative xmlns:adec="http://schemas.microsoft.com/office/drawing/2017/decorative" val="0"/>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Picture Placeholder 15" descr="Place icon here">
            <a:extLst>
              <a:ext uri="{FF2B5EF4-FFF2-40B4-BE49-F238E27FC236}">
                <a16:creationId xmlns:a16="http://schemas.microsoft.com/office/drawing/2014/main" id="{18E9E323-0756-7849-8F52-19C58A517BD5}"/>
              </a:ext>
            </a:extLst>
          </p:cNvPr>
          <p:cNvSpPr>
            <a:spLocks noGrp="1"/>
          </p:cNvSpPr>
          <p:nvPr>
            <p:ph type="pic" sz="quarter" idx="18" hasCustomPrompt="1"/>
          </p:nvPr>
        </p:nvSpPr>
        <p:spPr>
          <a:xfrm>
            <a:off x="12763501" y="576072"/>
            <a:ext cx="402336" cy="403225"/>
          </a:xfrm>
        </p:spPr>
        <p:txBody>
          <a:bodyPr/>
          <a:lstStyle>
            <a:lvl1pPr>
              <a:defRPr sz="1400">
                <a:solidFill>
                  <a:schemeClr val="tx1"/>
                </a:solidFill>
              </a:defRPr>
            </a:lvl1pPr>
          </a:lstStyle>
          <a:p>
            <a:r>
              <a:rPr lang="en-US" dirty="0"/>
              <a:t>Icon</a:t>
            </a:r>
          </a:p>
        </p:txBody>
      </p:sp>
      <p:sp>
        <p:nvSpPr>
          <p:cNvPr id="6" name="Text Placeholder 4">
            <a:extLst>
              <a:ext uri="{FF2B5EF4-FFF2-40B4-BE49-F238E27FC236}">
                <a16:creationId xmlns:a16="http://schemas.microsoft.com/office/drawing/2014/main" id="{81FD5E03-A007-B728-4616-E05622A43A3D}"/>
              </a:ext>
            </a:extLst>
          </p:cNvPr>
          <p:cNvSpPr>
            <a:spLocks noGrp="1"/>
          </p:cNvSpPr>
          <p:nvPr>
            <p:ph type="body" sz="quarter" idx="12"/>
          </p:nvPr>
        </p:nvSpPr>
        <p:spPr>
          <a:xfrm>
            <a:off x="12763501" y="1333500"/>
            <a:ext cx="4953000" cy="38100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7" name="Straight Connector 26" descr="Vertical column divider">
            <a:extLst>
              <a:ext uri="{FF2B5EF4-FFF2-40B4-BE49-F238E27FC236}">
                <a16:creationId xmlns:a16="http://schemas.microsoft.com/office/drawing/2014/main" id="{47200B05-7E36-4E03-3739-0BA983764616}"/>
              </a:ext>
              <a:ext uri="{C183D7F6-B498-43B3-948B-1728B52AA6E4}">
                <adec:decorative xmlns:adec="http://schemas.microsoft.com/office/drawing/2017/decorative" val="0"/>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8" name="Picture Placeholder 15" descr="Place icon here">
            <a:extLst>
              <a:ext uri="{FF2B5EF4-FFF2-40B4-BE49-F238E27FC236}">
                <a16:creationId xmlns:a16="http://schemas.microsoft.com/office/drawing/2014/main" id="{7C3BFFDB-5499-B3D7-98B2-1ABDA7D5C9DD}"/>
              </a:ext>
            </a:extLst>
          </p:cNvPr>
          <p:cNvSpPr>
            <a:spLocks noGrp="1"/>
          </p:cNvSpPr>
          <p:nvPr>
            <p:ph type="pic" sz="quarter" idx="19" hasCustomPrompt="1"/>
          </p:nvPr>
        </p:nvSpPr>
        <p:spPr>
          <a:xfrm>
            <a:off x="18859501" y="576072"/>
            <a:ext cx="402336" cy="403225"/>
          </a:xfrm>
        </p:spPr>
        <p:txBody>
          <a:bodyPr/>
          <a:lstStyle>
            <a:lvl1pPr>
              <a:defRPr sz="1400">
                <a:solidFill>
                  <a:schemeClr val="tx1"/>
                </a:solidFill>
              </a:defRPr>
            </a:lvl1pPr>
          </a:lstStyle>
          <a:p>
            <a:r>
              <a:rPr lang="en-US" dirty="0"/>
              <a:t>Icon</a:t>
            </a:r>
          </a:p>
        </p:txBody>
      </p:sp>
      <p:sp>
        <p:nvSpPr>
          <p:cNvPr id="7" name="Text Placeholder 4">
            <a:extLst>
              <a:ext uri="{FF2B5EF4-FFF2-40B4-BE49-F238E27FC236}">
                <a16:creationId xmlns:a16="http://schemas.microsoft.com/office/drawing/2014/main" id="{EEC06719-7195-BBE7-0154-56A039A4B388}"/>
              </a:ext>
            </a:extLst>
          </p:cNvPr>
          <p:cNvSpPr>
            <a:spLocks noGrp="1"/>
          </p:cNvSpPr>
          <p:nvPr>
            <p:ph type="body" sz="quarter" idx="13"/>
          </p:nvPr>
        </p:nvSpPr>
        <p:spPr>
          <a:xfrm>
            <a:off x="18859501" y="1333500"/>
            <a:ext cx="4953000" cy="38100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3" name="Straight Connector 22" descr="Horizontal row divider">
            <a:extLst>
              <a:ext uri="{FF2B5EF4-FFF2-40B4-BE49-F238E27FC236}">
                <a16:creationId xmlns:a16="http://schemas.microsoft.com/office/drawing/2014/main" id="{252CDB94-BA57-B58F-95F0-D406FE34BB40}"/>
              </a:ext>
              <a:ext uri="{C183D7F6-B498-43B3-948B-1728B52AA6E4}">
                <adec:decorative xmlns:adec="http://schemas.microsoft.com/office/drawing/2017/decorative" val="0"/>
              </a:ext>
            </a:extLst>
          </p:cNvPr>
          <p:cNvCxnSpPr>
            <a:cxnSpLocks/>
          </p:cNvCxnSpPr>
          <p:nvPr userDrawn="1"/>
        </p:nvCxnSpPr>
        <p:spPr bwMode="auto">
          <a:xfrm>
            <a:off x="6096000" y="6096000"/>
            <a:ext cx="1772285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9" name="Picture Placeholder 15" descr="Place icon here">
            <a:extLst>
              <a:ext uri="{FF2B5EF4-FFF2-40B4-BE49-F238E27FC236}">
                <a16:creationId xmlns:a16="http://schemas.microsoft.com/office/drawing/2014/main" id="{C00295A2-8D30-455D-EBB9-FA7A46791936}"/>
              </a:ext>
            </a:extLst>
          </p:cNvPr>
          <p:cNvSpPr>
            <a:spLocks noGrp="1"/>
          </p:cNvSpPr>
          <p:nvPr>
            <p:ph type="pic" sz="quarter" idx="20" hasCustomPrompt="1"/>
          </p:nvPr>
        </p:nvSpPr>
        <p:spPr>
          <a:xfrm>
            <a:off x="6667500" y="6694631"/>
            <a:ext cx="402336" cy="403225"/>
          </a:xfrm>
        </p:spPr>
        <p:txBody>
          <a:bodyPr/>
          <a:lstStyle>
            <a:lvl1pPr>
              <a:defRPr sz="1400">
                <a:solidFill>
                  <a:schemeClr val="tx1"/>
                </a:solidFill>
              </a:defRPr>
            </a:lvl1pPr>
          </a:lstStyle>
          <a:p>
            <a:r>
              <a:rPr lang="en-US" dirty="0"/>
              <a:t>Icon</a:t>
            </a:r>
          </a:p>
        </p:txBody>
      </p:sp>
      <p:sp>
        <p:nvSpPr>
          <p:cNvPr id="8" name="Text Placeholder 4">
            <a:extLst>
              <a:ext uri="{FF2B5EF4-FFF2-40B4-BE49-F238E27FC236}">
                <a16:creationId xmlns:a16="http://schemas.microsoft.com/office/drawing/2014/main" id="{2704E464-B0E0-CDD0-B14B-FA6386285AEC}"/>
              </a:ext>
            </a:extLst>
          </p:cNvPr>
          <p:cNvSpPr>
            <a:spLocks noGrp="1"/>
          </p:cNvSpPr>
          <p:nvPr>
            <p:ph type="body" sz="quarter" idx="14"/>
          </p:nvPr>
        </p:nvSpPr>
        <p:spPr>
          <a:xfrm>
            <a:off x="6667500" y="7429500"/>
            <a:ext cx="4951413" cy="38100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Picture Placeholder 15" descr="Place icon here">
            <a:extLst>
              <a:ext uri="{FF2B5EF4-FFF2-40B4-BE49-F238E27FC236}">
                <a16:creationId xmlns:a16="http://schemas.microsoft.com/office/drawing/2014/main" id="{F30F0F2C-CA19-3A79-4375-EB8A00FA887C}"/>
              </a:ext>
            </a:extLst>
          </p:cNvPr>
          <p:cNvSpPr>
            <a:spLocks noGrp="1"/>
          </p:cNvSpPr>
          <p:nvPr>
            <p:ph type="pic" sz="quarter" idx="21" hasCustomPrompt="1"/>
          </p:nvPr>
        </p:nvSpPr>
        <p:spPr>
          <a:xfrm>
            <a:off x="12763501" y="6694631"/>
            <a:ext cx="402336" cy="403225"/>
          </a:xfrm>
        </p:spPr>
        <p:txBody>
          <a:bodyPr/>
          <a:lstStyle>
            <a:lvl1pPr>
              <a:defRPr sz="1400">
                <a:solidFill>
                  <a:schemeClr val="tx1"/>
                </a:solidFill>
              </a:defRPr>
            </a:lvl1pPr>
          </a:lstStyle>
          <a:p>
            <a:r>
              <a:rPr lang="en-US" dirty="0"/>
              <a:t>Icon</a:t>
            </a:r>
          </a:p>
        </p:txBody>
      </p:sp>
      <p:sp>
        <p:nvSpPr>
          <p:cNvPr id="9" name="Text Placeholder 4">
            <a:extLst>
              <a:ext uri="{FF2B5EF4-FFF2-40B4-BE49-F238E27FC236}">
                <a16:creationId xmlns:a16="http://schemas.microsoft.com/office/drawing/2014/main" id="{E96B64B8-6DA8-8704-DD30-37587B3E6824}"/>
              </a:ext>
            </a:extLst>
          </p:cNvPr>
          <p:cNvSpPr>
            <a:spLocks noGrp="1"/>
          </p:cNvSpPr>
          <p:nvPr>
            <p:ph type="body" sz="quarter" idx="15"/>
          </p:nvPr>
        </p:nvSpPr>
        <p:spPr>
          <a:xfrm>
            <a:off x="12763501" y="7429500"/>
            <a:ext cx="4951413" cy="3792682"/>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15" descr="Place icon here">
            <a:extLst>
              <a:ext uri="{FF2B5EF4-FFF2-40B4-BE49-F238E27FC236}">
                <a16:creationId xmlns:a16="http://schemas.microsoft.com/office/drawing/2014/main" id="{9354D8C6-F61D-3FC1-07F8-FEE730E2D7A8}"/>
              </a:ext>
            </a:extLst>
          </p:cNvPr>
          <p:cNvSpPr>
            <a:spLocks noGrp="1"/>
          </p:cNvSpPr>
          <p:nvPr>
            <p:ph type="pic" sz="quarter" idx="22" hasCustomPrompt="1"/>
          </p:nvPr>
        </p:nvSpPr>
        <p:spPr>
          <a:xfrm>
            <a:off x="18859501" y="6694631"/>
            <a:ext cx="402336" cy="403225"/>
          </a:xfrm>
        </p:spPr>
        <p:txBody>
          <a:bodyPr/>
          <a:lstStyle>
            <a:lvl1pPr>
              <a:defRPr sz="1400">
                <a:solidFill>
                  <a:schemeClr val="tx1"/>
                </a:solidFill>
              </a:defRPr>
            </a:lvl1pPr>
          </a:lstStyle>
          <a:p>
            <a:r>
              <a:rPr lang="en-US" dirty="0"/>
              <a:t>Icon</a:t>
            </a:r>
          </a:p>
        </p:txBody>
      </p:sp>
      <p:sp>
        <p:nvSpPr>
          <p:cNvPr id="10" name="Text Placeholder 4">
            <a:extLst>
              <a:ext uri="{FF2B5EF4-FFF2-40B4-BE49-F238E27FC236}">
                <a16:creationId xmlns:a16="http://schemas.microsoft.com/office/drawing/2014/main" id="{AF965C82-A0A6-A670-C10A-6073DD3549EB}"/>
              </a:ext>
            </a:extLst>
          </p:cNvPr>
          <p:cNvSpPr>
            <a:spLocks noGrp="1"/>
          </p:cNvSpPr>
          <p:nvPr>
            <p:ph type="body" sz="quarter" idx="16"/>
          </p:nvPr>
        </p:nvSpPr>
        <p:spPr>
          <a:xfrm>
            <a:off x="18859501" y="7429500"/>
            <a:ext cx="4953000" cy="38100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09A430D6-E733-E611-E1EF-A795D0B0362A}"/>
              </a:ext>
            </a:extLst>
          </p:cNvPr>
          <p:cNvSpPr>
            <a:spLocks noGrp="1"/>
          </p:cNvSpPr>
          <p:nvPr>
            <p:ph type="ftr" sz="quarter" idx="23"/>
          </p:nvPr>
        </p:nvSpPr>
        <p:spPr/>
        <p:txBody>
          <a:bodyPr/>
          <a:lstStyle/>
          <a:p>
            <a:endParaRPr lang="en-US" dirty="0"/>
          </a:p>
        </p:txBody>
      </p:sp>
      <p:sp>
        <p:nvSpPr>
          <p:cNvPr id="11" name="Slide Number">
            <a:extLst>
              <a:ext uri="{FF2B5EF4-FFF2-40B4-BE49-F238E27FC236}">
                <a16:creationId xmlns:a16="http://schemas.microsoft.com/office/drawing/2014/main" id="{A0B46D22-64E6-4222-F4E2-B807A7A15287}"/>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654205542"/>
      </p:ext>
    </p:extLst>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oxes, 6 stacked, alternate,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72" y="384048"/>
            <a:ext cx="11039475" cy="3413126"/>
          </a:xfrm>
        </p:spPr>
        <p:txBody>
          <a:bodyPr rIns="457200"/>
          <a:lstStyle>
            <a:lvl1pPr>
              <a:lnSpc>
                <a:spcPct val="100000"/>
              </a:lnSpc>
              <a:defRPr sz="6400">
                <a:solidFill>
                  <a:schemeClr val="tx2"/>
                </a:solidFill>
              </a:defRPr>
            </a:lvl1pPr>
          </a:lstStyle>
          <a:p>
            <a:r>
              <a:rPr lang="en-US"/>
              <a:t>Click to edit Master title style</a:t>
            </a:r>
            <a:endParaRPr lang="en-US" dirty="0"/>
          </a:p>
        </p:txBody>
      </p:sp>
      <p:cxnSp>
        <p:nvCxnSpPr>
          <p:cNvPr id="20" name="Straight Connector 19" descr="Vertical column divider">
            <a:extLst>
              <a:ext uri="{FF2B5EF4-FFF2-40B4-BE49-F238E27FC236}">
                <a16:creationId xmlns:a16="http://schemas.microsoft.com/office/drawing/2014/main" id="{F764036E-86AB-0893-B72B-200B84A6BCFD}"/>
              </a:ext>
              <a:ext uri="{C183D7F6-B498-43B3-948B-1728B52AA6E4}">
                <adec:decorative xmlns:adec="http://schemas.microsoft.com/office/drawing/2017/decorative" val="0"/>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63500"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B87B78A1-A315-98D3-1692-18AAAF4C6002}"/>
              </a:ext>
              <a:ext uri="{C183D7F6-B498-43B3-948B-1728B52AA6E4}">
                <adec:decorative xmlns:adec="http://schemas.microsoft.com/office/drawing/2017/decorative" val="0"/>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18862675"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4F455E69-0B51-1D31-E569-651079398D33}"/>
              </a:ext>
              <a:ext uri="{C183D7F6-B498-43B3-948B-1728B52AA6E4}">
                <adec:decorative xmlns:adec="http://schemas.microsoft.com/office/drawing/2017/decorative" val="0"/>
              </a:ext>
            </a:extLst>
          </p:cNvPr>
          <p:cNvCxnSpPr>
            <a:cxnSpLocks/>
          </p:cNvCxnSpPr>
          <p:nvPr userDrawn="1"/>
        </p:nvCxnSpPr>
        <p:spPr bwMode="auto">
          <a:xfrm>
            <a:off x="574675" y="6096000"/>
            <a:ext cx="2324417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Text Placeholder 6">
            <a:extLst>
              <a:ext uri="{FF2B5EF4-FFF2-40B4-BE49-F238E27FC236}">
                <a16:creationId xmlns:a16="http://schemas.microsoft.com/office/drawing/2014/main" id="{75681CC4-265E-A18C-1C70-60E527BC6249}"/>
              </a:ext>
            </a:extLst>
          </p:cNvPr>
          <p:cNvSpPr>
            <a:spLocks noGrp="1"/>
          </p:cNvSpPr>
          <p:nvPr>
            <p:ph type="body" sz="quarter" idx="16"/>
          </p:nvPr>
        </p:nvSpPr>
        <p:spPr>
          <a:xfrm>
            <a:off x="576072" y="6665976"/>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8" name="Straight Connector 17" descr="Vertical column divider">
            <a:extLst>
              <a:ext uri="{FF2B5EF4-FFF2-40B4-BE49-F238E27FC236}">
                <a16:creationId xmlns:a16="http://schemas.microsoft.com/office/drawing/2014/main" id="{54C560F4-CB2D-6B04-588B-57BB4D4E6DC3}"/>
              </a:ext>
              <a:ext uri="{C183D7F6-B498-43B3-948B-1728B52AA6E4}">
                <adec:decorative xmlns:adec="http://schemas.microsoft.com/office/drawing/2017/decorative" val="0"/>
              </a:ext>
            </a:extLst>
          </p:cNvPr>
          <p:cNvCxnSpPr>
            <a:cxnSpLocks/>
          </p:cNvCxnSpPr>
          <p:nvPr userDrawn="1"/>
        </p:nvCxnSpPr>
        <p:spPr bwMode="auto">
          <a:xfrm>
            <a:off x="6096000" y="6096000"/>
            <a:ext cx="0" cy="5905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 name="Text Placeholder 6">
            <a:extLst>
              <a:ext uri="{FF2B5EF4-FFF2-40B4-BE49-F238E27FC236}">
                <a16:creationId xmlns:a16="http://schemas.microsoft.com/office/drawing/2014/main" id="{8D234ED4-217E-BF9B-FDEE-0BE07F831EDD}"/>
              </a:ext>
            </a:extLst>
          </p:cNvPr>
          <p:cNvSpPr>
            <a:spLocks noGrp="1"/>
          </p:cNvSpPr>
          <p:nvPr>
            <p:ph type="body" sz="quarter" idx="17"/>
          </p:nvPr>
        </p:nvSpPr>
        <p:spPr>
          <a:xfrm>
            <a:off x="6667500"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6">
            <a:extLst>
              <a:ext uri="{FF2B5EF4-FFF2-40B4-BE49-F238E27FC236}">
                <a16:creationId xmlns:a16="http://schemas.microsoft.com/office/drawing/2014/main" id="{9258F0BD-A5CC-CECC-5230-86FB175FD67E}"/>
              </a:ext>
            </a:extLst>
          </p:cNvPr>
          <p:cNvSpPr>
            <a:spLocks noGrp="1"/>
          </p:cNvSpPr>
          <p:nvPr>
            <p:ph type="body" sz="quarter" idx="14"/>
          </p:nvPr>
        </p:nvSpPr>
        <p:spPr>
          <a:xfrm>
            <a:off x="12763500"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6">
            <a:extLst>
              <a:ext uri="{FF2B5EF4-FFF2-40B4-BE49-F238E27FC236}">
                <a16:creationId xmlns:a16="http://schemas.microsoft.com/office/drawing/2014/main" id="{D9573D61-18CF-FC91-A019-041D3206DAEC}"/>
              </a:ext>
            </a:extLst>
          </p:cNvPr>
          <p:cNvSpPr>
            <a:spLocks noGrp="1"/>
          </p:cNvSpPr>
          <p:nvPr>
            <p:ph type="body" sz="quarter" idx="15"/>
          </p:nvPr>
        </p:nvSpPr>
        <p:spPr>
          <a:xfrm>
            <a:off x="18862675"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p>
            <a:endParaRPr lang="en-US" dirty="0"/>
          </a:p>
        </p:txBody>
      </p:sp>
      <p:sp>
        <p:nvSpPr>
          <p:cNvPr id="5" name="Slide Number">
            <a:extLst>
              <a:ext uri="{FF2B5EF4-FFF2-40B4-BE49-F238E27FC236}">
                <a16:creationId xmlns:a16="http://schemas.microsoft.com/office/drawing/2014/main" id="{25C7A71B-E65D-0A5D-606D-9F95D5AC6BE8}"/>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784512172"/>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oxes, 6 stacked, alternate,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72" y="576072"/>
            <a:ext cx="4949825" cy="3413126"/>
          </a:xfrm>
        </p:spPr>
        <p:txBody>
          <a:bodyPr rIns="0"/>
          <a:lstStyle>
            <a:lvl1pPr>
              <a:lnSpc>
                <a:spcPct val="110000"/>
              </a:lnSpc>
              <a:defRPr sz="3600">
                <a:solidFill>
                  <a:schemeClr val="tx2"/>
                </a:solidFill>
              </a:defRPr>
            </a:lvl1pPr>
          </a:lstStyle>
          <a:p>
            <a:r>
              <a:rPr lang="en-US"/>
              <a:t>Click to edit Master title style</a:t>
            </a:r>
            <a:endParaRPr lang="en-US" dirty="0"/>
          </a:p>
        </p:txBody>
      </p:sp>
      <p:cxnSp>
        <p:nvCxnSpPr>
          <p:cNvPr id="20" name="Straight Connector 19" descr="Vertical column divider">
            <a:extLst>
              <a:ext uri="{FF2B5EF4-FFF2-40B4-BE49-F238E27FC236}">
                <a16:creationId xmlns:a16="http://schemas.microsoft.com/office/drawing/2014/main" id="{F764036E-86AB-0893-B72B-200B84A6BCFD}"/>
              </a:ext>
              <a:ext uri="{C183D7F6-B498-43B3-948B-1728B52AA6E4}">
                <adec:decorative xmlns:adec="http://schemas.microsoft.com/office/drawing/2017/decorative" val="0"/>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63500"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B87B78A1-A315-98D3-1692-18AAAF4C6002}"/>
              </a:ext>
              <a:ext uri="{C183D7F6-B498-43B3-948B-1728B52AA6E4}">
                <adec:decorative xmlns:adec="http://schemas.microsoft.com/office/drawing/2017/decorative" val="0"/>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18862675"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4F455E69-0B51-1D31-E569-651079398D33}"/>
              </a:ext>
              <a:ext uri="{C183D7F6-B498-43B3-948B-1728B52AA6E4}">
                <adec:decorative xmlns:adec="http://schemas.microsoft.com/office/drawing/2017/decorative" val="0"/>
              </a:ext>
            </a:extLst>
          </p:cNvPr>
          <p:cNvCxnSpPr>
            <a:cxnSpLocks/>
          </p:cNvCxnSpPr>
          <p:nvPr userDrawn="1"/>
        </p:nvCxnSpPr>
        <p:spPr bwMode="auto">
          <a:xfrm>
            <a:off x="574675" y="6096000"/>
            <a:ext cx="2324417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Text Placeholder 6">
            <a:extLst>
              <a:ext uri="{FF2B5EF4-FFF2-40B4-BE49-F238E27FC236}">
                <a16:creationId xmlns:a16="http://schemas.microsoft.com/office/drawing/2014/main" id="{75681CC4-265E-A18C-1C70-60E527BC6249}"/>
              </a:ext>
            </a:extLst>
          </p:cNvPr>
          <p:cNvSpPr>
            <a:spLocks noGrp="1"/>
          </p:cNvSpPr>
          <p:nvPr>
            <p:ph type="body" sz="quarter" idx="16"/>
          </p:nvPr>
        </p:nvSpPr>
        <p:spPr>
          <a:xfrm>
            <a:off x="580160"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8" name="Straight Connector 17" descr="Vertical column divider">
            <a:extLst>
              <a:ext uri="{FF2B5EF4-FFF2-40B4-BE49-F238E27FC236}">
                <a16:creationId xmlns:a16="http://schemas.microsoft.com/office/drawing/2014/main" id="{54C560F4-CB2D-6B04-588B-57BB4D4E6DC3}"/>
              </a:ext>
              <a:ext uri="{C183D7F6-B498-43B3-948B-1728B52AA6E4}">
                <adec:decorative xmlns:adec="http://schemas.microsoft.com/office/drawing/2017/decorative" val="0"/>
              </a:ext>
            </a:extLst>
          </p:cNvPr>
          <p:cNvCxnSpPr>
            <a:cxnSpLocks/>
          </p:cNvCxnSpPr>
          <p:nvPr userDrawn="1"/>
        </p:nvCxnSpPr>
        <p:spPr bwMode="auto">
          <a:xfrm>
            <a:off x="6096000" y="6096000"/>
            <a:ext cx="0" cy="5905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 name="Text Placeholder 6">
            <a:extLst>
              <a:ext uri="{FF2B5EF4-FFF2-40B4-BE49-F238E27FC236}">
                <a16:creationId xmlns:a16="http://schemas.microsoft.com/office/drawing/2014/main" id="{8D234ED4-217E-BF9B-FDEE-0BE07F831EDD}"/>
              </a:ext>
            </a:extLst>
          </p:cNvPr>
          <p:cNvSpPr>
            <a:spLocks noGrp="1"/>
          </p:cNvSpPr>
          <p:nvPr>
            <p:ph type="body" sz="quarter" idx="17"/>
          </p:nvPr>
        </p:nvSpPr>
        <p:spPr>
          <a:xfrm>
            <a:off x="6667500"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6">
            <a:extLst>
              <a:ext uri="{FF2B5EF4-FFF2-40B4-BE49-F238E27FC236}">
                <a16:creationId xmlns:a16="http://schemas.microsoft.com/office/drawing/2014/main" id="{9258F0BD-A5CC-CECC-5230-86FB175FD67E}"/>
              </a:ext>
            </a:extLst>
          </p:cNvPr>
          <p:cNvSpPr>
            <a:spLocks noGrp="1"/>
          </p:cNvSpPr>
          <p:nvPr>
            <p:ph type="body" sz="quarter" idx="14"/>
          </p:nvPr>
        </p:nvSpPr>
        <p:spPr>
          <a:xfrm>
            <a:off x="12763500"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6">
            <a:extLst>
              <a:ext uri="{FF2B5EF4-FFF2-40B4-BE49-F238E27FC236}">
                <a16:creationId xmlns:a16="http://schemas.microsoft.com/office/drawing/2014/main" id="{D9573D61-18CF-FC91-A019-041D3206DAEC}"/>
              </a:ext>
            </a:extLst>
          </p:cNvPr>
          <p:cNvSpPr>
            <a:spLocks noGrp="1"/>
          </p:cNvSpPr>
          <p:nvPr>
            <p:ph type="body" sz="quarter" idx="15"/>
          </p:nvPr>
        </p:nvSpPr>
        <p:spPr>
          <a:xfrm>
            <a:off x="18862675"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p>
            <a:endParaRPr lang="en-US" dirty="0"/>
          </a:p>
        </p:txBody>
      </p:sp>
      <p:sp>
        <p:nvSpPr>
          <p:cNvPr id="5" name="Slide Number">
            <a:extLst>
              <a:ext uri="{FF2B5EF4-FFF2-40B4-BE49-F238E27FC236}">
                <a16:creationId xmlns:a16="http://schemas.microsoft.com/office/drawing/2014/main" id="{78DA00F4-B5C9-B0CB-71F8-ED123EAA68CC}"/>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71212167"/>
      </p:ext>
    </p:extLst>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Video or imagery, half,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72" y="3429000"/>
            <a:ext cx="4956175" cy="8572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5">
            <a:extLst>
              <a:ext uri="{FF2B5EF4-FFF2-40B4-BE49-F238E27FC236}">
                <a16:creationId xmlns:a16="http://schemas.microsoft.com/office/drawing/2014/main" id="{88F00625-4E10-D884-2256-56B294B4BA89}"/>
              </a:ext>
            </a:extLst>
          </p:cNvPr>
          <p:cNvSpPr>
            <a:spLocks noGrp="1"/>
          </p:cNvSpPr>
          <p:nvPr>
            <p:ph type="body" sz="quarter" idx="13"/>
          </p:nvPr>
        </p:nvSpPr>
        <p:spPr>
          <a:xfrm>
            <a:off x="6667500" y="3429000"/>
            <a:ext cx="4951413" cy="8572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Picture Placeholder 10" descr="Place imagery here">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12763500" y="569913"/>
            <a:ext cx="11049000" cy="12574587"/>
          </a:xfrm>
          <a:solidFill>
            <a:srgbClr val="E0E0E0"/>
          </a:solidFill>
        </p:spPr>
        <p:txBody>
          <a:bodyPr anchor="ctr"/>
          <a:lstStyle>
            <a:lvl1pPr algn="ctr">
              <a:defRPr>
                <a:solidFill>
                  <a:schemeClr val="accent5"/>
                </a:solidFill>
              </a:defRPr>
            </a:lvl1pPr>
          </a:lstStyle>
          <a:p>
            <a:r>
              <a:rPr lang="en-US" dirty="0"/>
              <a:t>Place imagery here</a:t>
            </a:r>
          </a:p>
        </p:txBody>
      </p:sp>
      <p:sp>
        <p:nvSpPr>
          <p:cNvPr id="4" name="Footer Placeholder 3">
            <a:extLst>
              <a:ext uri="{FF2B5EF4-FFF2-40B4-BE49-F238E27FC236}">
                <a16:creationId xmlns:a16="http://schemas.microsoft.com/office/drawing/2014/main" id="{C977F84A-1700-568D-FF6C-C74EAF713E1A}"/>
              </a:ext>
            </a:extLst>
          </p:cNvPr>
          <p:cNvSpPr>
            <a:spLocks noGrp="1"/>
          </p:cNvSpPr>
          <p:nvPr>
            <p:ph type="ftr" sz="quarter" idx="14"/>
          </p:nvPr>
        </p:nvSpPr>
        <p:spPr/>
        <p:txBody>
          <a:bodyPr/>
          <a:lstStyle/>
          <a:p>
            <a:endParaRPr lang="en-US" dirty="0"/>
          </a:p>
        </p:txBody>
      </p:sp>
    </p:spTree>
    <p:extLst>
      <p:ext uri="{BB962C8B-B14F-4D97-AF65-F5344CB8AC3E}">
        <p14:creationId xmlns:p14="http://schemas.microsoft.com/office/powerpoint/2010/main" val="3224836230"/>
      </p:ext>
    </p:extLst>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Video or imagery, 3/4, ble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576072" y="3429000"/>
            <a:ext cx="4956175" cy="8572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Picture Placeholder 11" descr="Place imagery here">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6096000" y="0"/>
            <a:ext cx="18291175" cy="13716000"/>
          </a:xfrm>
          <a:solidFill>
            <a:srgbClr val="E0E0E0"/>
          </a:solidFill>
        </p:spPr>
        <p:txBody>
          <a:bodyPr anchor="ctr"/>
          <a:lstStyle>
            <a:lvl1pPr algn="ctr">
              <a:defRPr>
                <a:solidFill>
                  <a:schemeClr val="accent5"/>
                </a:solidFill>
              </a:defRPr>
            </a:lvl1pPr>
          </a:lstStyle>
          <a:p>
            <a:r>
              <a:rPr lang="en-US" dirty="0"/>
              <a:t>Place imagery here</a:t>
            </a:r>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endParaRPr lang="en-US" dirty="0"/>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23555959" y="12896848"/>
            <a:ext cx="256541" cy="254001"/>
          </a:xfrm>
          <a:prstGeom prst="rect">
            <a:avLst/>
          </a:prstGeom>
        </p:spPr>
        <p:txBody>
          <a:bodyPr/>
          <a:lstStyle/>
          <a:p>
            <a:fld id="{86CB4B4D-7CA3-9044-876B-883B54F8677D}" type="slidenum">
              <a:rPr lang="en-US" smtClean="0"/>
              <a:t>‹#›</a:t>
            </a:fld>
            <a:endParaRPr lang="en-US" dirty="0"/>
          </a:p>
        </p:txBody>
      </p:sp>
    </p:spTree>
    <p:extLst>
      <p:ext uri="{BB962C8B-B14F-4D97-AF65-F5344CB8AC3E}">
        <p14:creationId xmlns:p14="http://schemas.microsoft.com/office/powerpoint/2010/main" val="2830154425"/>
      </p:ext>
    </p:extLst>
  </p:cSld>
  <p:clrMapOvr>
    <a:masterClrMapping/>
  </p:clrMapOvr>
  <p:transition spd="med"/>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ideo or imagery, 3/4,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72" y="3429000"/>
            <a:ext cx="4956175" cy="8572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Picture Placeholder 6" descr="Place imagery here">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6667500" y="565151"/>
            <a:ext cx="17151350" cy="12579349"/>
          </a:xfrm>
          <a:solidFill>
            <a:srgbClr val="E0E0E0"/>
          </a:solidFill>
        </p:spPr>
        <p:txBody>
          <a:bodyPr anchor="ctr"/>
          <a:lstStyle>
            <a:lvl1pPr algn="ctr">
              <a:defRPr>
                <a:solidFill>
                  <a:schemeClr val="accent5"/>
                </a:solidFill>
              </a:defRPr>
            </a:lvl1pPr>
          </a:lstStyle>
          <a:p>
            <a:r>
              <a:rPr lang="en-US" dirty="0"/>
              <a:t>Place imagery here</a:t>
            </a:r>
          </a:p>
        </p:txBody>
      </p:sp>
      <p:sp>
        <p:nvSpPr>
          <p:cNvPr id="4" name="Footer Placeholder 3">
            <a:extLst>
              <a:ext uri="{FF2B5EF4-FFF2-40B4-BE49-F238E27FC236}">
                <a16:creationId xmlns:a16="http://schemas.microsoft.com/office/drawing/2014/main" id="{378C6A11-84D9-C1BA-F3C9-2E9D1A288B25}"/>
              </a:ext>
            </a:extLst>
          </p:cNvPr>
          <p:cNvSpPr>
            <a:spLocks noGrp="1"/>
          </p:cNvSpPr>
          <p:nvPr>
            <p:ph type="ftr" sz="quarter" idx="13"/>
          </p:nvPr>
        </p:nvSpPr>
        <p:spPr/>
        <p:txBody>
          <a:bodyPr/>
          <a:lstStyle/>
          <a:p>
            <a:endParaRPr lang="en-US" dirty="0"/>
          </a:p>
        </p:txBody>
      </p:sp>
    </p:spTree>
    <p:extLst>
      <p:ext uri="{BB962C8B-B14F-4D97-AF65-F5344CB8AC3E}">
        <p14:creationId xmlns:p14="http://schemas.microsoft.com/office/powerpoint/2010/main" val="2327768506"/>
      </p:ext>
    </p:extLst>
  </p:cSld>
  <p:clrMapOvr>
    <a:masterClrMapping/>
  </p:clrMapOvr>
  <p:transition spd="med"/>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Video or imagery, bleed">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F6679120-DB81-97FD-CD5A-00DC1F5E6658}"/>
              </a:ext>
            </a:extLst>
          </p:cNvPr>
          <p:cNvSpPr>
            <a:spLocks noGrp="1"/>
          </p:cNvSpPr>
          <p:nvPr>
            <p:ph type="pic" sz="quarter" idx="11" hasCustomPrompt="1"/>
          </p:nvPr>
        </p:nvSpPr>
        <p:spPr>
          <a:xfrm>
            <a:off x="1" y="0"/>
            <a:ext cx="24387174" cy="13715999"/>
          </a:xfrm>
          <a:solidFill>
            <a:srgbClr val="E0E0E0"/>
          </a:solidFill>
        </p:spPr>
        <p:txBody>
          <a:bodyPr anchor="ctr"/>
          <a:lstStyle>
            <a:lvl1pPr algn="ctr">
              <a:defRPr>
                <a:solidFill>
                  <a:schemeClr val="accent5"/>
                </a:solidFill>
              </a:defRPr>
            </a:lvl1pPr>
          </a:lstStyle>
          <a:p>
            <a:r>
              <a:rPr lang="en-US" dirty="0"/>
              <a:t>Place imagery here</a:t>
            </a:r>
          </a:p>
        </p:txBody>
      </p:sp>
      <p:sp>
        <p:nvSpPr>
          <p:cNvPr id="3" name="Slide Number Placeholder 2">
            <a:extLst>
              <a:ext uri="{FF2B5EF4-FFF2-40B4-BE49-F238E27FC236}">
                <a16:creationId xmlns:a16="http://schemas.microsoft.com/office/drawing/2014/main" id="{60C9F466-AC9D-B311-5655-93E326ED59B1}"/>
              </a:ext>
            </a:extLst>
          </p:cNvPr>
          <p:cNvSpPr>
            <a:spLocks noGrp="1"/>
          </p:cNvSpPr>
          <p:nvPr>
            <p:ph type="sldNum" sz="quarter" idx="10"/>
          </p:nvPr>
        </p:nvSpPr>
        <p:spPr>
          <a:xfrm>
            <a:off x="23555959" y="12896848"/>
            <a:ext cx="256541" cy="254001"/>
          </a:xfrm>
          <a:prstGeom prst="rect">
            <a:avLst/>
          </a:prstGeom>
        </p:spPr>
        <p:txBody>
          <a:bodyPr/>
          <a:lstStyle/>
          <a:p>
            <a:fld id="{86CB4B4D-7CA3-9044-876B-883B54F8677D}" type="slidenum">
              <a:rPr lang="en-US" smtClean="0"/>
              <a:t>‹#›</a:t>
            </a:fld>
            <a:endParaRPr lang="en-US" dirty="0"/>
          </a:p>
        </p:txBody>
      </p:sp>
    </p:spTree>
    <p:extLst>
      <p:ext uri="{BB962C8B-B14F-4D97-AF65-F5344CB8AC3E}">
        <p14:creationId xmlns:p14="http://schemas.microsoft.com/office/powerpoint/2010/main" val="4066270910"/>
      </p:ext>
    </p:extLst>
  </p:cSld>
  <p:clrMapOvr>
    <a:masterClrMapping/>
  </p:clrMapOvr>
  <p:transition spd="med"/>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Video or imagery, inset">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34239CCE-9A38-90E1-F860-FF40FBDA2409}"/>
              </a:ext>
            </a:extLst>
          </p:cNvPr>
          <p:cNvSpPr>
            <a:spLocks noGrp="1"/>
          </p:cNvSpPr>
          <p:nvPr>
            <p:ph type="pic" sz="quarter" idx="11" hasCustomPrompt="1"/>
          </p:nvPr>
        </p:nvSpPr>
        <p:spPr>
          <a:xfrm>
            <a:off x="568325" y="569913"/>
            <a:ext cx="23244175" cy="12580936"/>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7694905"/>
      </p:ext>
    </p:extLst>
  </p:cSld>
  <p:clrMapOvr>
    <a:masterClrMapping/>
  </p:clrMapOvr>
  <p:transition spd="med"/>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acts, profiles, contributo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17" name="Picture Placeholder 7" descr="Place bio portrait here">
            <a:extLst>
              <a:ext uri="{FF2B5EF4-FFF2-40B4-BE49-F238E27FC236}">
                <a16:creationId xmlns:a16="http://schemas.microsoft.com/office/drawing/2014/main" id="{E889D859-F4A1-3E97-F05E-8D134A25B9F2}"/>
              </a:ext>
            </a:extLst>
          </p:cNvPr>
          <p:cNvSpPr>
            <a:spLocks noGrp="1"/>
          </p:cNvSpPr>
          <p:nvPr>
            <p:ph type="pic" sz="quarter" idx="20" hasCustomPrompt="1"/>
          </p:nvPr>
        </p:nvSpPr>
        <p:spPr>
          <a:xfrm>
            <a:off x="576072" y="2667000"/>
            <a:ext cx="2473325" cy="2476500"/>
          </a:xfrm>
          <a:solidFill>
            <a:srgbClr val="E0E0E0"/>
          </a:solidFill>
        </p:spPr>
        <p:txBody>
          <a:bodyPr anchor="ctr"/>
          <a:lstStyle>
            <a:lvl1pPr algn="ctr">
              <a:defRPr>
                <a:solidFill>
                  <a:schemeClr val="accent5"/>
                </a:solidFill>
              </a:defRPr>
            </a:lvl1pPr>
          </a:lstStyle>
          <a:p>
            <a:r>
              <a:rPr lang="en-US" dirty="0"/>
              <a:t>Place imagery here</a:t>
            </a:r>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sz="quarter" idx="21"/>
          </p:nvPr>
        </p:nvSpPr>
        <p:spPr>
          <a:xfrm>
            <a:off x="3429000" y="26670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Picture Placeholder 7" descr="Place bio portrait here">
            <a:extLst>
              <a:ext uri="{FF2B5EF4-FFF2-40B4-BE49-F238E27FC236}">
                <a16:creationId xmlns:a16="http://schemas.microsoft.com/office/drawing/2014/main" id="{AB8510EE-4140-AEDB-B7AB-EF1D4B72D2AD}"/>
              </a:ext>
            </a:extLst>
          </p:cNvPr>
          <p:cNvSpPr>
            <a:spLocks noGrp="1"/>
          </p:cNvSpPr>
          <p:nvPr>
            <p:ph type="pic" sz="quarter" idx="11" hasCustomPrompt="1"/>
          </p:nvPr>
        </p:nvSpPr>
        <p:spPr>
          <a:xfrm>
            <a:off x="576072" y="61214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sz="quarter" idx="12"/>
          </p:nvPr>
        </p:nvSpPr>
        <p:spPr>
          <a:xfrm>
            <a:off x="3429000" y="61214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7" descr="Place bio portrait here">
            <a:extLst>
              <a:ext uri="{FF2B5EF4-FFF2-40B4-BE49-F238E27FC236}">
                <a16:creationId xmlns:a16="http://schemas.microsoft.com/office/drawing/2014/main" id="{3F048335-9A0B-2C1F-47A6-67051F20075E}"/>
              </a:ext>
            </a:extLst>
          </p:cNvPr>
          <p:cNvSpPr>
            <a:spLocks noGrp="1"/>
          </p:cNvSpPr>
          <p:nvPr>
            <p:ph type="pic" sz="quarter" idx="13" hasCustomPrompt="1"/>
          </p:nvPr>
        </p:nvSpPr>
        <p:spPr>
          <a:xfrm>
            <a:off x="576072" y="95250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sz="quarter" idx="14"/>
          </p:nvPr>
        </p:nvSpPr>
        <p:spPr>
          <a:xfrm>
            <a:off x="3429000" y="9525001"/>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7" descr="Place bio portrait here">
            <a:extLst>
              <a:ext uri="{FF2B5EF4-FFF2-40B4-BE49-F238E27FC236}">
                <a16:creationId xmlns:a16="http://schemas.microsoft.com/office/drawing/2014/main" id="{F94AC7E0-2DC4-5DEB-8E1E-2F27996F98E6}"/>
              </a:ext>
            </a:extLst>
          </p:cNvPr>
          <p:cNvSpPr>
            <a:spLocks noGrp="1"/>
          </p:cNvSpPr>
          <p:nvPr>
            <p:ph type="pic" sz="quarter" idx="26" hasCustomPrompt="1"/>
          </p:nvPr>
        </p:nvSpPr>
        <p:spPr>
          <a:xfrm>
            <a:off x="12757150" y="26670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sz="quarter" idx="27"/>
          </p:nvPr>
        </p:nvSpPr>
        <p:spPr>
          <a:xfrm>
            <a:off x="15617825" y="26670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7" descr="Place bio portrait here">
            <a:extLst>
              <a:ext uri="{FF2B5EF4-FFF2-40B4-BE49-F238E27FC236}">
                <a16:creationId xmlns:a16="http://schemas.microsoft.com/office/drawing/2014/main" id="{A33F8C74-1D30-FEA9-4F3C-636531C86142}"/>
              </a:ext>
            </a:extLst>
          </p:cNvPr>
          <p:cNvSpPr>
            <a:spLocks noGrp="1"/>
          </p:cNvSpPr>
          <p:nvPr>
            <p:ph type="pic" sz="quarter" idx="22" hasCustomPrompt="1"/>
          </p:nvPr>
        </p:nvSpPr>
        <p:spPr>
          <a:xfrm>
            <a:off x="12757150" y="61214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sz="quarter" idx="23"/>
          </p:nvPr>
        </p:nvSpPr>
        <p:spPr>
          <a:xfrm>
            <a:off x="15617825" y="61214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7" descr="Place bio portrait here">
            <a:extLst>
              <a:ext uri="{FF2B5EF4-FFF2-40B4-BE49-F238E27FC236}">
                <a16:creationId xmlns:a16="http://schemas.microsoft.com/office/drawing/2014/main" id="{2E690121-61A1-708E-E5B8-5B65A668E628}"/>
              </a:ext>
            </a:extLst>
          </p:cNvPr>
          <p:cNvSpPr>
            <a:spLocks noGrp="1"/>
          </p:cNvSpPr>
          <p:nvPr>
            <p:ph type="pic" sz="quarter" idx="24" hasCustomPrompt="1"/>
          </p:nvPr>
        </p:nvSpPr>
        <p:spPr>
          <a:xfrm>
            <a:off x="12757150" y="95250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sz="quarter" idx="25"/>
          </p:nvPr>
        </p:nvSpPr>
        <p:spPr>
          <a:xfrm>
            <a:off x="15617825" y="9525001"/>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85D83A84-CCD3-C297-7314-225B96D47D6A}"/>
              </a:ext>
            </a:extLst>
          </p:cNvPr>
          <p:cNvSpPr>
            <a:spLocks noGrp="1"/>
          </p:cNvSpPr>
          <p:nvPr>
            <p:ph type="ftr" sz="quarter" idx="19"/>
          </p:nvPr>
        </p:nvSpPr>
        <p:spPr/>
        <p:txBody>
          <a:bodyPr/>
          <a:lstStyle/>
          <a:p>
            <a:endParaRPr lang="en-US" dirty="0"/>
          </a:p>
        </p:txBody>
      </p:sp>
      <p:sp>
        <p:nvSpPr>
          <p:cNvPr id="5" name="Slide Number">
            <a:extLst>
              <a:ext uri="{FF2B5EF4-FFF2-40B4-BE49-F238E27FC236}">
                <a16:creationId xmlns:a16="http://schemas.microsoft.com/office/drawing/2014/main" id="{74870601-E9CA-9D0E-804F-2A7353CE534A}"/>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936719277"/>
      </p:ext>
    </p:extLst>
  </p:cSld>
  <p:clrMapOvr>
    <a:masterClrMapping/>
  </p:clrMapOvr>
  <p:transition spd="med"/>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4573587"/>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5" name="Table Placeholder 4">
            <a:extLst>
              <a:ext uri="{FF2B5EF4-FFF2-40B4-BE49-F238E27FC236}">
                <a16:creationId xmlns:a16="http://schemas.microsoft.com/office/drawing/2014/main" id="{B3D8D357-75A1-F4FD-F531-380CF7DE4340}"/>
              </a:ext>
            </a:extLst>
          </p:cNvPr>
          <p:cNvSpPr>
            <a:spLocks noGrp="1"/>
          </p:cNvSpPr>
          <p:nvPr>
            <p:ph type="tbl" sz="quarter" idx="11"/>
          </p:nvPr>
        </p:nvSpPr>
        <p:spPr>
          <a:xfrm>
            <a:off x="6667500" y="569913"/>
            <a:ext cx="17145000" cy="11431587"/>
          </a:xfrm>
        </p:spPr>
        <p:txBody>
          <a:bodyPr anchor="ctr"/>
          <a:lstStyle>
            <a:lvl1pPr algn="ctr">
              <a:defRPr>
                <a:solidFill>
                  <a:schemeClr val="tx1"/>
                </a:solidFill>
              </a:defRPr>
            </a:lvl1pPr>
          </a:lstStyle>
          <a:p>
            <a:r>
              <a:rPr lang="en-US" dirty="0"/>
              <a:t>Click icon to add table</a:t>
            </a:r>
          </a:p>
        </p:txBody>
      </p:sp>
      <p:sp>
        <p:nvSpPr>
          <p:cNvPr id="4" name="Footer Placeholder 3">
            <a:extLst>
              <a:ext uri="{FF2B5EF4-FFF2-40B4-BE49-F238E27FC236}">
                <a16:creationId xmlns:a16="http://schemas.microsoft.com/office/drawing/2014/main" id="{B48A8EE3-1224-3A4B-8A9E-611D8DCF629F}"/>
              </a:ext>
            </a:extLst>
          </p:cNvPr>
          <p:cNvSpPr>
            <a:spLocks noGrp="1"/>
          </p:cNvSpPr>
          <p:nvPr>
            <p:ph type="ftr" sz="quarter" idx="12"/>
          </p:nvPr>
        </p:nvSpPr>
        <p:spPr/>
        <p:txBody>
          <a:bodyPr/>
          <a:lstStyle/>
          <a:p>
            <a:endParaRPr lang="en-US" dirty="0"/>
          </a:p>
        </p:txBody>
      </p:sp>
      <p:sp>
        <p:nvSpPr>
          <p:cNvPr id="6" name="Slide Number">
            <a:extLst>
              <a:ext uri="{FF2B5EF4-FFF2-40B4-BE49-F238E27FC236}">
                <a16:creationId xmlns:a16="http://schemas.microsoft.com/office/drawing/2014/main" id="{7989FA07-F7B7-BE4B-581F-7BE47BBA6051}"/>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88229029"/>
      </p:ext>
    </p:extLst>
  </p:cSld>
  <p:clrMapOvr>
    <a:masterClrMapping/>
  </p:clrMapOvr>
  <p:transition spd="med"/>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Legal disclaimer, one column">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72" y="384048"/>
            <a:ext cx="4956175" cy="2859087"/>
          </a:xfrm>
        </p:spPr>
        <p:txBody>
          <a:bodyPr/>
          <a:lstStyle>
            <a:lvl1pPr>
              <a:lnSpc>
                <a:spcPct val="90000"/>
              </a:lnSpc>
              <a:spcBef>
                <a:spcPts val="0"/>
              </a:spcBef>
              <a:defRPr sz="6400">
                <a:solidFill>
                  <a:schemeClr val="tx2"/>
                </a:solidFill>
              </a:defRPr>
            </a:lvl1pPr>
            <a:lvl2pPr>
              <a:lnSpc>
                <a:spcPct val="100000"/>
              </a:lnSpc>
              <a:spcBef>
                <a:spcPts val="0"/>
              </a:spcBef>
              <a:defRPr sz="6400">
                <a:solidFill>
                  <a:schemeClr val="tx1"/>
                </a:solidFill>
              </a:defRPr>
            </a:lvl2pPr>
            <a:lvl3pPr>
              <a:lnSpc>
                <a:spcPct val="100000"/>
              </a:lnSpc>
              <a:spcBef>
                <a:spcPts val="0"/>
              </a:spcBef>
              <a:defRPr sz="6400">
                <a:solidFill>
                  <a:schemeClr val="tx1"/>
                </a:solidFill>
              </a:defRPr>
            </a:lvl3pPr>
            <a:lvl4pPr>
              <a:lnSpc>
                <a:spcPct val="100000"/>
              </a:lnSpc>
              <a:spcBef>
                <a:spcPts val="0"/>
              </a:spcBef>
              <a:defRPr sz="6400">
                <a:solidFill>
                  <a:schemeClr val="tx1"/>
                </a:solidFill>
              </a:defRPr>
            </a:lvl4pPr>
            <a:lvl5pPr>
              <a:lnSpc>
                <a:spcPct val="100000"/>
              </a:lnSpc>
              <a:spcBef>
                <a:spcPts val="0"/>
              </a:spcBef>
              <a:defRPr sz="6400">
                <a:solidFill>
                  <a:schemeClr val="tx1"/>
                </a:solidFill>
              </a:defRPr>
            </a:lvl5pPr>
          </a:lstStyle>
          <a:p>
            <a:pPr lvl="0"/>
            <a:r>
              <a:rPr lang="en-US"/>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59500" y="569913"/>
            <a:ext cx="4953000" cy="11431587"/>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p:txBody>
          <a:bodyPr/>
          <a:lstStyle/>
          <a:p>
            <a:endParaRPr lang="en-US" dirty="0"/>
          </a:p>
        </p:txBody>
      </p:sp>
      <p:sp>
        <p:nvSpPr>
          <p:cNvPr id="6" name="Slide Number">
            <a:extLst>
              <a:ext uri="{FF2B5EF4-FFF2-40B4-BE49-F238E27FC236}">
                <a16:creationId xmlns:a16="http://schemas.microsoft.com/office/drawing/2014/main" id="{80270476-9FE1-F85E-6F9B-322B184D8FC9}"/>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186187956"/>
      </p:ext>
    </p:extLst>
  </p:cSld>
  <p:clrMapOvr>
    <a:masterClrMapping/>
  </p:clrMapOvr>
  <p:transition spd="med"/>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152704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endParaRPr lang="en-US" dirty="0"/>
          </a:p>
        </p:txBody>
      </p:sp>
      <p:sp>
        <p:nvSpPr>
          <p:cNvPr id="5" name="Slide Number">
            <a:extLst>
              <a:ext uri="{FF2B5EF4-FFF2-40B4-BE49-F238E27FC236}">
                <a16:creationId xmlns:a16="http://schemas.microsoft.com/office/drawing/2014/main" id="{BAFC9C6E-79FD-9BB8-F74D-EAA013319C68}"/>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09605039"/>
      </p:ext>
    </p:extLst>
  </p:cSld>
  <p:clrMapOvr>
    <a:masterClrMapping/>
  </p:clrMapOvr>
  <p:transition spd="med"/>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egal disclaimer, two columns">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72" y="384048"/>
            <a:ext cx="4956175" cy="2859087"/>
          </a:xfrm>
        </p:spPr>
        <p:txBody>
          <a:bodyPr/>
          <a:lstStyle>
            <a:lvl1pPr>
              <a:lnSpc>
                <a:spcPct val="90000"/>
              </a:lnSpc>
              <a:spcBef>
                <a:spcPts val="0"/>
              </a:spcBef>
              <a:defRPr sz="6400">
                <a:solidFill>
                  <a:schemeClr val="tx2"/>
                </a:solidFill>
              </a:defRPr>
            </a:lvl1pPr>
            <a:lvl2pPr>
              <a:lnSpc>
                <a:spcPct val="100000"/>
              </a:lnSpc>
              <a:spcBef>
                <a:spcPts val="0"/>
              </a:spcBef>
              <a:defRPr sz="6400">
                <a:solidFill>
                  <a:schemeClr val="tx1"/>
                </a:solidFill>
              </a:defRPr>
            </a:lvl2pPr>
            <a:lvl3pPr>
              <a:lnSpc>
                <a:spcPct val="100000"/>
              </a:lnSpc>
              <a:spcBef>
                <a:spcPts val="0"/>
              </a:spcBef>
              <a:defRPr sz="6400">
                <a:solidFill>
                  <a:schemeClr val="tx1"/>
                </a:solidFill>
              </a:defRPr>
            </a:lvl3pPr>
            <a:lvl4pPr>
              <a:lnSpc>
                <a:spcPct val="100000"/>
              </a:lnSpc>
              <a:spcBef>
                <a:spcPts val="0"/>
              </a:spcBef>
              <a:defRPr sz="6400">
                <a:solidFill>
                  <a:schemeClr val="tx1"/>
                </a:solidFill>
              </a:defRPr>
            </a:lvl4pPr>
            <a:lvl5pPr>
              <a:lnSpc>
                <a:spcPct val="100000"/>
              </a:lnSpc>
              <a:spcBef>
                <a:spcPts val="0"/>
              </a:spcBef>
              <a:defRPr sz="6400">
                <a:solidFill>
                  <a:schemeClr val="tx1"/>
                </a:solidFill>
              </a:defRPr>
            </a:lvl5pPr>
          </a:lstStyle>
          <a:p>
            <a:pPr lvl="0"/>
            <a:r>
              <a:rPr lang="en-US"/>
              <a:t>Click to edit Master text styles</a:t>
            </a:r>
          </a:p>
        </p:txBody>
      </p:sp>
      <p:sp>
        <p:nvSpPr>
          <p:cNvPr id="6" name="Text Placeholder 6">
            <a:extLst>
              <a:ext uri="{FF2B5EF4-FFF2-40B4-BE49-F238E27FC236}">
                <a16:creationId xmlns:a16="http://schemas.microsoft.com/office/drawing/2014/main" id="{54E531DA-4051-706E-065B-21A03914153D}"/>
              </a:ext>
            </a:extLst>
          </p:cNvPr>
          <p:cNvSpPr>
            <a:spLocks noGrp="1"/>
          </p:cNvSpPr>
          <p:nvPr>
            <p:ph type="body" sz="quarter" idx="17" hasCustomPrompt="1"/>
          </p:nvPr>
        </p:nvSpPr>
        <p:spPr>
          <a:xfrm>
            <a:off x="12763500" y="569913"/>
            <a:ext cx="4953000" cy="11431587"/>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59500" y="569913"/>
            <a:ext cx="4953000" cy="11431587"/>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a:xfrm>
            <a:off x="581024" y="12804775"/>
            <a:ext cx="4956176" cy="381000"/>
          </a:xfrm>
        </p:spPr>
        <p:txBody>
          <a:bodyPr/>
          <a:lstStyle/>
          <a:p>
            <a:endParaRPr lang="en-US" dirty="0"/>
          </a:p>
        </p:txBody>
      </p:sp>
      <p:sp>
        <p:nvSpPr>
          <p:cNvPr id="5" name="Slide Number">
            <a:extLst>
              <a:ext uri="{FF2B5EF4-FFF2-40B4-BE49-F238E27FC236}">
                <a16:creationId xmlns:a16="http://schemas.microsoft.com/office/drawing/2014/main" id="{CAD686F0-BF95-1E62-61EC-967907338873}"/>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9196161"/>
      </p:ext>
    </p:extLst>
  </p:cSld>
  <p:clrMapOvr>
    <a:masterClrMapping/>
  </p:clrMapOvr>
  <p:transition spd="med"/>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F7060FE5-C047-4041-AB41-F553D2847ED5}"/>
              </a:ext>
            </a:extLst>
          </p:cNvPr>
          <p:cNvPicPr>
            <a:picLocks noChangeAspect="1"/>
          </p:cNvPicPr>
          <p:nvPr userDrawn="1"/>
        </p:nvPicPr>
        <p:blipFill>
          <a:blip r:embed="rId2"/>
          <a:stretch>
            <a:fillRect/>
          </a:stretch>
        </p:blipFill>
        <p:spPr>
          <a:xfrm>
            <a:off x="10465371" y="6168460"/>
            <a:ext cx="3456432" cy="1379081"/>
          </a:xfrm>
          <a:prstGeom prst="rect">
            <a:avLst/>
          </a:prstGeom>
        </p:spPr>
      </p:pic>
    </p:spTree>
    <p:extLst>
      <p:ext uri="{BB962C8B-B14F-4D97-AF65-F5344CB8AC3E}">
        <p14:creationId xmlns:p14="http://schemas.microsoft.com/office/powerpoint/2010/main" val="4195384914"/>
      </p:ext>
    </p:extLst>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7" name="Slide Number"/>
          <p:cNvSpPr txBox="1">
            <a:spLocks noGrp="1"/>
          </p:cNvSpPr>
          <p:nvPr>
            <p:ph type="sldNum" sz="quarter" idx="2"/>
          </p:nvPr>
        </p:nvSpPr>
        <p:spPr>
          <a:xfrm>
            <a:off x="23541592" y="12939014"/>
            <a:ext cx="270908" cy="246221"/>
          </a:xfrm>
          <a:prstGeom prst="rect">
            <a:avLst/>
          </a:prstGeom>
          <a:ln w="12700">
            <a:miter lim="400000"/>
          </a:ln>
        </p:spPr>
        <p:txBody>
          <a:bodyPr wrap="none" lIns="0" tIns="0" rIns="0" bIns="0" anchor="b" anchorCtr="0">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48" name="Title Text"/>
          <p:cNvSpPr txBox="1">
            <a:spLocks noGrp="1"/>
          </p:cNvSpPr>
          <p:nvPr>
            <p:ph type="title"/>
          </p:nvPr>
        </p:nvSpPr>
        <p:spPr>
          <a:xfrm>
            <a:off x="576072" y="576072"/>
            <a:ext cx="22590125" cy="26511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r>
              <a:rPr dirty="0"/>
              <a:t>Title Text</a:t>
            </a:r>
          </a:p>
        </p:txBody>
      </p:sp>
      <p:sp>
        <p:nvSpPr>
          <p:cNvPr id="49" name="Body Level One…"/>
          <p:cNvSpPr txBox="1">
            <a:spLocks noGrp="1"/>
          </p:cNvSpPr>
          <p:nvPr>
            <p:ph type="body" idx="1"/>
          </p:nvPr>
        </p:nvSpPr>
        <p:spPr>
          <a:xfrm>
            <a:off x="574675" y="3327399"/>
            <a:ext cx="22590125" cy="86693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r>
              <a:rPr dirty="0"/>
              <a:t>Body Level One</a:t>
            </a:r>
          </a:p>
          <a:p>
            <a:pPr lvl="1"/>
            <a:r>
              <a:rPr dirty="0"/>
              <a:t>Body Level Two</a:t>
            </a:r>
          </a:p>
          <a:p>
            <a:pPr lvl="2"/>
            <a:r>
              <a:rPr dirty="0"/>
              <a:t>Body Level Three</a:t>
            </a:r>
          </a:p>
          <a:p>
            <a:pPr lvl="3"/>
            <a:r>
              <a:rPr dirty="0"/>
              <a:t>Body Level Four</a:t>
            </a:r>
          </a:p>
        </p:txBody>
      </p:sp>
      <p:sp>
        <p:nvSpPr>
          <p:cNvPr id="2" name="Footer Placeholder 1">
            <a:extLst>
              <a:ext uri="{FF2B5EF4-FFF2-40B4-BE49-F238E27FC236}">
                <a16:creationId xmlns:a16="http://schemas.microsoft.com/office/drawing/2014/main" id="{59EB465A-FE7F-6B71-D716-1673174BBF59}"/>
              </a:ext>
            </a:extLst>
          </p:cNvPr>
          <p:cNvSpPr>
            <a:spLocks noGrp="1"/>
          </p:cNvSpPr>
          <p:nvPr>
            <p:ph type="ftr" sz="quarter" idx="3"/>
          </p:nvPr>
        </p:nvSpPr>
        <p:spPr>
          <a:xfrm>
            <a:off x="568324" y="12804235"/>
            <a:ext cx="4956176" cy="381000"/>
          </a:xfrm>
          <a:prstGeom prst="rect">
            <a:avLst/>
          </a:prstGeom>
        </p:spPr>
        <p:txBody>
          <a:bodyPr vert="horz" lIns="0" tIns="0" rIns="0" bIns="0" rtlCol="0" anchor="b"/>
          <a:lstStyle>
            <a:lvl1pPr algn="l">
              <a:defRPr sz="1600" b="0" i="0">
                <a:solidFill>
                  <a:schemeClr val="tx1"/>
                </a:solidFill>
                <a:latin typeface="IBM Plex Sans" panose="020B0503050203000203" pitchFamily="34" charset="0"/>
              </a:defRPr>
            </a:lvl1pPr>
          </a:lstStyle>
          <a:p>
            <a:r>
              <a:rPr lang="en-US" dirty="0"/>
              <a:t>Footer text (optional)</a:t>
            </a:r>
          </a:p>
        </p:txBody>
      </p:sp>
    </p:spTree>
    <p:extLst>
      <p:ext uri="{BB962C8B-B14F-4D97-AF65-F5344CB8AC3E}">
        <p14:creationId xmlns:p14="http://schemas.microsoft.com/office/powerpoint/2010/main" val="3669031262"/>
      </p:ext>
    </p:extLst>
  </p:cSld>
  <p:clrMap bg1="dk1" tx1="lt1" bg2="dk2" tx2="lt2" accent1="accent1" accent2="accent2" accent3="accent3" accent4="accent4" accent5="accent5" accent6="accent6" hlink="hlink" folHlink="folHlink"/>
  <p:sldLayoutIdLst>
    <p:sldLayoutId id="2147483944" r:id="rId1"/>
    <p:sldLayoutId id="2147483945" r:id="rId2"/>
    <p:sldLayoutId id="2147483904" r:id="rId3"/>
    <p:sldLayoutId id="2147483905" r:id="rId4"/>
    <p:sldLayoutId id="2147483901" r:id="rId5"/>
    <p:sldLayoutId id="2147483692" r:id="rId6"/>
    <p:sldLayoutId id="2147483906" r:id="rId7"/>
    <p:sldLayoutId id="2147483907" r:id="rId8"/>
    <p:sldLayoutId id="2147483910" r:id="rId9"/>
    <p:sldLayoutId id="2147483908" r:id="rId10"/>
    <p:sldLayoutId id="2147483909" r:id="rId11"/>
    <p:sldLayoutId id="2147483912" r:id="rId12"/>
    <p:sldLayoutId id="2147483914" r:id="rId13"/>
    <p:sldLayoutId id="2147483915" r:id="rId14"/>
    <p:sldLayoutId id="2147483913" r:id="rId15"/>
    <p:sldLayoutId id="2147483917" r:id="rId16"/>
    <p:sldLayoutId id="2147483942" r:id="rId17"/>
    <p:sldLayoutId id="2147483919" r:id="rId18"/>
    <p:sldLayoutId id="2147483929" r:id="rId19"/>
    <p:sldLayoutId id="2147483920" r:id="rId20"/>
    <p:sldLayoutId id="2147483930" r:id="rId21"/>
    <p:sldLayoutId id="2147483928" r:id="rId22"/>
    <p:sldLayoutId id="2147483948" r:id="rId23"/>
    <p:sldLayoutId id="2147483927" r:id="rId24"/>
    <p:sldLayoutId id="2147483950" r:id="rId25"/>
    <p:sldLayoutId id="2147483921" r:id="rId26"/>
    <p:sldLayoutId id="2147483916" r:id="rId27"/>
    <p:sldLayoutId id="2147483922" r:id="rId28"/>
    <p:sldLayoutId id="2147483953" r:id="rId29"/>
    <p:sldLayoutId id="2147483956" r:id="rId30"/>
    <p:sldLayoutId id="2147483923" r:id="rId31"/>
    <p:sldLayoutId id="2147483924" r:id="rId32"/>
    <p:sldLayoutId id="2147483926" r:id="rId33"/>
    <p:sldLayoutId id="2147483925" r:id="rId34"/>
    <p:sldLayoutId id="2147483959" r:id="rId35"/>
    <p:sldLayoutId id="2147483937" r:id="rId36"/>
    <p:sldLayoutId id="2147483932" r:id="rId37"/>
    <p:sldLayoutId id="2147483934" r:id="rId38"/>
    <p:sldLayoutId id="2147483935" r:id="rId39"/>
    <p:sldLayoutId id="2147483936" r:id="rId40"/>
    <p:sldLayoutId id="2147483938" r:id="rId41"/>
    <p:sldLayoutId id="2147483939" r:id="rId42"/>
    <p:sldLayoutId id="2147483940" r:id="rId43"/>
    <p:sldLayoutId id="2147483943" r:id="rId44"/>
    <p:sldLayoutId id="2147483960" r:id="rId45"/>
    <p:sldLayoutId id="2147483941" r:id="rId46"/>
  </p:sldLayoutIdLst>
  <p:transition spd="med"/>
  <p:hf hdr="0" dt="0"/>
  <p:txStyles>
    <p:titleStyle>
      <a:lvl1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p:titleStyle>
    <p:body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p:bodyStyle>
    <p:otherStyle>
      <a:lvl1pPr marL="0" marR="0" indent="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1pPr>
      <a:lvl2pPr marL="0" marR="0" indent="34299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2pPr>
      <a:lvl3pPr marL="0" marR="0" indent="685982"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3pPr>
      <a:lvl4pPr marL="0" marR="0" indent="1028974"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4pPr>
      <a:lvl5pPr marL="0" marR="0" indent="1371965"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5pPr>
      <a:lvl6pPr marL="0" marR="0" indent="1714956"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6pPr>
      <a:lvl7pPr marL="0" marR="0" indent="2057948"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7pPr>
      <a:lvl8pPr marL="0" marR="0" indent="240094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8pPr>
      <a:lvl9pPr marL="0" marR="0" indent="274393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9pPr>
    </p:otherStyle>
  </p:txStyles>
  <p:extLst>
    <p:ext uri="{27BBF7A9-308A-43DC-89C8-2F10F3537804}">
      <p15:sldGuideLst xmlns:p15="http://schemas.microsoft.com/office/powerpoint/2012/main">
        <p15:guide id="1" orient="horz" pos="4320">
          <p15:clr>
            <a:srgbClr val="0F62FE"/>
          </p15:clr>
        </p15:guide>
        <p15:guide id="3" pos="364">
          <p15:clr>
            <a:srgbClr val="EE5396"/>
          </p15:clr>
        </p15:guide>
        <p15:guide id="4" pos="3840">
          <p15:clr>
            <a:srgbClr val="0F62FE"/>
          </p15:clr>
        </p15:guide>
        <p15:guide id="5" pos="1916">
          <p15:clr>
            <a:srgbClr val="EE5396"/>
          </p15:clr>
        </p15:guide>
        <p15:guide id="6" pos="5756">
          <p15:clr>
            <a:srgbClr val="EE5396"/>
          </p15:clr>
        </p15:guide>
        <p15:guide id="7" pos="7319">
          <p15:clr>
            <a:srgbClr val="EE5396"/>
          </p15:clr>
        </p15:guide>
        <p15:guide id="8" pos="8040">
          <p15:clr>
            <a:srgbClr val="EE5396"/>
          </p15:clr>
        </p15:guide>
        <p15:guide id="9" pos="4200">
          <p15:clr>
            <a:srgbClr val="EE5396"/>
          </p15:clr>
        </p15:guide>
        <p15:guide id="10" pos="3480">
          <p15:clr>
            <a:srgbClr val="EE5396"/>
          </p15:clr>
        </p15:guide>
        <p15:guide id="11" pos="9594">
          <p15:clr>
            <a:srgbClr val="EE5396"/>
          </p15:clr>
        </p15:guide>
        <p15:guide id="13" pos="11160">
          <p15:clr>
            <a:srgbClr val="EE5396"/>
          </p15:clr>
        </p15:guide>
        <p15:guide id="14" pos="11880">
          <p15:clr>
            <a:srgbClr val="EE5396"/>
          </p15:clr>
        </p15:guide>
        <p15:guide id="15" pos="13440">
          <p15:clr>
            <a:srgbClr val="EE5396"/>
          </p15:clr>
        </p15:guide>
        <p15:guide id="16" pos="14995">
          <p15:clr>
            <a:srgbClr val="EE5396"/>
          </p15:clr>
        </p15:guide>
        <p15:guide id="17" orient="horz" pos="2160">
          <p15:clr>
            <a:srgbClr val="0F62FE"/>
          </p15:clr>
        </p15:guide>
        <p15:guide id="19" orient="horz" pos="3240">
          <p15:clr>
            <a:srgbClr val="EE5396"/>
          </p15:clr>
        </p15:guide>
        <p15:guide id="20" orient="horz" pos="1080" userDrawn="1">
          <p15:clr>
            <a:srgbClr val="EE5396"/>
          </p15:clr>
        </p15:guide>
        <p15:guide id="21" orient="horz" pos="364">
          <p15:clr>
            <a:srgbClr val="EE5396"/>
          </p15:clr>
        </p15:guide>
        <p15:guide id="22" orient="horz" pos="5400">
          <p15:clr>
            <a:srgbClr val="EE5396"/>
          </p15:clr>
        </p15:guide>
        <p15:guide id="24" orient="horz" pos="7557">
          <p15:clr>
            <a:srgbClr val="EE5396"/>
          </p15:clr>
        </p15:guide>
        <p15:guide id="25" orient="horz" pos="8273">
          <p15:clr>
            <a:srgbClr val="EE5396"/>
          </p15:clr>
        </p15:guide>
        <p15:guide id="26" pos="7680">
          <p15:clr>
            <a:srgbClr val="0F62FE"/>
          </p15:clr>
        </p15:guide>
        <p15:guide id="27" pos="11520">
          <p15:clr>
            <a:srgbClr val="0F62FE"/>
          </p15:clr>
        </p15:guide>
        <p15:guide id="28" orient="horz" pos="6480">
          <p15:clr>
            <a:srgbClr val="0F62FE"/>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jpg"/><Relationship Id="rId4" Type="http://schemas.openxmlformats.org/officeDocument/2006/relationships/notesSlide" Target="../notesSlides/notesSlide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0.xml"/><Relationship Id="rId3" Type="http://schemas.openxmlformats.org/officeDocument/2006/relationships/image" Target="../media/image14.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1.xml"/><Relationship Id="rId3" Type="http://schemas.openxmlformats.org/officeDocument/2006/relationships/image" Target="../media/image15.png"/><Relationship Id="rId4" Type="http://schemas.openxmlformats.org/officeDocument/2006/relationships/image" Target="../media/image23.png"/><Relationship Id="rId5"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2.xml"/><Relationship Id="rId3"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4.xml"/><Relationship Id="rId3"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78B94-CB39-4DA0-9A62-6B804CE0C0E9}"/>
              </a:ext>
            </a:extLst>
          </p:cNvPr>
          <p:cNvSpPr>
            <a:spLocks noGrp="1"/>
          </p:cNvSpPr>
          <p:nvPr>
            <p:ph type="title"/>
          </p:nvPr>
        </p:nvSpPr>
        <p:spPr>
          <a:xfrm>
            <a:off x="576072" y="576072"/>
            <a:ext cx="22590125" cy="2651126"/>
          </a:xfrm>
        </p:spPr>
        <p:txBody>
          <a:bodyPr anchor="ctr">
            <a:normAutofit/>
          </a:bodyPr>
          <a:lstStyle/>
          <a:p>
            <a:r>
              <a:rPr lang="en-US" dirty="0"/>
              <a:t>Optimizing the Compiler (torch-</a:t>
            </a:r>
            <a:r>
              <a:rPr lang="en-US" dirty="0" err="1"/>
              <a:t>spyre</a:t>
            </a:r>
            <a:r>
              <a:rPr lang="en-US" dirty="0"/>
              <a:t>) for Dataflow-architecture AI Accelerators</a:t>
            </a:r>
          </a:p>
        </p:txBody>
      </p:sp>
      <p:sp>
        <p:nvSpPr>
          <p:cNvPr id="3" name="Text Placeholder 2">
            <a:extLst>
              <a:ext uri="{FF2B5EF4-FFF2-40B4-BE49-F238E27FC236}">
                <a16:creationId xmlns:a16="http://schemas.microsoft.com/office/drawing/2014/main" id="{496E5AD6-3176-5465-CAAE-019CEAACCE1F}"/>
              </a:ext>
            </a:extLst>
          </p:cNvPr>
          <p:cNvSpPr>
            <a:spLocks noGrp="1"/>
          </p:cNvSpPr>
          <p:nvPr>
            <p:ph type="body" sz="quarter" idx="4294967295"/>
          </p:nvPr>
        </p:nvSpPr>
        <p:spPr>
          <a:xfrm>
            <a:off x="1167083" y="5032258"/>
            <a:ext cx="10841866" cy="8286282"/>
          </a:xfr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nchor="t">
            <a:normAutofit/>
          </a:bodyPr>
          <a:lstStyle/>
          <a:p>
            <a:pPr defTabSz="1829379">
              <a:spcAft>
                <a:spcPts val="600"/>
              </a:spcAft>
            </a:pPr>
            <a:r>
              <a:rPr lang="en-US" sz="4000" kern="1200" dirty="0">
                <a:solidFill>
                  <a:schemeClr val="tx2"/>
                </a:solidFill>
              </a:rPr>
              <a:t>Haoyang Zhang</a:t>
            </a:r>
          </a:p>
          <a:p>
            <a:pPr defTabSz="1829379">
              <a:spcAft>
                <a:spcPts val="600"/>
              </a:spcAft>
            </a:pPr>
            <a:br>
              <a:rPr lang="en-US" sz="4000" kern="1200" dirty="0">
                <a:solidFill>
                  <a:schemeClr val="tx2"/>
                </a:solidFill>
              </a:rPr>
            </a:br>
            <a:r>
              <a:rPr lang="en-US" sz="4000" kern="1200" dirty="0">
                <a:solidFill>
                  <a:schemeClr val="tx2"/>
                </a:solidFill>
              </a:rPr>
              <a:t>Manager: Olivier Tardieu</a:t>
            </a:r>
          </a:p>
          <a:p>
            <a:pPr defTabSz="1829379">
              <a:spcAft>
                <a:spcPts val="600"/>
              </a:spcAft>
            </a:pPr>
            <a:r>
              <a:rPr lang="en-US" sz="4000" kern="1200" dirty="0">
                <a:solidFill>
                  <a:schemeClr val="tx2"/>
                </a:solidFill>
              </a:rPr>
              <a:t>Mentor: David Grove</a:t>
            </a:r>
          </a:p>
          <a:p>
            <a:pPr defTabSz="1829379">
              <a:spcAft>
                <a:spcPts val="600"/>
              </a:spcAft>
            </a:pPr>
            <a:r>
              <a:rPr lang="en-US" sz="4000" kern="1200" dirty="0">
                <a:solidFill>
                  <a:schemeClr val="tx2"/>
                </a:solidFill>
              </a:rPr>
              <a:t>Hybrid Cloud</a:t>
            </a:r>
          </a:p>
          <a:p>
            <a:pPr defTabSz="1829379">
              <a:spcAft>
                <a:spcPts val="600"/>
              </a:spcAft>
            </a:pPr>
            <a:endParaRPr lang="en-US" kern="1200" dirty="0">
              <a:solidFill>
                <a:schemeClr val="tx2"/>
              </a:solidFill>
            </a:endParaRPr>
          </a:p>
          <a:p>
            <a:pPr defTabSz="1829379">
              <a:spcAft>
                <a:spcPts val="600"/>
              </a:spcAft>
            </a:pPr>
            <a:endParaRPr lang="en-US" kern="1200" dirty="0">
              <a:solidFill>
                <a:schemeClr val="tx2"/>
              </a:solidFill>
            </a:endParaRPr>
          </a:p>
        </p:txBody>
      </p:sp>
      <p:sp>
        <p:nvSpPr>
          <p:cNvPr id="5" name="TextBox 4">
            <a:extLst>
              <a:ext uri="{FF2B5EF4-FFF2-40B4-BE49-F238E27FC236}">
                <a16:creationId xmlns:a16="http://schemas.microsoft.com/office/drawing/2014/main" id="{38E48B9B-9CA6-8934-8C4A-4CE7F17EF070}"/>
              </a:ext>
            </a:extLst>
          </p:cNvPr>
          <p:cNvSpPr txBox="1"/>
          <p:nvPr/>
        </p:nvSpPr>
        <p:spPr>
          <a:xfrm>
            <a:off x="3926541" y="6858000"/>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marL="444465" indent="-446749" algn="l" defTabSz="2438400">
              <a:spcBef>
                <a:spcPts val="2900"/>
              </a:spcBef>
              <a:buSzPct val="100000"/>
              <a:buFontTx/>
              <a:buChar char="–"/>
            </a:pPr>
            <a:endParaRPr lang="en-US" kern="0">
              <a:solidFill>
                <a:srgbClr val="000000"/>
              </a:solidFill>
              <a:ea typeface="+mj-ea"/>
              <a:cs typeface="+mj-cs"/>
              <a:sym typeface="IBM Plex Sans Light"/>
            </a:endParaRPr>
          </a:p>
        </p:txBody>
      </p:sp>
      <p:sp>
        <p:nvSpPr>
          <p:cNvPr id="6" name="TextBox 5">
            <a:extLst>
              <a:ext uri="{FF2B5EF4-FFF2-40B4-BE49-F238E27FC236}">
                <a16:creationId xmlns:a16="http://schemas.microsoft.com/office/drawing/2014/main" id="{395FAE7D-C7EE-F259-C676-4A76518223FD}"/>
              </a:ext>
            </a:extLst>
          </p:cNvPr>
          <p:cNvSpPr txBox="1"/>
          <p:nvPr/>
        </p:nvSpPr>
        <p:spPr>
          <a:xfrm>
            <a:off x="14442141" y="7073153"/>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algn="l" defTabSz="2438400">
              <a:spcBef>
                <a:spcPts val="2900"/>
              </a:spcBef>
              <a:buSzPct val="100000"/>
            </a:pPr>
            <a:endParaRPr lang="en-US" kern="0">
              <a:solidFill>
                <a:srgbClr val="000000"/>
              </a:solidFill>
              <a:ea typeface="+mj-ea"/>
              <a:cs typeface="+mj-cs"/>
              <a:sym typeface="IBM Plex Sans Light"/>
            </a:endParaRPr>
          </a:p>
        </p:txBody>
      </p:sp>
    </p:spTree>
    <p:extLst>
      <p:ext uri="{BB962C8B-B14F-4D97-AF65-F5344CB8AC3E}">
        <p14:creationId xmlns:p14="http://schemas.microsoft.com/office/powerpoint/2010/main" val="10475816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4572000"/>
            <a:ext cx="21031200" cy="5486400"/>
          </a:xfrm>
        </p:spPr>
        <p:txBody>
          <a:bodyPr wrap="square"/>
          <a:lstStyle/>
          <a:p>
            <a:pPr algn="l">
              <a:spcBef>
                <a:spcPts val="0"/>
              </a:spcBef>
              <a:spcAft>
                <a:spcPts val="2400"/>
              </a:spcAft>
            </a:pPr>
            <a:r>
              <a:rPr sz="4400" b="1" i="0">
                <a:solidFill>
                  <a:srgbClr val="0F62FE"/>
                </a:solidFill>
              </a:rPr>
              <a:t>PART 1</a:t>
            </a:r>
          </a:p>
          <a:p>
            <a:pPr algn="l">
              <a:spcBef>
                <a:spcPts val="0"/>
              </a:spcBef>
              <a:spcAft>
                <a:spcPts val="3000"/>
              </a:spcAft>
            </a:pPr>
            <a:r>
              <a:rPr sz="10000" b="1" i="0">
                <a:solidFill>
                  <a:srgbClr val="161616"/>
                </a:solidFill>
              </a:rPr>
              <a:t>A cost model as a compiler pass</a:t>
            </a:r>
          </a:p>
          <a:p>
            <a:pPr algn="l">
              <a:spcBef>
                <a:spcPts val="0"/>
              </a:spcBef>
              <a:spcAft>
                <a:spcPts val="600"/>
              </a:spcAft>
            </a:pPr>
            <a:r>
              <a:rPr sz="4000" b="0" i="0">
                <a:solidFill>
                  <a:srgbClr val="6F6F6F"/>
                </a:solidFill>
              </a:rPr>
              <a:t>What it reads, what it prints, and what another pass could do with it.</a:t>
            </a:r>
          </a:p>
        </p:txBody>
      </p:sp>
      <p:sp>
        <p:nvSpPr>
          <p:cNvPr id="3" name="Rectangle 2"/>
          <p:cNvSpPr/>
          <p:nvPr/>
        </p:nvSpPr>
        <p:spPr>
          <a:xfrm>
            <a:off x="576072" y="4023360"/>
            <a:ext cx="6400800" cy="7620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8C416EEB-92D3-3C67-FB72-46B83D1DBC43}"/>
              </a:ext>
            </a:extLst>
          </p:cNvPr>
          <p:cNvPicPr>
            <a:picLocks noChangeAspect="1"/>
          </p:cNvPicPr>
          <p:nvPr/>
        </p:nvPicPr>
        <p:blipFill>
          <a:blip r:embed="rId2"/>
          <a:stretch>
            <a:fillRect/>
          </a:stretch>
        </p:blipFill>
        <p:spPr>
          <a:xfrm>
            <a:off x="9961685" y="1699840"/>
            <a:ext cx="13919757" cy="11519203"/>
          </a:xfrm>
          <a:prstGeom prst="rect">
            <a:avLst/>
          </a:prstGeom>
        </p:spPr>
      </p:pic>
      <p:sp>
        <p:nvSpPr>
          <p:cNvPr id="2" name="Text Placeholder 1">
            <a:extLst>
              <a:ext uri="{FF2B5EF4-FFF2-40B4-BE49-F238E27FC236}">
                <a16:creationId xmlns:a16="http://schemas.microsoft.com/office/drawing/2014/main" id="{22768BCD-68D4-DBF4-7609-3F6BB21D9D02}"/>
              </a:ext>
            </a:extLst>
          </p:cNvPr>
          <p:cNvSpPr>
            <a:spLocks noGrp="1"/>
          </p:cNvSpPr>
          <p:nvPr>
            <p:ph type="body" sz="quarter" idx="11"/>
          </p:nvPr>
        </p:nvSpPr>
        <p:spPr>
          <a:xfrm>
            <a:off x="576071" y="404446"/>
            <a:ext cx="19171451" cy="743126"/>
          </a:xfrm>
        </p:spPr>
        <p:txBody>
          <a:bodyPr/>
          <a:lstStyle/>
          <a:p>
            <a:r>
              <a:rPr lang="en-US" sz="4800" b="1" dirty="0"/>
              <a:t>An Analytical Cost Model for Spyre Kernels as a New Compiler Pass</a:t>
            </a:r>
          </a:p>
        </p:txBody>
      </p:sp>
      <p:sp>
        <p:nvSpPr>
          <p:cNvPr id="3" name="Title 2">
            <a:extLst>
              <a:ext uri="{FF2B5EF4-FFF2-40B4-BE49-F238E27FC236}">
                <a16:creationId xmlns:a16="http://schemas.microsoft.com/office/drawing/2014/main" id="{39E78EBF-7658-B5DB-6C27-883C839297C8}"/>
              </a:ext>
            </a:extLst>
          </p:cNvPr>
          <p:cNvSpPr>
            <a:spLocks noGrp="1"/>
          </p:cNvSpPr>
          <p:nvPr>
            <p:ph type="title"/>
          </p:nvPr>
        </p:nvSpPr>
        <p:spPr>
          <a:xfrm>
            <a:off x="576071" y="2435469"/>
            <a:ext cx="9763682" cy="9029701"/>
          </a:xfrm>
        </p:spPr>
        <p:txBody>
          <a:bodyPr/>
          <a:lstStyle/>
          <a:p>
            <a:r>
              <a:rPr lang="en-US" altLang="zh-CN" sz="4000" b="1" dirty="0"/>
              <a:t>Motivation</a:t>
            </a:r>
            <a:br>
              <a:rPr lang="en-US" sz="3000" b="1" dirty="0"/>
            </a:br>
            <a:r>
              <a:rPr lang="en-US" sz="3200" dirty="0"/>
              <a:t>Better understand the compiler workflow and Spyre’s performance features; U</a:t>
            </a:r>
            <a:r>
              <a:rPr lang="en-US" altLang="zh-CN" sz="3200" dirty="0"/>
              <a:t>sing it to explore optimizing directions, without needing to run blind sweeps on actual hardware.</a:t>
            </a:r>
            <a:br>
              <a:rPr lang="en-US" sz="3000" b="1" dirty="0"/>
            </a:br>
            <a:br>
              <a:rPr lang="en-US" sz="3000" b="1" dirty="0"/>
            </a:br>
            <a:r>
              <a:rPr lang="en-US" sz="4000" b="1" dirty="0"/>
              <a:t>Input</a:t>
            </a:r>
            <a:br>
              <a:rPr lang="en-US" sz="3000" b="1" dirty="0"/>
            </a:br>
            <a:r>
              <a:rPr lang="en-US" sz="3200" dirty="0"/>
              <a:t>The loop-level IR after all prescheduling passes.</a:t>
            </a:r>
            <a:br>
              <a:rPr lang="en-US" sz="3000" b="1" dirty="0"/>
            </a:br>
            <a:br>
              <a:rPr lang="en-US" sz="3000" dirty="0"/>
            </a:br>
            <a:r>
              <a:rPr lang="en-US" sz="4000" b="1" dirty="0"/>
              <a:t>Outputs</a:t>
            </a:r>
            <a:br>
              <a:rPr lang="en-US" sz="3000" b="1" dirty="0"/>
            </a:br>
            <a:r>
              <a:rPr lang="en-US" sz="3200" dirty="0"/>
              <a:t>The predicted performance of the program.</a:t>
            </a:r>
            <a:br>
              <a:rPr lang="en-US" sz="3000" dirty="0"/>
            </a:br>
            <a:br>
              <a:rPr lang="en-US" sz="3000" dirty="0"/>
            </a:br>
            <a:r>
              <a:rPr lang="en-US" sz="4000" b="1" dirty="0"/>
              <a:t>Coverage</a:t>
            </a:r>
            <a:br>
              <a:rPr lang="en-US" sz="3000" b="1" dirty="0"/>
            </a:br>
            <a:r>
              <a:rPr lang="en-US" sz="3200" dirty="0"/>
              <a:t>All different types of Ops (Pointwise, Reductions, Broadcasts, Transportation, </a:t>
            </a:r>
            <a:r>
              <a:rPr lang="en-US" sz="3200" dirty="0" err="1"/>
              <a:t>MatMul</a:t>
            </a:r>
            <a:r>
              <a:rPr lang="en-US" sz="3200" dirty="0"/>
              <a:t>) and support special fusion (coarse tiling). Verified with several real programs, including a small example of </a:t>
            </a:r>
            <a:r>
              <a:rPr lang="en-US" sz="3200" dirty="0" err="1"/>
              <a:t>flash_attn</a:t>
            </a:r>
            <a:r>
              <a:rPr lang="en-US" sz="3200" dirty="0"/>
              <a:t>. </a:t>
            </a:r>
            <a:br>
              <a:rPr lang="en-US" sz="3000" dirty="0"/>
            </a:br>
            <a:br>
              <a:rPr lang="en-US" sz="8800" dirty="0">
                <a:solidFill>
                  <a:schemeClr val="accent2"/>
                </a:solidFill>
              </a:rPr>
            </a:br>
            <a:endParaRPr lang="en-US" dirty="0"/>
          </a:p>
        </p:txBody>
      </p:sp>
      <p:sp>
        <p:nvSpPr>
          <p:cNvPr id="5" name="TextBox 4">
            <a:extLst>
              <a:ext uri="{FF2B5EF4-FFF2-40B4-BE49-F238E27FC236}">
                <a16:creationId xmlns:a16="http://schemas.microsoft.com/office/drawing/2014/main" id="{C68E60FF-BE11-42DD-8243-C7BDDB3831C3}"/>
              </a:ext>
            </a:extLst>
          </p:cNvPr>
          <p:cNvSpPr txBox="1"/>
          <p:nvPr/>
        </p:nvSpPr>
        <p:spPr>
          <a:xfrm>
            <a:off x="-6212541" y="-3254188"/>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4" name="TextBox 3">
            <a:extLst>
              <a:ext uri="{FF2B5EF4-FFF2-40B4-BE49-F238E27FC236}">
                <a16:creationId xmlns:a16="http://schemas.microsoft.com/office/drawing/2014/main" id="{A4780727-6501-D4E0-AA43-F7B97D92CFFF}"/>
              </a:ext>
            </a:extLst>
          </p:cNvPr>
          <p:cNvSpPr txBox="1"/>
          <p:nvPr/>
        </p:nvSpPr>
        <p:spPr>
          <a:xfrm>
            <a:off x="1709530" y="13219043"/>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6" name="TextBox 5">
            <a:extLst>
              <a:ext uri="{FF2B5EF4-FFF2-40B4-BE49-F238E27FC236}">
                <a16:creationId xmlns:a16="http://schemas.microsoft.com/office/drawing/2014/main" id="{9E889169-0FEF-DEF8-1429-A2F8142F2B58}"/>
              </a:ext>
            </a:extLst>
          </p:cNvPr>
          <p:cNvSpPr txBox="1"/>
          <p:nvPr/>
        </p:nvSpPr>
        <p:spPr>
          <a:xfrm>
            <a:off x="1749287" y="13099774"/>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pic>
        <p:nvPicPr>
          <p:cNvPr id="13" name="Picture 12">
            <a:extLst>
              <a:ext uri="{FF2B5EF4-FFF2-40B4-BE49-F238E27FC236}">
                <a16:creationId xmlns:a16="http://schemas.microsoft.com/office/drawing/2014/main" id="{D9B805A6-37D9-0937-1A71-D0FA8055E19E}"/>
              </a:ext>
            </a:extLst>
          </p:cNvPr>
          <p:cNvPicPr>
            <a:picLocks noChangeAspect="1"/>
          </p:cNvPicPr>
          <p:nvPr/>
        </p:nvPicPr>
        <p:blipFill>
          <a:blip r:embed="rId3"/>
          <a:stretch>
            <a:fillRect/>
          </a:stretch>
        </p:blipFill>
        <p:spPr>
          <a:xfrm>
            <a:off x="17850273" y="2104417"/>
            <a:ext cx="4991655" cy="2807805"/>
          </a:xfrm>
          <a:prstGeom prst="rect">
            <a:avLst/>
          </a:prstGeom>
        </p:spPr>
      </p:pic>
    </p:spTree>
    <p:extLst>
      <p:ext uri="{BB962C8B-B14F-4D97-AF65-F5344CB8AC3E}">
        <p14:creationId xmlns:p14="http://schemas.microsoft.com/office/powerpoint/2010/main" val="944214415"/>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0"/>
            <a:ext cx="23234904" cy="1554480"/>
          </a:xfrm>
        </p:spPr>
        <p:txBody>
          <a:bodyPr wrap="square"/>
          <a:lstStyle/>
          <a:p>
            <a:r>
              <a:rPr sz="4800" b="1" dirty="0">
                <a:solidFill>
                  <a:srgbClr val="161616"/>
                </a:solidFill>
              </a:rPr>
              <a:t>The Input Is Read Straight Off the Final IR — Nothing Is Inferred</a:t>
            </a:r>
          </a:p>
        </p:txBody>
      </p:sp>
      <p:sp>
        <p:nvSpPr>
          <p:cNvPr id="3" name="TextBox 2"/>
          <p:cNvSpPr txBox="1"/>
          <p:nvPr/>
        </p:nvSpPr>
        <p:spPr>
          <a:xfrm>
            <a:off x="576072" y="2240280"/>
            <a:ext cx="23225760" cy="1005840"/>
          </a:xfrm>
          <a:prstGeom prst="rect">
            <a:avLst/>
          </a:prstGeom>
          <a:noFill/>
        </p:spPr>
        <p:txBody>
          <a:bodyPr wrap="square" anchor="t">
            <a:spAutoFit/>
          </a:bodyPr>
          <a:lstStyle/>
          <a:p>
            <a:pPr algn="l">
              <a:spcBef>
                <a:spcPts val="0"/>
              </a:spcBef>
              <a:spcAft>
                <a:spcPts val="600"/>
              </a:spcAft>
            </a:pPr>
            <a:r>
              <a:rPr sz="3200" b="0">
                <a:solidFill>
                  <a:srgbClr val="6F6F6F"/>
                </a:solidFill>
              </a:rPr>
              <a:t>The pass runs where the IR is final — layouts, tiling, work division and scratchpad placement are all settled.</a:t>
            </a:r>
          </a:p>
        </p:txBody>
      </p:sp>
      <p:sp>
        <p:nvSpPr>
          <p:cNvPr id="5" name="TextBox 4"/>
          <p:cNvSpPr txBox="1"/>
          <p:nvPr/>
        </p:nvSpPr>
        <p:spPr>
          <a:xfrm>
            <a:off x="576072" y="11430000"/>
            <a:ext cx="23225760" cy="1097280"/>
          </a:xfrm>
          <a:prstGeom prst="rect">
            <a:avLst/>
          </a:prstGeom>
          <a:noFill/>
        </p:spPr>
        <p:txBody>
          <a:bodyPr wrap="square" anchor="t">
            <a:spAutoFit/>
          </a:bodyPr>
          <a:lstStyle/>
          <a:p>
            <a:pPr algn="l">
              <a:spcBef>
                <a:spcPts val="0"/>
              </a:spcBef>
              <a:spcAft>
                <a:spcPts val="600"/>
              </a:spcAft>
            </a:pPr>
            <a:r>
              <a:rPr sz="3200" b="0">
                <a:solidFill>
                  <a:srgbClr val="161616"/>
                </a:solidFill>
              </a:rPr>
              <a:t>Residency is the field that matters most — </a:t>
            </a:r>
            <a:r>
              <a:rPr sz="3200" b="1">
                <a:solidFill>
                  <a:srgbClr val="161616"/>
                </a:solidFill>
              </a:rPr>
              <a:t>it decides whether a tensor's bytes are charged at all.</a:t>
            </a:r>
          </a:p>
        </p:txBody>
      </p:sp>
      <p:pic>
        <p:nvPicPr>
          <p:cNvPr id="6" name="Picture 5" descr="s03_extract.png"/>
          <p:cNvPicPr>
            <a:picLocks noChangeAspect="1"/>
          </p:cNvPicPr>
          <p:nvPr/>
        </p:nvPicPr>
        <p:blipFill>
          <a:blip r:embed="rId4"/>
          <a:stretch>
            <a:fillRect/>
          </a:stretch>
        </p:blipFill>
        <p:spPr>
          <a:xfrm>
            <a:off x="576072" y="3862168"/>
            <a:ext cx="23225760" cy="699750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0"/>
            <a:ext cx="23234904" cy="1554480"/>
          </a:xfrm>
        </p:spPr>
        <p:txBody>
          <a:bodyPr wrap="square"/>
          <a:lstStyle/>
          <a:p>
            <a:r>
              <a:rPr sz="4800" b="1" dirty="0">
                <a:solidFill>
                  <a:srgbClr val="161616"/>
                </a:solidFill>
              </a:rPr>
              <a:t>It Prints a per-Kernel Breakdown, in Microseconds</a:t>
            </a:r>
          </a:p>
        </p:txBody>
      </p:sp>
      <p:sp>
        <p:nvSpPr>
          <p:cNvPr id="3" name="TextBox 2"/>
          <p:cNvSpPr txBox="1"/>
          <p:nvPr/>
        </p:nvSpPr>
        <p:spPr>
          <a:xfrm>
            <a:off x="576072" y="2240280"/>
            <a:ext cx="23225760" cy="1005840"/>
          </a:xfrm>
          <a:prstGeom prst="rect">
            <a:avLst/>
          </a:prstGeom>
          <a:noFill/>
        </p:spPr>
        <p:txBody>
          <a:bodyPr wrap="square" anchor="t">
            <a:spAutoFit/>
          </a:bodyPr>
          <a:lstStyle/>
          <a:p>
            <a:pPr algn="l">
              <a:spcBef>
                <a:spcPts val="0"/>
              </a:spcBef>
              <a:spcAft>
                <a:spcPts val="600"/>
              </a:spcAft>
            </a:pPr>
            <a:r>
              <a:rPr sz="3200" b="0" dirty="0">
                <a:solidFill>
                  <a:srgbClr val="6F6F6F"/>
                </a:solidFill>
              </a:rPr>
              <a:t>Off by default; it adds nothing to a normal compile.</a:t>
            </a:r>
          </a:p>
        </p:txBody>
      </p:sp>
      <p:sp>
        <p:nvSpPr>
          <p:cNvPr id="5" name="TextBox 4"/>
          <p:cNvSpPr txBox="1"/>
          <p:nvPr/>
        </p:nvSpPr>
        <p:spPr>
          <a:xfrm>
            <a:off x="576072" y="11521440"/>
            <a:ext cx="23225760" cy="584775"/>
          </a:xfrm>
          <a:prstGeom prst="rect">
            <a:avLst/>
          </a:prstGeom>
          <a:noFill/>
        </p:spPr>
        <p:txBody>
          <a:bodyPr wrap="square" anchor="t">
            <a:spAutoFit/>
          </a:bodyPr>
          <a:lstStyle/>
          <a:p>
            <a:pPr algn="l">
              <a:spcBef>
                <a:spcPts val="0"/>
              </a:spcBef>
              <a:spcAft>
                <a:spcPts val="600"/>
              </a:spcAft>
            </a:pPr>
            <a:r>
              <a:rPr lang="en-US" sz="3200" b="0" dirty="0">
                <a:solidFill>
                  <a:srgbClr val="161616"/>
                </a:solidFill>
              </a:rPr>
              <a:t>The output is grouped by “loops”, which are formed </a:t>
            </a:r>
            <a:r>
              <a:rPr lang="en-US" sz="3200" dirty="0">
                <a:solidFill>
                  <a:srgbClr val="161616"/>
                </a:solidFill>
              </a:rPr>
              <a:t>from coarse tiling</a:t>
            </a:r>
            <a:r>
              <a:rPr sz="3200" b="1" dirty="0">
                <a:solidFill>
                  <a:srgbClr val="161616"/>
                </a:solidFill>
              </a:rPr>
              <a:t>.</a:t>
            </a:r>
          </a:p>
        </p:txBody>
      </p:sp>
      <p:pic>
        <p:nvPicPr>
          <p:cNvPr id="6" name="Picture 5" descr="s04_output.png"/>
          <p:cNvPicPr>
            <a:picLocks noChangeAspect="1"/>
          </p:cNvPicPr>
          <p:nvPr/>
        </p:nvPicPr>
        <p:blipFill>
          <a:blip r:embed="rId4"/>
          <a:stretch>
            <a:fillRect/>
          </a:stretch>
        </p:blipFill>
        <p:spPr>
          <a:xfrm>
            <a:off x="4295851" y="3566160"/>
            <a:ext cx="15786201" cy="75895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0"/>
            <a:ext cx="23234904" cy="1554480"/>
          </a:xfrm>
        </p:spPr>
        <p:txBody>
          <a:bodyPr wrap="square"/>
          <a:lstStyle/>
          <a:p>
            <a:r>
              <a:rPr sz="4800" b="1" dirty="0">
                <a:solidFill>
                  <a:srgbClr val="161616"/>
                </a:solidFill>
              </a:rPr>
              <a:t>The </a:t>
            </a:r>
            <a:r>
              <a:rPr lang="en-US" sz="4800" b="1" dirty="0">
                <a:solidFill>
                  <a:srgbClr val="161616"/>
                </a:solidFill>
              </a:rPr>
              <a:t>Performance </a:t>
            </a:r>
            <a:r>
              <a:rPr sz="4800" b="1" dirty="0">
                <a:solidFill>
                  <a:srgbClr val="161616"/>
                </a:solidFill>
              </a:rPr>
              <a:t>Estimate Is Also a Value Another Pass Can Act On</a:t>
            </a:r>
          </a:p>
        </p:txBody>
      </p:sp>
      <p:pic>
        <p:nvPicPr>
          <p:cNvPr id="3" name="Picture 2" descr="s05_api.png"/>
          <p:cNvPicPr>
            <a:picLocks noChangeAspect="1"/>
          </p:cNvPicPr>
          <p:nvPr/>
        </p:nvPicPr>
        <p:blipFill>
          <a:blip r:embed="rId3"/>
          <a:stretch>
            <a:fillRect/>
          </a:stretch>
        </p:blipFill>
        <p:spPr>
          <a:xfrm>
            <a:off x="576072" y="3171034"/>
            <a:ext cx="23225760" cy="7191052"/>
          </a:xfrm>
          <a:prstGeom prst="rect">
            <a:avLst/>
          </a:prstGeom>
        </p:spPr>
      </p:pic>
      <p:sp>
        <p:nvSpPr>
          <p:cNvPr id="4" name="TextBox 3"/>
          <p:cNvSpPr txBox="1"/>
          <p:nvPr/>
        </p:nvSpPr>
        <p:spPr>
          <a:xfrm>
            <a:off x="576072" y="11430000"/>
            <a:ext cx="23225760" cy="1188720"/>
          </a:xfrm>
          <a:prstGeom prst="rect">
            <a:avLst/>
          </a:prstGeom>
          <a:noFill/>
        </p:spPr>
        <p:txBody>
          <a:bodyPr wrap="square" anchor="t">
            <a:spAutoFit/>
          </a:bodyPr>
          <a:lstStyle/>
          <a:p>
            <a:pPr algn="l">
              <a:spcBef>
                <a:spcPts val="0"/>
              </a:spcBef>
              <a:spcAft>
                <a:spcPts val="600"/>
              </a:spcAft>
            </a:pPr>
            <a:r>
              <a:rPr sz="3200" b="0" dirty="0">
                <a:solidFill>
                  <a:srgbClr val="161616"/>
                </a:solidFill>
              </a:rPr>
              <a:t>Four candidate plans </a:t>
            </a:r>
            <a:r>
              <a:rPr sz="3200" b="1" dirty="0">
                <a:solidFill>
                  <a:srgbClr val="161616"/>
                </a:solidFill>
              </a:rPr>
              <a:t>could be priced without compiling or running any of them.</a:t>
            </a:r>
          </a:p>
        </p:txBody>
      </p:sp>
      <p:sp>
        <p:nvSpPr>
          <p:cNvPr id="6" name="TextBox 5">
            <a:extLst>
              <a:ext uri="{FF2B5EF4-FFF2-40B4-BE49-F238E27FC236}">
                <a16:creationId xmlns:a16="http://schemas.microsoft.com/office/drawing/2014/main" id="{7187035F-A532-094E-BBD5-142785DA2AFB}"/>
              </a:ext>
            </a:extLst>
          </p:cNvPr>
          <p:cNvSpPr txBox="1"/>
          <p:nvPr/>
        </p:nvSpPr>
        <p:spPr>
          <a:xfrm>
            <a:off x="698500" y="1562100"/>
            <a:ext cx="23103332" cy="769441"/>
          </a:xfrm>
          <a:prstGeom prst="rect">
            <a:avLst/>
          </a:prstGeom>
          <a:noFill/>
        </p:spPr>
        <p:txBody>
          <a:bodyPr wrap="square" anchor="t">
            <a:spAutoFit/>
          </a:bodyPr>
          <a:lstStyle/>
          <a:p>
            <a:pPr algn="l">
              <a:spcBef>
                <a:spcPts val="0"/>
              </a:spcBef>
              <a:spcAft>
                <a:spcPts val="600"/>
              </a:spcAft>
            </a:pPr>
            <a:r>
              <a:rPr lang="en-US" sz="4400" b="0" dirty="0">
                <a:solidFill>
                  <a:srgbClr val="161616"/>
                </a:solidFill>
              </a:rPr>
              <a:t>Example: LX planning</a:t>
            </a:r>
            <a:endParaRPr sz="4400" b="1" dirty="0">
              <a:solidFill>
                <a:srgbClr val="161616"/>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4572000"/>
            <a:ext cx="21031200" cy="5486400"/>
          </a:xfrm>
        </p:spPr>
        <p:txBody>
          <a:bodyPr wrap="square"/>
          <a:lstStyle/>
          <a:p>
            <a:pPr algn="l">
              <a:spcBef>
                <a:spcPts val="0"/>
              </a:spcBef>
              <a:spcAft>
                <a:spcPts val="2400"/>
              </a:spcAft>
            </a:pPr>
            <a:r>
              <a:rPr sz="4400" b="1" i="0">
                <a:solidFill>
                  <a:srgbClr val="0F62FE"/>
                </a:solidFill>
              </a:rPr>
              <a:t>PART 2</a:t>
            </a:r>
          </a:p>
          <a:p>
            <a:pPr algn="l">
              <a:spcBef>
                <a:spcPts val="0"/>
              </a:spcBef>
              <a:spcAft>
                <a:spcPts val="3000"/>
              </a:spcAft>
            </a:pPr>
            <a:r>
              <a:rPr sz="10000" b="1" i="0">
                <a:solidFill>
                  <a:srgbClr val="161616"/>
                </a:solidFill>
              </a:rPr>
              <a:t>How the model was built</a:t>
            </a:r>
          </a:p>
          <a:p>
            <a:pPr algn="l">
              <a:spcBef>
                <a:spcPts val="0"/>
              </a:spcBef>
              <a:spcAft>
                <a:spcPts val="600"/>
              </a:spcAft>
            </a:pPr>
            <a:r>
              <a:rPr sz="4000" b="0" i="0">
                <a:solidFill>
                  <a:srgbClr val="6F6F6F"/>
                </a:solidFill>
              </a:rPr>
              <a:t>Isolate one effect at a time — and explain the outliers rather than fitting them away.</a:t>
            </a:r>
          </a:p>
        </p:txBody>
      </p:sp>
      <p:sp>
        <p:nvSpPr>
          <p:cNvPr id="3" name="Rectangle 2"/>
          <p:cNvSpPr/>
          <p:nvPr/>
        </p:nvSpPr>
        <p:spPr>
          <a:xfrm>
            <a:off x="576072" y="4023360"/>
            <a:ext cx="6400800" cy="7620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0"/>
            <a:ext cx="23234904" cy="1554480"/>
          </a:xfrm>
        </p:spPr>
        <p:txBody>
          <a:bodyPr wrap="square"/>
          <a:lstStyle/>
          <a:p>
            <a:r>
              <a:rPr sz="4800" b="1">
                <a:solidFill>
                  <a:srgbClr val="161616"/>
                </a:solidFill>
              </a:rPr>
              <a:t>Every Term Is Measured Where Nothing Else Can Move</a:t>
            </a:r>
          </a:p>
        </p:txBody>
      </p:sp>
      <p:sp>
        <p:nvSpPr>
          <p:cNvPr id="3" name="TextBox 2"/>
          <p:cNvSpPr txBox="1"/>
          <p:nvPr/>
        </p:nvSpPr>
        <p:spPr>
          <a:xfrm>
            <a:off x="576072" y="2240280"/>
            <a:ext cx="23225760" cy="1005840"/>
          </a:xfrm>
          <a:prstGeom prst="rect">
            <a:avLst/>
          </a:prstGeom>
          <a:noFill/>
        </p:spPr>
        <p:txBody>
          <a:bodyPr wrap="square" anchor="t">
            <a:spAutoFit/>
          </a:bodyPr>
          <a:lstStyle/>
          <a:p>
            <a:pPr algn="l">
              <a:spcBef>
                <a:spcPts val="0"/>
              </a:spcBef>
              <a:spcAft>
                <a:spcPts val="600"/>
              </a:spcAft>
            </a:pPr>
            <a:r>
              <a:rPr sz="3200" b="0">
                <a:solidFill>
                  <a:srgbClr val="6F6F6F"/>
                </a:solidFill>
              </a:rPr>
              <a:t>Built from scratch against profiler time on the card — and every term measured where nothing else can move.</a:t>
            </a:r>
          </a:p>
        </p:txBody>
      </p:sp>
      <p:sp>
        <p:nvSpPr>
          <p:cNvPr id="5" name="TextBox 4"/>
          <p:cNvSpPr txBox="1"/>
          <p:nvPr/>
        </p:nvSpPr>
        <p:spPr>
          <a:xfrm>
            <a:off x="576072" y="11612880"/>
            <a:ext cx="23225760" cy="1097280"/>
          </a:xfrm>
          <a:prstGeom prst="rect">
            <a:avLst/>
          </a:prstGeom>
          <a:noFill/>
        </p:spPr>
        <p:txBody>
          <a:bodyPr wrap="square" anchor="t">
            <a:spAutoFit/>
          </a:bodyPr>
          <a:lstStyle/>
          <a:p>
            <a:pPr algn="l">
              <a:spcBef>
                <a:spcPts val="0"/>
              </a:spcBef>
              <a:spcAft>
                <a:spcPts val="600"/>
              </a:spcAft>
            </a:pPr>
            <a:r>
              <a:rPr sz="3200" b="0" dirty="0">
                <a:solidFill>
                  <a:srgbClr val="161616"/>
                </a:solidFill>
              </a:rPr>
              <a:t>A pointwise kernel is </a:t>
            </a:r>
            <a:r>
              <a:rPr sz="3200" b="1" dirty="0">
                <a:solidFill>
                  <a:srgbClr val="161616"/>
                </a:solidFill>
              </a:rPr>
              <a:t>purely an HBM I/O model</a:t>
            </a:r>
            <a:r>
              <a:rPr sz="3200" b="0" dirty="0">
                <a:solidFill>
                  <a:srgbClr val="161616"/>
                </a:solidFill>
              </a:rPr>
              <a:t> — which is what makes it the ruler for everything after it.</a:t>
            </a:r>
          </a:p>
        </p:txBody>
      </p:sp>
      <p:pic>
        <p:nvPicPr>
          <p:cNvPr id="6" name="Picture 5" descr="s08_isolate2.png"/>
          <p:cNvPicPr>
            <a:picLocks noChangeAspect="1"/>
          </p:cNvPicPr>
          <p:nvPr/>
        </p:nvPicPr>
        <p:blipFill>
          <a:blip r:embed="rId4"/>
          <a:stretch>
            <a:fillRect/>
          </a:stretch>
        </p:blipFill>
        <p:spPr>
          <a:xfrm>
            <a:off x="3110952" y="3063240"/>
            <a:ext cx="18156000" cy="81381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0"/>
            <a:ext cx="23234904" cy="1554480"/>
          </a:xfrm>
        </p:spPr>
        <p:txBody>
          <a:bodyPr wrap="square"/>
          <a:lstStyle/>
          <a:p>
            <a:r>
              <a:rPr sz="4800" b="1">
                <a:solidFill>
                  <a:srgbClr val="161616"/>
                </a:solidFill>
              </a:rPr>
              <a:t>Sweep Wide, Then Explain the Outliers — Never Fit Them Away</a:t>
            </a:r>
          </a:p>
        </p:txBody>
      </p:sp>
      <p:sp>
        <p:nvSpPr>
          <p:cNvPr id="3" name="TextBox 2"/>
          <p:cNvSpPr txBox="1"/>
          <p:nvPr/>
        </p:nvSpPr>
        <p:spPr>
          <a:xfrm>
            <a:off x="576072" y="2240280"/>
            <a:ext cx="23225760" cy="1005840"/>
          </a:xfrm>
          <a:prstGeom prst="rect">
            <a:avLst/>
          </a:prstGeom>
          <a:noFill/>
        </p:spPr>
        <p:txBody>
          <a:bodyPr wrap="square" anchor="t">
            <a:spAutoFit/>
          </a:bodyPr>
          <a:lstStyle/>
          <a:p>
            <a:pPr algn="l">
              <a:spcBef>
                <a:spcPts val="0"/>
              </a:spcBef>
              <a:spcAft>
                <a:spcPts val="600"/>
              </a:spcAft>
            </a:pPr>
            <a:r>
              <a:rPr sz="3200" b="0">
                <a:solidFill>
                  <a:srgbClr val="6F6F6F"/>
                </a:solidFill>
              </a:rPr>
              <a:t>A matmul slows down once each core's output tile passes 128 KB — and it is not the scratchpad filling up.</a:t>
            </a:r>
          </a:p>
        </p:txBody>
      </p:sp>
      <p:pic>
        <p:nvPicPr>
          <p:cNvPr id="4" name="Picture 3" descr="s06_spill.png"/>
          <p:cNvPicPr>
            <a:picLocks noChangeAspect="1"/>
          </p:cNvPicPr>
          <p:nvPr/>
        </p:nvPicPr>
        <p:blipFill>
          <a:blip r:embed="rId3"/>
          <a:stretch>
            <a:fillRect/>
          </a:stretch>
        </p:blipFill>
        <p:spPr>
          <a:xfrm>
            <a:off x="708120" y="3520440"/>
            <a:ext cx="14000544" cy="7863840"/>
          </a:xfrm>
          <a:prstGeom prst="rect">
            <a:avLst/>
          </a:prstGeom>
        </p:spPr>
      </p:pic>
      <p:sp>
        <p:nvSpPr>
          <p:cNvPr id="5" name="Rectangle 4"/>
          <p:cNvSpPr/>
          <p:nvPr/>
        </p:nvSpPr>
        <p:spPr>
          <a:xfrm>
            <a:off x="15544800" y="3931920"/>
            <a:ext cx="7863840" cy="3810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544800" y="4297680"/>
            <a:ext cx="8229600" cy="6858000"/>
          </a:xfrm>
          <a:prstGeom prst="rect">
            <a:avLst/>
          </a:prstGeom>
          <a:noFill/>
        </p:spPr>
        <p:txBody>
          <a:bodyPr wrap="square" anchor="t">
            <a:spAutoFit/>
          </a:bodyPr>
          <a:lstStyle/>
          <a:p>
            <a:pPr algn="l">
              <a:spcBef>
                <a:spcPts val="0"/>
              </a:spcBef>
              <a:spcAft>
                <a:spcPts val="1400"/>
              </a:spcAft>
            </a:pPr>
            <a:r>
              <a:rPr sz="4000" b="1" i="0">
                <a:solidFill>
                  <a:srgbClr val="161616"/>
                </a:solidFill>
              </a:rPr>
              <a:t>What overflows</a:t>
            </a:r>
          </a:p>
          <a:p>
            <a:pPr algn="l">
              <a:spcBef>
                <a:spcPts val="0"/>
              </a:spcBef>
              <a:spcAft>
                <a:spcPts val="1400"/>
              </a:spcAft>
            </a:pPr>
            <a:r>
              <a:rPr sz="3200" b="0">
                <a:solidFill>
                  <a:srgbClr val="6F6F6F"/>
                </a:solidFill>
              </a:rPr>
              <a:t>The array holds the running output in an </a:t>
            </a:r>
            <a:r>
              <a:rPr sz="3200" b="1">
                <a:solidFill>
                  <a:srgbClr val="161616"/>
                </a:solidFill>
              </a:rPr>
              <a:t>accumulator</a:t>
            </a:r>
            <a:r>
              <a:rPr sz="3200" b="0">
                <a:solidFill>
                  <a:srgbClr val="6F6F6F"/>
                </a:solidFill>
              </a:rPr>
              <a:t>. While the whole per-core tile fits there, each operand is streamed in once.</a:t>
            </a:r>
          </a:p>
          <a:p>
            <a:pPr algn="l">
              <a:spcBef>
                <a:spcPts val="0"/>
              </a:spcBef>
              <a:spcAft>
                <a:spcPts val="1400"/>
              </a:spcAft>
            </a:pPr>
            <a:r>
              <a:rPr sz="3200" b="0">
                <a:solidFill>
                  <a:srgbClr val="6F6F6F"/>
                </a:solidFill>
              </a:rPr>
              <a:t>128 KB is </a:t>
            </a:r>
            <a:r>
              <a:rPr sz="3200" b="1">
                <a:solidFill>
                  <a:srgbClr val="161616"/>
                </a:solidFill>
              </a:rPr>
              <a:t>65,536 fp16 elements — a 256 × 256 tile</a:t>
            </a:r>
            <a:r>
              <a:rPr sz="3200" b="0">
                <a:solidFill>
                  <a:srgbClr val="6F6F6F"/>
                </a:solidFill>
              </a:rPr>
              <a:t>. Past that the tile no longer fits, and both operands have to be streamed again for reuse.</a:t>
            </a:r>
          </a:p>
          <a:p>
            <a:pPr algn="l">
              <a:spcBef>
                <a:spcPts val="0"/>
              </a:spcBef>
              <a:spcAft>
                <a:spcPts val="600"/>
              </a:spcAft>
            </a:pPr>
            <a:r>
              <a:rPr sz="3200" b="0">
                <a:solidFill>
                  <a:srgbClr val="6F6F6F"/>
                </a:solidFill>
              </a:rPr>
              <a:t>The knee is measured, not taken from a datasheet.</a:t>
            </a:r>
          </a:p>
        </p:txBody>
      </p:sp>
      <p:sp>
        <p:nvSpPr>
          <p:cNvPr id="7" name="TextBox 6"/>
          <p:cNvSpPr txBox="1"/>
          <p:nvPr/>
        </p:nvSpPr>
        <p:spPr>
          <a:xfrm>
            <a:off x="576072" y="11612880"/>
            <a:ext cx="23225760" cy="1097280"/>
          </a:xfrm>
          <a:prstGeom prst="rect">
            <a:avLst/>
          </a:prstGeom>
          <a:noFill/>
        </p:spPr>
        <p:txBody>
          <a:bodyPr wrap="square" anchor="t">
            <a:spAutoFit/>
          </a:bodyPr>
          <a:lstStyle/>
          <a:p>
            <a:pPr algn="l">
              <a:spcBef>
                <a:spcPts val="0"/>
              </a:spcBef>
              <a:spcAft>
                <a:spcPts val="600"/>
              </a:spcAft>
            </a:pPr>
            <a:r>
              <a:rPr sz="3200" b="0">
                <a:solidFill>
                  <a:srgbClr val="161616"/>
                </a:solidFill>
              </a:rPr>
              <a:t>The threshold is measured; </a:t>
            </a:r>
            <a:r>
              <a:rPr sz="3200" b="1">
                <a:solidFill>
                  <a:srgbClr val="161616"/>
                </a:solidFill>
              </a:rPr>
              <a:t>the curve drawn over it is fitted</a:t>
            </a:r>
            <a:r>
              <a:rPr sz="3200" b="0">
                <a:solidFill>
                  <a:srgbClr val="161616"/>
                </a:solidFill>
              </a:rPr>
              <a:t> — and we keep those two apart.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0"/>
            <a:ext cx="23234904" cy="1554480"/>
          </a:xfrm>
        </p:spPr>
        <p:txBody>
          <a:bodyPr wrap="square"/>
          <a:lstStyle/>
          <a:p>
            <a:r>
              <a:rPr lang="en-US" sz="4800" b="1" dirty="0">
                <a:solidFill>
                  <a:srgbClr val="161616"/>
                </a:solidFill>
              </a:rPr>
              <a:t>Coarse </a:t>
            </a:r>
            <a:r>
              <a:rPr sz="4800" b="1" dirty="0">
                <a:solidFill>
                  <a:srgbClr val="161616"/>
                </a:solidFill>
              </a:rPr>
              <a:t>Tiling</a:t>
            </a:r>
            <a:r>
              <a:rPr lang="en-US" sz="4800" b="1" dirty="0">
                <a:solidFill>
                  <a:srgbClr val="161616"/>
                </a:solidFill>
              </a:rPr>
              <a:t>:</a:t>
            </a:r>
            <a:r>
              <a:rPr sz="4800" b="1" dirty="0">
                <a:solidFill>
                  <a:srgbClr val="161616"/>
                </a:solidFill>
              </a:rPr>
              <a:t> </a:t>
            </a:r>
            <a:r>
              <a:rPr lang="en-US" sz="4800" b="1" dirty="0">
                <a:solidFill>
                  <a:srgbClr val="161616"/>
                </a:solidFill>
              </a:rPr>
              <a:t>Special Fusion, the Model Count</a:t>
            </a:r>
            <a:r>
              <a:rPr sz="4800" b="1" dirty="0">
                <a:solidFill>
                  <a:srgbClr val="161616"/>
                </a:solidFill>
              </a:rPr>
              <a:t> How Often a Tensor Moves</a:t>
            </a:r>
          </a:p>
        </p:txBody>
      </p:sp>
      <p:pic>
        <p:nvPicPr>
          <p:cNvPr id="3" name="Picture 2" descr="s07_moves.png"/>
          <p:cNvPicPr>
            <a:picLocks noChangeAspect="1"/>
          </p:cNvPicPr>
          <p:nvPr/>
        </p:nvPicPr>
        <p:blipFill>
          <a:blip r:embed="rId3"/>
          <a:stretch>
            <a:fillRect/>
          </a:stretch>
        </p:blipFill>
        <p:spPr>
          <a:xfrm>
            <a:off x="1557970" y="3429000"/>
            <a:ext cx="21261963" cy="8321039"/>
          </a:xfrm>
          <a:prstGeom prst="rect">
            <a:avLst/>
          </a:prstGeom>
        </p:spPr>
      </p:pic>
      <p:sp>
        <p:nvSpPr>
          <p:cNvPr id="4" name="TextBox 3"/>
          <p:cNvSpPr txBox="1"/>
          <p:nvPr/>
        </p:nvSpPr>
        <p:spPr>
          <a:xfrm>
            <a:off x="576072" y="11430000"/>
            <a:ext cx="23225760" cy="1188720"/>
          </a:xfrm>
          <a:prstGeom prst="rect">
            <a:avLst/>
          </a:prstGeom>
          <a:noFill/>
        </p:spPr>
        <p:txBody>
          <a:bodyPr wrap="square" anchor="t">
            <a:spAutoFit/>
          </a:bodyPr>
          <a:lstStyle/>
          <a:p>
            <a:pPr algn="l">
              <a:spcBef>
                <a:spcPts val="0"/>
              </a:spcBef>
              <a:spcAft>
                <a:spcPts val="600"/>
              </a:spcAft>
            </a:pPr>
            <a:r>
              <a:rPr sz="3200" b="0">
                <a:solidFill>
                  <a:srgbClr val="161616"/>
                </a:solidFill>
              </a:rPr>
              <a:t>Read off the compiled loop, not fitted — </a:t>
            </a:r>
            <a:r>
              <a:rPr sz="3200" b="1">
                <a:solidFill>
                  <a:srgbClr val="161616"/>
                </a:solidFill>
              </a:rPr>
              <a:t>and it is why the loop, not the operation, is the unit we price.</a:t>
            </a:r>
          </a:p>
        </p:txBody>
      </p:sp>
      <p:sp>
        <p:nvSpPr>
          <p:cNvPr id="5" name="TextBox 4"/>
          <p:cNvSpPr txBox="1"/>
          <p:nvPr/>
        </p:nvSpPr>
        <p:spPr>
          <a:xfrm>
            <a:off x="576072" y="2194560"/>
            <a:ext cx="23225760" cy="1005840"/>
          </a:xfrm>
          <a:prstGeom prst="rect">
            <a:avLst/>
          </a:prstGeom>
          <a:noFill/>
        </p:spPr>
        <p:txBody>
          <a:bodyPr wrap="square" anchor="t">
            <a:spAutoFit/>
          </a:bodyPr>
          <a:lstStyle/>
          <a:p>
            <a:pPr algn="l">
              <a:spcBef>
                <a:spcPts val="0"/>
              </a:spcBef>
              <a:spcAft>
                <a:spcPts val="600"/>
              </a:spcAft>
            </a:pPr>
            <a:r>
              <a:rPr sz="3200" b="0">
                <a:solidFill>
                  <a:srgbClr val="6F6F6F"/>
                </a:solidFill>
              </a:rPr>
              <a:t>One matrix multiply — </a:t>
            </a:r>
            <a:r>
              <a:rPr sz="3200" b="1">
                <a:solidFill>
                  <a:srgbClr val="161616"/>
                </a:solidFill>
              </a:rPr>
              <a:t>4096×2048 by 2048×1024</a:t>
            </a:r>
            <a:r>
              <a:rPr sz="3200" b="0">
                <a:solidFill>
                  <a:srgbClr val="6F6F6F"/>
                </a:solidFill>
              </a:rPr>
              <a:t> — with its output rows split into four tiles.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4572000"/>
            <a:ext cx="21031200" cy="5486400"/>
          </a:xfrm>
        </p:spPr>
        <p:txBody>
          <a:bodyPr wrap="square"/>
          <a:lstStyle/>
          <a:p>
            <a:pPr algn="l">
              <a:spcBef>
                <a:spcPts val="0"/>
              </a:spcBef>
              <a:spcAft>
                <a:spcPts val="2400"/>
              </a:spcAft>
            </a:pPr>
            <a:r>
              <a:rPr sz="4400" b="1" i="0">
                <a:solidFill>
                  <a:srgbClr val="0F62FE"/>
                </a:solidFill>
              </a:rPr>
              <a:t>PART 3</a:t>
            </a:r>
          </a:p>
          <a:p>
            <a:pPr algn="l">
              <a:spcBef>
                <a:spcPts val="0"/>
              </a:spcBef>
              <a:spcAft>
                <a:spcPts val="3000"/>
              </a:spcAft>
            </a:pPr>
            <a:r>
              <a:rPr sz="10000" b="1" i="0">
                <a:solidFill>
                  <a:srgbClr val="161616"/>
                </a:solidFill>
              </a:rPr>
              <a:t>Two things the card taught us</a:t>
            </a:r>
          </a:p>
          <a:p>
            <a:pPr algn="l">
              <a:spcBef>
                <a:spcPts val="0"/>
              </a:spcBef>
              <a:spcAft>
                <a:spcPts val="600"/>
              </a:spcAft>
            </a:pPr>
            <a:r>
              <a:rPr sz="4000" b="0" i="0">
                <a:solidFill>
                  <a:srgbClr val="6F6F6F"/>
                </a:solidFill>
              </a:rPr>
              <a:t>Two effects larger than the model's own error, and neither is in any pass today.</a:t>
            </a:r>
          </a:p>
        </p:txBody>
      </p:sp>
      <p:sp>
        <p:nvSpPr>
          <p:cNvPr id="3" name="Rectangle 2"/>
          <p:cNvSpPr/>
          <p:nvPr/>
        </p:nvSpPr>
        <p:spPr>
          <a:xfrm>
            <a:off x="576072" y="4023360"/>
            <a:ext cx="6400800" cy="7620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0"/>
            <a:ext cx="23234904" cy="1554480"/>
          </a:xfrm>
        </p:spPr>
        <p:txBody>
          <a:bodyPr wrap="square"/>
          <a:lstStyle/>
          <a:p>
            <a:r>
              <a:rPr sz="4800" b="1">
                <a:solidFill>
                  <a:srgbClr val="161616"/>
                </a:solidFill>
              </a:rPr>
              <a:t>The Same Bytes Move Faster When They All Move the Same Way</a:t>
            </a:r>
          </a:p>
        </p:txBody>
      </p:sp>
      <p:pic>
        <p:nvPicPr>
          <p:cNvPr id="3" name="Picture 2" descr="s08_read_write.png"/>
          <p:cNvPicPr>
            <a:picLocks noChangeAspect="1"/>
          </p:cNvPicPr>
          <p:nvPr/>
        </p:nvPicPr>
        <p:blipFill>
          <a:blip r:embed="rId3"/>
          <a:stretch>
            <a:fillRect/>
          </a:stretch>
        </p:blipFill>
        <p:spPr>
          <a:xfrm>
            <a:off x="881847" y="2514600"/>
            <a:ext cx="13470209" cy="8503920"/>
          </a:xfrm>
          <a:prstGeom prst="rect">
            <a:avLst/>
          </a:prstGeom>
        </p:spPr>
      </p:pic>
      <p:sp>
        <p:nvSpPr>
          <p:cNvPr id="4" name="Rectangle 3"/>
          <p:cNvSpPr/>
          <p:nvPr/>
        </p:nvSpPr>
        <p:spPr>
          <a:xfrm>
            <a:off x="15453359" y="3200400"/>
            <a:ext cx="7955279" cy="3810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5453359" y="3611880"/>
            <a:ext cx="8321040" cy="7498079"/>
          </a:xfrm>
          <a:prstGeom prst="rect">
            <a:avLst/>
          </a:prstGeom>
          <a:noFill/>
        </p:spPr>
        <p:txBody>
          <a:bodyPr wrap="square" anchor="t">
            <a:spAutoFit/>
          </a:bodyPr>
          <a:lstStyle/>
          <a:p>
            <a:pPr algn="l">
              <a:spcBef>
                <a:spcPts val="0"/>
              </a:spcBef>
              <a:spcAft>
                <a:spcPts val="1400"/>
              </a:spcAft>
            </a:pPr>
            <a:r>
              <a:rPr sz="4000" b="1" i="0">
                <a:solidFill>
                  <a:srgbClr val="161616"/>
                </a:solidFill>
              </a:rPr>
              <a:t>Why</a:t>
            </a:r>
          </a:p>
          <a:p>
            <a:pPr algn="l">
              <a:spcBef>
                <a:spcPts val="0"/>
              </a:spcBef>
              <a:spcAft>
                <a:spcPts val="1600"/>
              </a:spcAft>
            </a:pPr>
            <a:r>
              <a:rPr sz="3200" b="0">
                <a:solidFill>
                  <a:srgbClr val="6F6F6F"/>
                </a:solidFill>
              </a:rPr>
              <a:t>HBM is a shared bus, and it pays a </a:t>
            </a:r>
            <a:r>
              <a:rPr sz="3200" b="1">
                <a:solidFill>
                  <a:srgbClr val="161616"/>
                </a:solidFill>
              </a:rPr>
              <a:t>turnaround</a:t>
            </a:r>
            <a:r>
              <a:rPr sz="3200" b="0">
                <a:solidFill>
                  <a:srgbClr val="6F6F6F"/>
                </a:solidFill>
              </a:rPr>
              <a:t> cost every time it switches direction.</a:t>
            </a:r>
          </a:p>
          <a:p>
            <a:pPr algn="l">
              <a:spcBef>
                <a:spcPts val="0"/>
              </a:spcBef>
              <a:spcAft>
                <a:spcPts val="1600"/>
              </a:spcAft>
            </a:pPr>
            <a:r>
              <a:rPr sz="3200" b="0">
                <a:solidFill>
                  <a:srgbClr val="6F6F6F"/>
                </a:solidFill>
              </a:rPr>
              <a:t>So the penalty falls on </a:t>
            </a:r>
            <a:r>
              <a:rPr sz="3200" b="1">
                <a:solidFill>
                  <a:srgbClr val="161616"/>
                </a:solidFill>
              </a:rPr>
              <a:t>min(R, W)</a:t>
            </a:r>
            <a:r>
              <a:rPr sz="3200" b="0">
                <a:solidFill>
                  <a:srgbClr val="6F6F6F"/>
                </a:solidFill>
              </a:rPr>
              <a:t> — zero when traffic runs one way, largest when it is balanced.</a:t>
            </a:r>
          </a:p>
          <a:p>
            <a:pPr algn="l">
              <a:spcBef>
                <a:spcPts val="0"/>
              </a:spcBef>
              <a:spcAft>
                <a:spcPts val="600"/>
              </a:spcAft>
            </a:pPr>
            <a:r>
              <a:rPr sz="3200" b="0">
                <a:solidFill>
                  <a:srgbClr val="6F6F6F"/>
                </a:solidFill>
              </a:rPr>
              <a:t>Both ends of the valley reach the same height, so reads and writes share one rate.</a:t>
            </a:r>
          </a:p>
        </p:txBody>
      </p:sp>
      <p:sp>
        <p:nvSpPr>
          <p:cNvPr id="6" name="TextBox 5"/>
          <p:cNvSpPr txBox="1"/>
          <p:nvPr/>
        </p:nvSpPr>
        <p:spPr>
          <a:xfrm>
            <a:off x="576072" y="11612880"/>
            <a:ext cx="23225760" cy="1097280"/>
          </a:xfrm>
          <a:prstGeom prst="rect">
            <a:avLst/>
          </a:prstGeom>
          <a:noFill/>
        </p:spPr>
        <p:txBody>
          <a:bodyPr wrap="square" anchor="t">
            <a:spAutoFit/>
          </a:bodyPr>
          <a:lstStyle/>
          <a:p>
            <a:pPr algn="l">
              <a:spcBef>
                <a:spcPts val="0"/>
              </a:spcBef>
              <a:spcAft>
                <a:spcPts val="600"/>
              </a:spcAft>
            </a:pPr>
            <a:r>
              <a:rPr sz="3200" b="0">
                <a:solidFill>
                  <a:srgbClr val="161616"/>
                </a:solidFill>
              </a:rPr>
              <a:t>A single bandwidth constant would have been wrong by </a:t>
            </a:r>
            <a:r>
              <a:rPr sz="3200" b="1">
                <a:solidFill>
                  <a:srgbClr val="161616"/>
                </a:solidFill>
              </a:rPr>
              <a:t>40 % </a:t>
            </a:r>
            <a:r>
              <a:rPr sz="3200" b="0">
                <a:solidFill>
                  <a:srgbClr val="161616"/>
                </a:solidFill>
              </a:rPr>
              <a:t>across this sweep alone.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0"/>
            <a:ext cx="23234904" cy="1554480"/>
          </a:xfrm>
        </p:spPr>
        <p:txBody>
          <a:bodyPr wrap="square"/>
          <a:lstStyle/>
          <a:p>
            <a:r>
              <a:rPr sz="4800" b="1">
                <a:solidFill>
                  <a:srgbClr val="161616"/>
                </a:solidFill>
              </a:rPr>
              <a:t>A Batched Multiply Runs 8x Slower Purely Because of Operand Layout</a:t>
            </a:r>
          </a:p>
        </p:txBody>
      </p:sp>
      <p:sp>
        <p:nvSpPr>
          <p:cNvPr id="3" name="TextBox 2"/>
          <p:cNvSpPr txBox="1"/>
          <p:nvPr/>
        </p:nvSpPr>
        <p:spPr>
          <a:xfrm>
            <a:off x="576072" y="2240280"/>
            <a:ext cx="23225760" cy="1005840"/>
          </a:xfrm>
          <a:prstGeom prst="rect">
            <a:avLst/>
          </a:prstGeom>
          <a:noFill/>
        </p:spPr>
        <p:txBody>
          <a:bodyPr wrap="square" anchor="t">
            <a:spAutoFit/>
          </a:bodyPr>
          <a:lstStyle/>
          <a:p>
            <a:pPr algn="l">
              <a:spcBef>
                <a:spcPts val="0"/>
              </a:spcBef>
              <a:spcAft>
                <a:spcPts val="600"/>
              </a:spcAft>
            </a:pPr>
            <a:r>
              <a:rPr sz="3200" b="0">
                <a:solidFill>
                  <a:srgbClr val="6F6F6F"/>
                </a:solidFill>
              </a:rPr>
              <a:t>torch.bmm(A, B) → C. Each operand is stored either </a:t>
            </a:r>
            <a:r>
              <a:rPr sz="3200" b="1">
                <a:solidFill>
                  <a:srgbClr val="161616"/>
                </a:solidFill>
              </a:rPr>
              <a:t>row-outer</a:t>
            </a:r>
            <a:r>
              <a:rPr sz="3200" b="0">
                <a:solidFill>
                  <a:srgbClr val="6F6F6F"/>
                </a:solidFill>
              </a:rPr>
              <a:t> — the compiler's default — or </a:t>
            </a:r>
            <a:r>
              <a:rPr sz="3200" b="1">
                <a:solidFill>
                  <a:srgbClr val="161616"/>
                </a:solidFill>
              </a:rPr>
              <a:t>batch-outer</a:t>
            </a:r>
            <a:r>
              <a:rPr sz="3200" b="0">
                <a:solidFill>
                  <a:srgbClr val="6F6F6F"/>
                </a:solidFill>
              </a:rPr>
              <a:t>. Same bytes, same arithmetic, no re-layout copy.</a:t>
            </a:r>
          </a:p>
        </p:txBody>
      </p:sp>
      <p:sp>
        <p:nvSpPr>
          <p:cNvPr id="5" name="Rectangle 4"/>
          <p:cNvSpPr/>
          <p:nvPr/>
        </p:nvSpPr>
        <p:spPr>
          <a:xfrm>
            <a:off x="15727680" y="4023360"/>
            <a:ext cx="7680960" cy="3810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727680" y="4434840"/>
            <a:ext cx="8138160" cy="6949440"/>
          </a:xfrm>
          <a:prstGeom prst="rect">
            <a:avLst/>
          </a:prstGeom>
          <a:noFill/>
        </p:spPr>
        <p:txBody>
          <a:bodyPr wrap="square" anchor="t">
            <a:spAutoFit/>
          </a:bodyPr>
          <a:lstStyle/>
          <a:p>
            <a:pPr algn="l">
              <a:spcBef>
                <a:spcPts val="0"/>
              </a:spcBef>
              <a:spcAft>
                <a:spcPts val="1400"/>
              </a:spcAft>
            </a:pPr>
            <a:r>
              <a:rPr sz="4000" b="1" i="0">
                <a:solidFill>
                  <a:srgbClr val="161616"/>
                </a:solidFill>
              </a:rPr>
              <a:t>Why</a:t>
            </a:r>
          </a:p>
          <a:p>
            <a:pPr algn="l">
              <a:spcBef>
                <a:spcPts val="0"/>
              </a:spcBef>
              <a:spcAft>
                <a:spcPts val="1600"/>
              </a:spcAft>
            </a:pPr>
            <a:r>
              <a:rPr sz="3200" b="0">
                <a:solidFill>
                  <a:srgbClr val="6F6F6F"/>
                </a:solidFill>
              </a:rPr>
              <a:t>It is </a:t>
            </a:r>
            <a:r>
              <a:rPr sz="3200" b="1">
                <a:solidFill>
                  <a:srgbClr val="161616"/>
                </a:solidFill>
              </a:rPr>
              <a:t>arithmetic, not memory</a:t>
            </a:r>
            <a:r>
              <a:rPr sz="3200" b="0">
                <a:solidFill>
                  <a:srgbClr val="6F6F6F"/>
                </a:solidFill>
              </a:rPr>
              <a:t>: time per multiply is flat across the whole default group, so a traffic explanation is ruled out.</a:t>
            </a:r>
          </a:p>
          <a:p>
            <a:pPr algn="l">
              <a:spcBef>
                <a:spcPts val="0"/>
              </a:spcBef>
              <a:spcAft>
                <a:spcPts val="600"/>
              </a:spcAft>
            </a:pPr>
            <a:r>
              <a:rPr sz="3200" b="0">
                <a:solidFill>
                  <a:srgbClr val="6F6F6F"/>
                </a:solidFill>
              </a:rPr>
              <a:t>The default order walks the batch on the inside, so consecutive batches share no operand locality and </a:t>
            </a:r>
            <a:r>
              <a:rPr sz="3200" b="1">
                <a:solidFill>
                  <a:srgbClr val="161616"/>
                </a:solidFill>
              </a:rPr>
              <a:t>the array is starved.</a:t>
            </a:r>
          </a:p>
        </p:txBody>
      </p:sp>
      <p:sp>
        <p:nvSpPr>
          <p:cNvPr id="7" name="TextBox 6"/>
          <p:cNvSpPr txBox="1"/>
          <p:nvPr/>
        </p:nvSpPr>
        <p:spPr>
          <a:xfrm>
            <a:off x="576072" y="11612880"/>
            <a:ext cx="23225760" cy="1097280"/>
          </a:xfrm>
          <a:prstGeom prst="rect">
            <a:avLst/>
          </a:prstGeom>
          <a:noFill/>
        </p:spPr>
        <p:txBody>
          <a:bodyPr wrap="square" anchor="t">
            <a:spAutoFit/>
          </a:bodyPr>
          <a:lstStyle/>
          <a:p>
            <a:pPr algn="l">
              <a:spcBef>
                <a:spcPts val="0"/>
              </a:spcBef>
              <a:spcAft>
                <a:spcPts val="600"/>
              </a:spcAft>
            </a:pPr>
            <a:r>
              <a:rPr sz="3200" b="0">
                <a:solidFill>
                  <a:srgbClr val="161616"/>
                </a:solidFill>
              </a:rPr>
              <a:t>Converting one input buys 1.7x; converting both buys 4.9x — </a:t>
            </a:r>
            <a:r>
              <a:rPr sz="3200" b="1">
                <a:solidFill>
                  <a:srgbClr val="161616"/>
                </a:solidFill>
              </a:rPr>
              <a:t>a partial rollout captures far less than half.</a:t>
            </a:r>
          </a:p>
        </p:txBody>
      </p:sp>
      <p:pic>
        <p:nvPicPr>
          <p:cNvPr id="8" name="Picture 7" descr="s09_layout.png"/>
          <p:cNvPicPr>
            <a:picLocks noChangeAspect="1"/>
          </p:cNvPicPr>
          <p:nvPr/>
        </p:nvPicPr>
        <p:blipFill>
          <a:blip r:embed="rId4"/>
          <a:stretch>
            <a:fillRect/>
          </a:stretch>
        </p:blipFill>
        <p:spPr>
          <a:xfrm>
            <a:off x="576072" y="4609661"/>
            <a:ext cx="14538960" cy="550251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4572000"/>
            <a:ext cx="21031200" cy="5486400"/>
          </a:xfrm>
        </p:spPr>
        <p:txBody>
          <a:bodyPr wrap="square"/>
          <a:lstStyle/>
          <a:p>
            <a:pPr algn="l">
              <a:spcBef>
                <a:spcPts val="0"/>
              </a:spcBef>
              <a:spcAft>
                <a:spcPts val="2400"/>
              </a:spcAft>
            </a:pPr>
            <a:r>
              <a:rPr sz="4400" b="1" i="0">
                <a:solidFill>
                  <a:srgbClr val="0F62FE"/>
                </a:solidFill>
              </a:rPr>
              <a:t>PART 4</a:t>
            </a:r>
          </a:p>
          <a:p>
            <a:pPr algn="l">
              <a:spcBef>
                <a:spcPts val="0"/>
              </a:spcBef>
              <a:spcAft>
                <a:spcPts val="3000"/>
              </a:spcAft>
            </a:pPr>
            <a:r>
              <a:rPr sz="10000" b="1" i="0">
                <a:solidFill>
                  <a:srgbClr val="161616"/>
                </a:solidFill>
              </a:rPr>
              <a:t>Does it hold up?</a:t>
            </a:r>
          </a:p>
          <a:p>
            <a:pPr algn="l">
              <a:spcBef>
                <a:spcPts val="0"/>
              </a:spcBef>
              <a:spcAft>
                <a:spcPts val="600"/>
              </a:spcAft>
            </a:pPr>
            <a:r>
              <a:rPr sz="4000" b="0" i="0">
                <a:solidFill>
                  <a:srgbClr val="6F6F6F"/>
                </a:solidFill>
              </a:rPr>
              <a:t>Accuracy by operation class, then a real allocation decision.</a:t>
            </a:r>
          </a:p>
        </p:txBody>
      </p:sp>
      <p:sp>
        <p:nvSpPr>
          <p:cNvPr id="3" name="Rectangle 2"/>
          <p:cNvSpPr/>
          <p:nvPr/>
        </p:nvSpPr>
        <p:spPr>
          <a:xfrm>
            <a:off x="576072" y="4023360"/>
            <a:ext cx="6400800" cy="7620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0"/>
            <a:ext cx="23234904" cy="1554480"/>
          </a:xfrm>
        </p:spPr>
        <p:txBody>
          <a:bodyPr wrap="square"/>
          <a:lstStyle/>
          <a:p>
            <a:r>
              <a:rPr sz="4800" b="1">
                <a:solidFill>
                  <a:srgbClr val="161616"/>
                </a:solidFill>
              </a:rPr>
              <a:t>Memory-Bound Ops Land Inside 10 %; Matmul Is Low but Ordered</a:t>
            </a:r>
          </a:p>
        </p:txBody>
      </p:sp>
      <p:pic>
        <p:nvPicPr>
          <p:cNvPr id="3" name="Picture 2" descr="s11_accuracy.png"/>
          <p:cNvPicPr>
            <a:picLocks noChangeAspect="1"/>
          </p:cNvPicPr>
          <p:nvPr/>
        </p:nvPicPr>
        <p:blipFill>
          <a:blip r:embed="rId3"/>
          <a:stretch>
            <a:fillRect/>
          </a:stretch>
        </p:blipFill>
        <p:spPr>
          <a:xfrm>
            <a:off x="1579054" y="2377440"/>
            <a:ext cx="21219795" cy="8595360"/>
          </a:xfrm>
          <a:prstGeom prst="rect">
            <a:avLst/>
          </a:prstGeom>
        </p:spPr>
      </p:pic>
      <p:sp>
        <p:nvSpPr>
          <p:cNvPr id="4" name="TextBox 3"/>
          <p:cNvSpPr txBox="1"/>
          <p:nvPr/>
        </p:nvSpPr>
        <p:spPr>
          <a:xfrm>
            <a:off x="576072" y="11292840"/>
            <a:ext cx="23225760" cy="1280160"/>
          </a:xfrm>
          <a:prstGeom prst="rect">
            <a:avLst/>
          </a:prstGeom>
          <a:noFill/>
        </p:spPr>
        <p:txBody>
          <a:bodyPr wrap="square" anchor="t">
            <a:spAutoFit/>
          </a:bodyPr>
          <a:lstStyle/>
          <a:p>
            <a:pPr algn="l">
              <a:spcBef>
                <a:spcPts val="0"/>
              </a:spcBef>
              <a:spcAft>
                <a:spcPts val="600"/>
              </a:spcAft>
            </a:pPr>
            <a:r>
              <a:rPr sz="3200" b="0">
                <a:solidFill>
                  <a:srgbClr val="161616"/>
                </a:solidFill>
              </a:rPr>
              <a:t>The matmul error is a </a:t>
            </a:r>
            <a:r>
              <a:rPr sz="3200" b="1">
                <a:solidFill>
                  <a:srgbClr val="161616"/>
                </a:solidFill>
              </a:rPr>
              <a:t>one-sided offset, not scatter</a:t>
            </a:r>
            <a:r>
              <a:rPr sz="3200" b="0">
                <a:solidFill>
                  <a:srgbClr val="161616"/>
                </a:solidFill>
              </a:rPr>
              <a:t> — we charge max(compute, memory) and nothing charges for the part of the shorter stream that fails to hide.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0"/>
            <a:ext cx="23234904" cy="1554480"/>
          </a:xfrm>
        </p:spPr>
        <p:txBody>
          <a:bodyPr wrap="square"/>
          <a:lstStyle/>
          <a:p>
            <a:r>
              <a:rPr sz="4800" b="1">
                <a:solidFill>
                  <a:srgbClr val="161616"/>
                </a:solidFill>
              </a:rPr>
              <a:t>Across All 30 Flash-Attention Configurations, the Ordering Holds</a:t>
            </a:r>
          </a:p>
        </p:txBody>
      </p:sp>
      <p:sp>
        <p:nvSpPr>
          <p:cNvPr id="4" name="Rectangle 3"/>
          <p:cNvSpPr/>
          <p:nvPr/>
        </p:nvSpPr>
        <p:spPr>
          <a:xfrm>
            <a:off x="14813280" y="3291840"/>
            <a:ext cx="8595360" cy="3810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4813280" y="3703320"/>
            <a:ext cx="8778240" cy="7680960"/>
          </a:xfrm>
          <a:prstGeom prst="rect">
            <a:avLst/>
          </a:prstGeom>
          <a:noFill/>
        </p:spPr>
        <p:txBody>
          <a:bodyPr wrap="square" anchor="t">
            <a:spAutoFit/>
          </a:bodyPr>
          <a:lstStyle/>
          <a:p>
            <a:pPr algn="l">
              <a:spcBef>
                <a:spcPts val="0"/>
              </a:spcBef>
              <a:spcAft>
                <a:spcPts val="1400"/>
              </a:spcAft>
            </a:pPr>
            <a:r>
              <a:rPr sz="4000" b="1" i="0">
                <a:solidFill>
                  <a:srgbClr val="161616"/>
                </a:solidFill>
              </a:rPr>
              <a:t>What this is</a:t>
            </a:r>
          </a:p>
          <a:p>
            <a:pPr algn="l">
              <a:spcBef>
                <a:spcPts val="0"/>
              </a:spcBef>
              <a:spcAft>
                <a:spcPts val="1400"/>
              </a:spcAft>
            </a:pPr>
            <a:r>
              <a:rPr sz="3200" b="0">
                <a:solidFill>
                  <a:srgbClr val="6F6F6F"/>
                </a:solidFill>
              </a:rPr>
              <a:t>Flash attention is the one workload the model does </a:t>
            </a:r>
            <a:r>
              <a:rPr sz="3200" b="1">
                <a:solidFill>
                  <a:srgbClr val="161616"/>
                </a:solidFill>
              </a:rPr>
              <a:t>not</a:t>
            </a:r>
            <a:r>
              <a:rPr sz="3200" b="0">
                <a:solidFill>
                  <a:srgbClr val="6F6F6F"/>
                </a:solidFill>
              </a:rPr>
              <a:t> have a fitted term for — it is priced from its parts.</a:t>
            </a:r>
          </a:p>
          <a:p>
            <a:pPr algn="l">
              <a:spcBef>
                <a:spcPts val="0"/>
              </a:spcBef>
              <a:spcAft>
                <a:spcPts val="1400"/>
              </a:spcAft>
            </a:pPr>
            <a:r>
              <a:rPr sz="3200" b="0">
                <a:solidFill>
                  <a:srgbClr val="6F6F6F"/>
                </a:solidFill>
              </a:rPr>
              <a:t>Absolute times run low. But every series rises monotonically, so </a:t>
            </a:r>
            <a:r>
              <a:rPr sz="3200" b="1">
                <a:solidFill>
                  <a:srgbClr val="161616"/>
                </a:solidFill>
              </a:rPr>
              <a:t>a planner comparing two configurations gets the right answer.</a:t>
            </a:r>
          </a:p>
          <a:p>
            <a:pPr algn="l">
              <a:spcBef>
                <a:spcPts val="0"/>
              </a:spcBef>
              <a:spcAft>
                <a:spcPts val="600"/>
              </a:spcAft>
            </a:pPr>
            <a:r>
              <a:rPr sz="3200" b="0">
                <a:solidFill>
                  <a:srgbClr val="6F6F6F"/>
                </a:solidFill>
              </a:rPr>
              <a:t>The three series are never compared against each other: the coarse-tiled runs are from an older compiler build.</a:t>
            </a:r>
          </a:p>
        </p:txBody>
      </p:sp>
      <p:sp>
        <p:nvSpPr>
          <p:cNvPr id="6" name="TextBox 5"/>
          <p:cNvSpPr txBox="1"/>
          <p:nvPr/>
        </p:nvSpPr>
        <p:spPr>
          <a:xfrm>
            <a:off x="576072" y="2103120"/>
            <a:ext cx="23225760" cy="822960"/>
          </a:xfrm>
          <a:prstGeom prst="rect">
            <a:avLst/>
          </a:prstGeom>
          <a:noFill/>
        </p:spPr>
        <p:txBody>
          <a:bodyPr wrap="square" anchor="t">
            <a:spAutoFit/>
          </a:bodyPr>
          <a:lstStyle/>
          <a:p>
            <a:pPr algn="l">
              <a:spcBef>
                <a:spcPts val="0"/>
              </a:spcBef>
              <a:spcAft>
                <a:spcPts val="600"/>
              </a:spcAft>
            </a:pPr>
            <a:r>
              <a:rPr sz="2800" b="0">
                <a:solidFill>
                  <a:srgbClr val="6F6F6F"/>
                </a:solidFill>
              </a:rPr>
              <a:t>Head dim 128 and Lq = Lk throughout; batch 1 except four points at batch 2. Only heads, sequence length, core count and tiling vary.</a:t>
            </a:r>
          </a:p>
        </p:txBody>
      </p:sp>
      <p:pic>
        <p:nvPicPr>
          <p:cNvPr id="7" name="Picture 6" descr="s12_configs.png"/>
          <p:cNvPicPr>
            <a:picLocks noChangeAspect="1"/>
          </p:cNvPicPr>
          <p:nvPr/>
        </p:nvPicPr>
        <p:blipFill>
          <a:blip r:embed="rId4"/>
          <a:stretch>
            <a:fillRect/>
          </a:stretch>
        </p:blipFill>
        <p:spPr>
          <a:xfrm>
            <a:off x="576072" y="2940850"/>
            <a:ext cx="13716000" cy="801717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0"/>
            <a:ext cx="23234904" cy="1554480"/>
          </a:xfrm>
        </p:spPr>
        <p:txBody>
          <a:bodyPr wrap="square"/>
          <a:lstStyle/>
          <a:p>
            <a:r>
              <a:rPr sz="4800" b="1">
                <a:solidFill>
                  <a:srgbClr val="161616"/>
                </a:solidFill>
              </a:rPr>
              <a:t>Four Shipped Policies, Disagreeing in Two Different Ways</a:t>
            </a:r>
          </a:p>
        </p:txBody>
      </p:sp>
      <p:sp>
        <p:nvSpPr>
          <p:cNvPr id="3" name="TextBox 2"/>
          <p:cNvSpPr txBox="1"/>
          <p:nvPr/>
        </p:nvSpPr>
        <p:spPr>
          <a:xfrm>
            <a:off x="576072" y="2240280"/>
            <a:ext cx="23225760" cy="1005840"/>
          </a:xfrm>
          <a:prstGeom prst="rect">
            <a:avLst/>
          </a:prstGeom>
          <a:noFill/>
        </p:spPr>
        <p:txBody>
          <a:bodyPr wrap="square" anchor="t">
            <a:spAutoFit/>
          </a:bodyPr>
          <a:lstStyle/>
          <a:p>
            <a:pPr algn="l">
              <a:spcBef>
                <a:spcPts val="0"/>
              </a:spcBef>
              <a:spcAft>
                <a:spcPts val="600"/>
              </a:spcAft>
            </a:pPr>
            <a:r>
              <a:rPr sz="2800" b="0">
                <a:solidFill>
                  <a:srgbClr val="6F6F6F"/>
                </a:solidFill>
              </a:rPr>
              <a:t>Flash attention, </a:t>
            </a:r>
            <a:r>
              <a:rPr sz="2800" b="1">
                <a:solidFill>
                  <a:srgbClr val="161616"/>
                </a:solidFill>
              </a:rPr>
              <a:t>8 heads · Lq = Lk = 512 · head dim 128 · batch 1 · 8 cores</a:t>
            </a:r>
            <a:r>
              <a:rPr sz="2800" b="0">
                <a:solidFill>
                  <a:srgbClr val="6F6F6F"/>
                </a:solidFill>
              </a:rPr>
              <a:t>. One compile per policy, driven by the real solver — residency and time from the same run.</a:t>
            </a:r>
          </a:p>
        </p:txBody>
      </p:sp>
      <p:sp>
        <p:nvSpPr>
          <p:cNvPr id="5" name="Rectangle 4"/>
          <p:cNvSpPr/>
          <p:nvPr/>
        </p:nvSpPr>
        <p:spPr>
          <a:xfrm>
            <a:off x="16093440" y="3931920"/>
            <a:ext cx="7680960" cy="3810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4904720" y="8138160"/>
            <a:ext cx="8869680" cy="3291840"/>
          </a:xfrm>
          <a:prstGeom prst="rect">
            <a:avLst/>
          </a:prstGeom>
          <a:noFill/>
        </p:spPr>
        <p:txBody>
          <a:bodyPr wrap="square" anchor="t">
            <a:spAutoFit/>
          </a:bodyPr>
          <a:lstStyle/>
          <a:p>
            <a:pPr algn="l">
              <a:spcBef>
                <a:spcPts val="0"/>
              </a:spcBef>
              <a:spcAft>
                <a:spcPts val="1200"/>
              </a:spcAft>
            </a:pPr>
            <a:r>
              <a:rPr sz="4000" b="1" i="0">
                <a:solidFill>
                  <a:srgbClr val="161616"/>
                </a:solidFill>
              </a:rPr>
              <a:t>Two disagreements</a:t>
            </a:r>
          </a:p>
          <a:p>
            <a:pPr algn="l">
              <a:spcBef>
                <a:spcPts val="0"/>
              </a:spcBef>
              <a:spcAft>
                <a:spcPts val="1200"/>
              </a:spcAft>
            </a:pPr>
            <a:r>
              <a:rPr sz="2900" b="0">
                <a:solidFill>
                  <a:srgbClr val="6F6F6F"/>
                </a:solidFill>
              </a:rPr>
              <a:t>greedy and cpsat keep the </a:t>
            </a:r>
            <a:r>
              <a:rPr sz="2900" b="1">
                <a:solidFill>
                  <a:srgbClr val="161616"/>
                </a:solidFill>
              </a:rPr>
              <a:t>same 12</a:t>
            </a:r>
            <a:r>
              <a:rPr sz="2900" b="0">
                <a:solidFill>
                  <a:srgbClr val="6F6F6F"/>
                </a:solidFill>
              </a:rPr>
              <a:t> and simply trade one buffer for another — 481.7 against 480.3 µs, inside run-to-run spread.</a:t>
            </a:r>
          </a:p>
          <a:p>
            <a:pPr algn="l">
              <a:spcBef>
                <a:spcPts val="0"/>
              </a:spcBef>
              <a:spcAft>
                <a:spcPts val="600"/>
              </a:spcAft>
            </a:pPr>
            <a:r>
              <a:rPr sz="2900" b="0">
                <a:solidFill>
                  <a:srgbClr val="6F6F6F"/>
                </a:solidFill>
              </a:rPr>
              <a:t>firstfit and bestfit drop a third buffer as well, keep </a:t>
            </a:r>
            <a:r>
              <a:rPr sz="2900" b="1">
                <a:solidFill>
                  <a:srgbClr val="161616"/>
                </a:solidFill>
              </a:rPr>
              <a:t>11</a:t>
            </a:r>
            <a:r>
              <a:rPr sz="2900" b="0">
                <a:solidFill>
                  <a:srgbClr val="6F6F6F"/>
                </a:solidFill>
              </a:rPr>
              <a:t>, and take 596.6 µs — </a:t>
            </a:r>
            <a:r>
              <a:rPr sz="2900" b="1">
                <a:solidFill>
                  <a:srgbClr val="161616"/>
                </a:solidFill>
              </a:rPr>
              <a:t>1.24×</a:t>
            </a:r>
            <a:r>
              <a:rPr sz="2900" b="0">
                <a:solidFill>
                  <a:srgbClr val="6F6F6F"/>
                </a:solidFill>
              </a:rPr>
              <a:t>. On wider shapes the same choice reaches 2.2×.</a:t>
            </a:r>
          </a:p>
        </p:txBody>
      </p:sp>
      <p:pic>
        <p:nvPicPr>
          <p:cNvPr id="7" name="Picture 6" descr="s13_lifetime.png"/>
          <p:cNvPicPr>
            <a:picLocks noChangeAspect="1"/>
          </p:cNvPicPr>
          <p:nvPr/>
        </p:nvPicPr>
        <p:blipFill>
          <a:blip r:embed="rId4"/>
          <a:stretch>
            <a:fillRect/>
          </a:stretch>
        </p:blipFill>
        <p:spPr>
          <a:xfrm>
            <a:off x="576072" y="4112088"/>
            <a:ext cx="14081759" cy="6223343"/>
          </a:xfrm>
          <a:prstGeom prst="rect">
            <a:avLst/>
          </a:prstGeom>
        </p:spPr>
      </p:pic>
      <p:pic>
        <p:nvPicPr>
          <p:cNvPr id="8" name="Picture 7" descr="s17_policies.png"/>
          <p:cNvPicPr>
            <a:picLocks noChangeAspect="1"/>
          </p:cNvPicPr>
          <p:nvPr/>
        </p:nvPicPr>
        <p:blipFill>
          <a:blip r:embed="rId5"/>
          <a:stretch>
            <a:fillRect/>
          </a:stretch>
        </p:blipFill>
        <p:spPr>
          <a:xfrm>
            <a:off x="14904720" y="4110766"/>
            <a:ext cx="8869680" cy="339134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0"/>
            <a:ext cx="23234904" cy="1554480"/>
          </a:xfrm>
        </p:spPr>
        <p:txBody>
          <a:bodyPr wrap="square"/>
          <a:lstStyle/>
          <a:p>
            <a:r>
              <a:rPr sz="4800" b="1">
                <a:solidFill>
                  <a:srgbClr val="161616"/>
                </a:solidFill>
              </a:rPr>
              <a:t>The Model Orders Every Comparable Solver Pair Correctly — 13 of 13</a:t>
            </a:r>
          </a:p>
        </p:txBody>
      </p:sp>
      <p:pic>
        <p:nvPicPr>
          <p:cNvPr id="3" name="Picture 2" descr="s14_solvers.png"/>
          <p:cNvPicPr>
            <a:picLocks noChangeAspect="1"/>
          </p:cNvPicPr>
          <p:nvPr/>
        </p:nvPicPr>
        <p:blipFill>
          <a:blip r:embed="rId3"/>
          <a:stretch>
            <a:fillRect/>
          </a:stretch>
        </p:blipFill>
        <p:spPr>
          <a:xfrm>
            <a:off x="1490945" y="3246120"/>
            <a:ext cx="21396013" cy="8138160"/>
          </a:xfrm>
          <a:prstGeom prst="rect">
            <a:avLst/>
          </a:prstGeom>
        </p:spPr>
      </p:pic>
      <p:sp>
        <p:nvSpPr>
          <p:cNvPr id="4" name="TextBox 3"/>
          <p:cNvSpPr txBox="1"/>
          <p:nvPr/>
        </p:nvSpPr>
        <p:spPr>
          <a:xfrm>
            <a:off x="576072" y="11247120"/>
            <a:ext cx="23225760" cy="1371600"/>
          </a:xfrm>
          <a:prstGeom prst="rect">
            <a:avLst/>
          </a:prstGeom>
          <a:noFill/>
        </p:spPr>
        <p:txBody>
          <a:bodyPr wrap="square" anchor="t">
            <a:spAutoFit/>
          </a:bodyPr>
          <a:lstStyle/>
          <a:p>
            <a:pPr algn="l">
              <a:spcBef>
                <a:spcPts val="0"/>
              </a:spcBef>
              <a:spcAft>
                <a:spcPts val="600"/>
              </a:spcAft>
            </a:pPr>
            <a:r>
              <a:rPr sz="3200" b="0">
                <a:solidFill>
                  <a:srgbClr val="161616"/>
                </a:solidFill>
              </a:rPr>
              <a:t>The two panels have the same shape — that is the result. </a:t>
            </a:r>
            <a:r>
              <a:rPr sz="3200" b="1">
                <a:solidFill>
                  <a:srgbClr val="161616"/>
                </a:solidFill>
              </a:rPr>
              <a:t>It over-states the penalty (3.2x predicted against 2.2x measured) and still picks the right plan.</a:t>
            </a:r>
          </a:p>
        </p:txBody>
      </p:sp>
      <p:sp>
        <p:nvSpPr>
          <p:cNvPr id="5" name="TextBox 4"/>
          <p:cNvSpPr txBox="1"/>
          <p:nvPr/>
        </p:nvSpPr>
        <p:spPr>
          <a:xfrm>
            <a:off x="576072" y="2148840"/>
            <a:ext cx="23225760" cy="914400"/>
          </a:xfrm>
          <a:prstGeom prst="rect">
            <a:avLst/>
          </a:prstGeom>
          <a:noFill/>
        </p:spPr>
        <p:txBody>
          <a:bodyPr wrap="square" anchor="t">
            <a:spAutoFit/>
          </a:bodyPr>
          <a:lstStyle/>
          <a:p>
            <a:pPr algn="l">
              <a:spcBef>
                <a:spcPts val="0"/>
              </a:spcBef>
              <a:spcAft>
                <a:spcPts val="600"/>
              </a:spcAft>
            </a:pPr>
            <a:r>
              <a:rPr sz="2800" b="0">
                <a:solidFill>
                  <a:srgbClr val="6F6F6F"/>
                </a:solidFill>
              </a:rPr>
              <a:t>Four flash-attention shapes, labelled </a:t>
            </a:r>
            <a:r>
              <a:rPr sz="2800" b="1">
                <a:solidFill>
                  <a:srgbClr val="161616"/>
                </a:solidFill>
              </a:rPr>
              <a:t>heads / sequence length</a:t>
            </a:r>
            <a:r>
              <a:rPr sz="2800" b="0">
                <a:solidFill>
                  <a:srgbClr val="6F6F6F"/>
                </a:solidFill>
              </a:rPr>
              <a:t> with the core count beneath. Head dim 128, Lq = Lk, batch 1.</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4572000"/>
            <a:ext cx="21031200" cy="5486400"/>
          </a:xfrm>
        </p:spPr>
        <p:txBody>
          <a:bodyPr wrap="square"/>
          <a:lstStyle/>
          <a:p>
            <a:pPr algn="l">
              <a:spcBef>
                <a:spcPts val="0"/>
              </a:spcBef>
              <a:spcAft>
                <a:spcPts val="2400"/>
              </a:spcAft>
            </a:pPr>
            <a:r>
              <a:rPr sz="4400" b="1" i="0">
                <a:solidFill>
                  <a:srgbClr val="0F62FE"/>
                </a:solidFill>
              </a:rPr>
              <a:t>PART 5</a:t>
            </a:r>
          </a:p>
          <a:p>
            <a:pPr algn="l">
              <a:spcBef>
                <a:spcPts val="0"/>
              </a:spcBef>
              <a:spcAft>
                <a:spcPts val="3000"/>
              </a:spcAft>
            </a:pPr>
            <a:r>
              <a:rPr sz="10000" b="1" i="0">
                <a:solidFill>
                  <a:srgbClr val="161616"/>
                </a:solidFill>
              </a:rPr>
              <a:t>Where this goes next</a:t>
            </a:r>
          </a:p>
          <a:p>
            <a:pPr algn="l">
              <a:spcBef>
                <a:spcPts val="0"/>
              </a:spcBef>
              <a:spcAft>
                <a:spcPts val="600"/>
              </a:spcAft>
            </a:pPr>
            <a:r>
              <a:rPr sz="4000" b="0" i="0">
                <a:solidFill>
                  <a:srgbClr val="6F6F6F"/>
                </a:solidFill>
              </a:rPr>
              <a:t>Decisions priced jointly, and an on-chip ring nobody is using.</a:t>
            </a:r>
          </a:p>
        </p:txBody>
      </p:sp>
      <p:sp>
        <p:nvSpPr>
          <p:cNvPr id="3" name="Rectangle 2"/>
          <p:cNvSpPr/>
          <p:nvPr/>
        </p:nvSpPr>
        <p:spPr>
          <a:xfrm>
            <a:off x="576072" y="4023360"/>
            <a:ext cx="6400800" cy="7620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0"/>
            <a:ext cx="23234904" cy="1554480"/>
          </a:xfrm>
        </p:spPr>
        <p:txBody>
          <a:bodyPr wrap="square"/>
          <a:lstStyle/>
          <a:p>
            <a:r>
              <a:rPr sz="4800" b="1">
                <a:solidFill>
                  <a:srgbClr val="161616"/>
                </a:solidFill>
              </a:rPr>
              <a:t>Next: Price the Decisions Jointly, and Use What the Sweeps Found</a:t>
            </a:r>
          </a:p>
        </p:txBody>
      </p:sp>
      <p:sp>
        <p:nvSpPr>
          <p:cNvPr id="3" name="Rectangle 2"/>
          <p:cNvSpPr/>
          <p:nvPr/>
        </p:nvSpPr>
        <p:spPr>
          <a:xfrm>
            <a:off x="576072" y="2743200"/>
            <a:ext cx="23225760" cy="3175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76072" y="3063240"/>
            <a:ext cx="23225760" cy="2651760"/>
          </a:xfrm>
          <a:prstGeom prst="rect">
            <a:avLst/>
          </a:prstGeom>
          <a:noFill/>
        </p:spPr>
        <p:txBody>
          <a:bodyPr wrap="square" anchor="t">
            <a:spAutoFit/>
          </a:bodyPr>
          <a:lstStyle/>
          <a:p>
            <a:pPr algn="l">
              <a:spcBef>
                <a:spcPts val="0"/>
              </a:spcBef>
              <a:spcAft>
                <a:spcPts val="1000"/>
              </a:spcAft>
            </a:pPr>
            <a:r>
              <a:rPr sz="4000" b="1" i="0">
                <a:solidFill>
                  <a:srgbClr val="161616"/>
                </a:solidFill>
              </a:rPr>
              <a:t>Drive real passes with it</a:t>
            </a:r>
          </a:p>
          <a:p>
            <a:pPr algn="l">
              <a:spcBef>
                <a:spcPts val="0"/>
              </a:spcBef>
              <a:spcAft>
                <a:spcPts val="600"/>
              </a:spcAft>
            </a:pPr>
            <a:r>
              <a:rPr sz="3200" b="0" i="0">
                <a:solidFill>
                  <a:srgbClr val="6F6F6F"/>
                </a:solidFill>
              </a:rPr>
              <a:t>LX allocation and coarse tiling are chosen in the same place, and HBM traffic is still the bottleneck. Tile count, tile size and residency interact — pricing them together is a far larger space than the four policies shown here.</a:t>
            </a:r>
          </a:p>
        </p:txBody>
      </p:sp>
      <p:sp>
        <p:nvSpPr>
          <p:cNvPr id="5" name="Rectangle 4"/>
          <p:cNvSpPr/>
          <p:nvPr/>
        </p:nvSpPr>
        <p:spPr>
          <a:xfrm>
            <a:off x="576072" y="5943600"/>
            <a:ext cx="23225760" cy="3175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6072" y="6263640"/>
            <a:ext cx="23225760" cy="2651760"/>
          </a:xfrm>
          <a:prstGeom prst="rect">
            <a:avLst/>
          </a:prstGeom>
          <a:noFill/>
        </p:spPr>
        <p:txBody>
          <a:bodyPr wrap="square" anchor="t">
            <a:spAutoFit/>
          </a:bodyPr>
          <a:lstStyle/>
          <a:p>
            <a:pPr algn="l">
              <a:spcBef>
                <a:spcPts val="0"/>
              </a:spcBef>
              <a:spcAft>
                <a:spcPts val="1000"/>
              </a:spcAft>
            </a:pPr>
            <a:r>
              <a:rPr sz="4000" b="1" i="0">
                <a:solidFill>
                  <a:srgbClr val="161616"/>
                </a:solidFill>
              </a:rPr>
              <a:t>Spend the findings elsewhere</a:t>
            </a:r>
          </a:p>
          <a:p>
            <a:pPr algn="l">
              <a:spcBef>
                <a:spcPts val="0"/>
              </a:spcBef>
              <a:spcAft>
                <a:spcPts val="600"/>
              </a:spcAft>
            </a:pPr>
            <a:r>
              <a:rPr sz="3200" b="0" i="0">
                <a:solidFill>
                  <a:srgbClr val="6F6F6F"/>
                </a:solidFill>
              </a:rPr>
              <a:t>Read/write ratio, operand layout and work division each move performance by more than the model's own error. They belong in the passes that choose them, not only in a report.</a:t>
            </a:r>
          </a:p>
        </p:txBody>
      </p:sp>
      <p:sp>
        <p:nvSpPr>
          <p:cNvPr id="7" name="Rectangle 6"/>
          <p:cNvSpPr/>
          <p:nvPr/>
        </p:nvSpPr>
        <p:spPr>
          <a:xfrm>
            <a:off x="576072" y="9144000"/>
            <a:ext cx="23225760" cy="3175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76072" y="9464040"/>
            <a:ext cx="23225760" cy="2651760"/>
          </a:xfrm>
          <a:prstGeom prst="rect">
            <a:avLst/>
          </a:prstGeom>
          <a:noFill/>
        </p:spPr>
        <p:txBody>
          <a:bodyPr wrap="square" anchor="t">
            <a:spAutoFit/>
          </a:bodyPr>
          <a:lstStyle/>
          <a:p>
            <a:pPr algn="l">
              <a:spcBef>
                <a:spcPts val="0"/>
              </a:spcBef>
              <a:spcAft>
                <a:spcPts val="1000"/>
              </a:spcAft>
            </a:pPr>
            <a:r>
              <a:rPr sz="4000" b="1" i="0">
                <a:solidFill>
                  <a:srgbClr val="161616"/>
                </a:solidFill>
              </a:rPr>
              <a:t>Close the two known gaps</a:t>
            </a:r>
          </a:p>
          <a:p>
            <a:pPr algn="l">
              <a:spcBef>
                <a:spcPts val="0"/>
              </a:spcBef>
              <a:spcAft>
                <a:spcPts val="600"/>
              </a:spcAft>
            </a:pPr>
            <a:r>
              <a:rPr sz="3200" b="0" i="0">
                <a:solidFill>
                  <a:srgbClr val="6F6F6F"/>
                </a:solidFill>
              </a:rPr>
              <a:t>The core-count offset below 32 cores, and the overlap residual on matmul. Both need a controlled sweep with repeats rather than another coefficient.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0"/>
            <a:ext cx="23234904" cy="1554480"/>
          </a:xfrm>
        </p:spPr>
        <p:txBody>
          <a:bodyPr wrap="square"/>
          <a:lstStyle/>
          <a:p>
            <a:r>
              <a:rPr sz="4800" b="1">
                <a:solidFill>
                  <a:srgbClr val="161616"/>
                </a:solidFill>
              </a:rPr>
              <a:t>Flash Attention Re-Reads K and V Once per Core</a:t>
            </a:r>
          </a:p>
        </p:txBody>
      </p:sp>
      <p:pic>
        <p:nvPicPr>
          <p:cNvPr id="3" name="Picture 2" descr="s21_attention.png"/>
          <p:cNvPicPr>
            <a:picLocks noChangeAspect="1"/>
          </p:cNvPicPr>
          <p:nvPr/>
        </p:nvPicPr>
        <p:blipFill>
          <a:blip r:embed="rId3"/>
          <a:stretch>
            <a:fillRect/>
          </a:stretch>
        </p:blipFill>
        <p:spPr>
          <a:xfrm>
            <a:off x="2462944" y="2514600"/>
            <a:ext cx="19452016" cy="8595360"/>
          </a:xfrm>
          <a:prstGeom prst="rect">
            <a:avLst/>
          </a:prstGeom>
        </p:spPr>
      </p:pic>
      <p:sp>
        <p:nvSpPr>
          <p:cNvPr id="4" name="TextBox 3"/>
          <p:cNvSpPr txBox="1"/>
          <p:nvPr/>
        </p:nvSpPr>
        <p:spPr>
          <a:xfrm>
            <a:off x="576072" y="11384280"/>
            <a:ext cx="23225760" cy="1188720"/>
          </a:xfrm>
          <a:prstGeom prst="rect">
            <a:avLst/>
          </a:prstGeom>
          <a:noFill/>
        </p:spPr>
        <p:txBody>
          <a:bodyPr wrap="square" anchor="t">
            <a:spAutoFit/>
          </a:bodyPr>
          <a:lstStyle/>
          <a:p>
            <a:pPr algn="l">
              <a:spcBef>
                <a:spcPts val="0"/>
              </a:spcBef>
              <a:spcAft>
                <a:spcPts val="600"/>
              </a:spcAft>
            </a:pPr>
            <a:r>
              <a:rPr sz="3200" b="0">
                <a:solidFill>
                  <a:srgbClr val="161616"/>
                </a:solidFill>
              </a:rPr>
              <a:t>The one tensor pair that every core needs is the one we send over the bus the most — </a:t>
            </a:r>
            <a:r>
              <a:rPr sz="3200" b="1">
                <a:solidFill>
                  <a:srgbClr val="161616"/>
                </a:solidFill>
              </a:rPr>
              <a:t>that is the opportunity the fabric is not being used for.</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0"/>
            <a:ext cx="23234904" cy="1554480"/>
          </a:xfrm>
        </p:spPr>
        <p:txBody>
          <a:bodyPr wrap="square"/>
          <a:lstStyle/>
          <a:p>
            <a:r>
              <a:rPr sz="4800" b="1">
                <a:solidFill>
                  <a:srgbClr val="161616"/>
                </a:solidFill>
              </a:rPr>
              <a:t>Ring Attention Turns That Re-Read into One Load and a Rotation</a:t>
            </a:r>
          </a:p>
        </p:txBody>
      </p:sp>
      <p:sp>
        <p:nvSpPr>
          <p:cNvPr id="3" name="TextBox 2"/>
          <p:cNvSpPr txBox="1"/>
          <p:nvPr/>
        </p:nvSpPr>
        <p:spPr>
          <a:xfrm>
            <a:off x="576072" y="2240280"/>
            <a:ext cx="23225760" cy="1005840"/>
          </a:xfrm>
          <a:prstGeom prst="rect">
            <a:avLst/>
          </a:prstGeom>
          <a:noFill/>
        </p:spPr>
        <p:txBody>
          <a:bodyPr wrap="square" anchor="t">
            <a:spAutoFit/>
          </a:bodyPr>
          <a:lstStyle/>
          <a:p>
            <a:pPr algn="l">
              <a:spcBef>
                <a:spcPts val="0"/>
              </a:spcBef>
              <a:spcAft>
                <a:spcPts val="600"/>
              </a:spcAft>
            </a:pPr>
            <a:r>
              <a:rPr sz="3200" b="0">
                <a:solidFill>
                  <a:srgbClr val="6F6F6F"/>
                </a:solidFill>
              </a:rPr>
              <a:t>The online softmax carries a running max and sum, so the K/V blocks can be consumed in </a:t>
            </a:r>
            <a:r>
              <a:rPr sz="3200" b="1">
                <a:solidFill>
                  <a:srgbClr val="161616"/>
                </a:solidFill>
              </a:rPr>
              <a:t>any order</a:t>
            </a:r>
            <a:r>
              <a:rPr sz="3200" b="0">
                <a:solidFill>
                  <a:srgbClr val="6F6F6F"/>
                </a:solidFill>
              </a:rPr>
              <a:t> — which is exactly what lets them move between cores.</a:t>
            </a:r>
          </a:p>
        </p:txBody>
      </p:sp>
      <p:pic>
        <p:nvPicPr>
          <p:cNvPr id="4" name="Picture 3" descr="s17_ring.png"/>
          <p:cNvPicPr>
            <a:picLocks noChangeAspect="1"/>
          </p:cNvPicPr>
          <p:nvPr/>
        </p:nvPicPr>
        <p:blipFill>
          <a:blip r:embed="rId3"/>
          <a:stretch>
            <a:fillRect/>
          </a:stretch>
        </p:blipFill>
        <p:spPr>
          <a:xfrm>
            <a:off x="667512" y="3474720"/>
            <a:ext cx="23042880" cy="7680960"/>
          </a:xfrm>
          <a:prstGeom prst="rect">
            <a:avLst/>
          </a:prstGeom>
        </p:spPr>
      </p:pic>
      <p:sp>
        <p:nvSpPr>
          <p:cNvPr id="5" name="TextBox 4"/>
          <p:cNvSpPr txBox="1"/>
          <p:nvPr/>
        </p:nvSpPr>
        <p:spPr>
          <a:xfrm>
            <a:off x="576072" y="11338560"/>
            <a:ext cx="23225760" cy="1371600"/>
          </a:xfrm>
          <a:prstGeom prst="rect">
            <a:avLst/>
          </a:prstGeom>
          <a:noFill/>
        </p:spPr>
        <p:txBody>
          <a:bodyPr wrap="square" anchor="t">
            <a:spAutoFit/>
          </a:bodyPr>
          <a:lstStyle/>
          <a:p>
            <a:pPr algn="l">
              <a:spcBef>
                <a:spcPts val="0"/>
              </a:spcBef>
              <a:spcAft>
                <a:spcPts val="600"/>
              </a:spcAft>
            </a:pPr>
            <a:r>
              <a:rPr sz="3200" b="0">
                <a:solidFill>
                  <a:srgbClr val="161616"/>
                </a:solidFill>
              </a:rPr>
              <a:t>Give each of the c cores 1/c of K and V, then take c−1 steps: compute against the block you hold, pass it on. </a:t>
            </a:r>
            <a:r>
              <a:rPr sz="3200" b="1">
                <a:solidFill>
                  <a:srgbClr val="161616"/>
                </a:solidFill>
              </a:rPr>
              <a:t>Every core sees every block, and K/V crosses the bus once.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220016"/>
      </p:ext>
    </p:extLst>
  </p:cSld>
  <p:clrMapOvr>
    <a:masterClrMapping/>
  </p:clrMapOvr>
  <p:transition spd="med"/>
</p:sld>
</file>

<file path=ppt/theme/theme1.xml><?xml version="1.0" encoding="utf-8"?>
<a:theme xmlns:a="http://schemas.openxmlformats.org/drawingml/2006/main" name="IBM presentation template">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E5F6FF"/>
        </a:solidFill>
        <a:ln w="19050">
          <a:solidFill>
            <a:srgbClr val="E5F6FF"/>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270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p="http://schemas.openxmlformats.org/presentationml/2006/main" xmlns:r="http://schemas.openxmlformats.org/officeDocument/2006/relationships"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presentation_template_v_1_7_Plex" id="{95415CFD-B8C5-A64E-9B33-327FB66EA919}" vid="{53F516D8-807B-3648-BBAC-1A335BDA2B4F}"/>
    </a:ext>
  </a:extLst>
</a:theme>
</file>

<file path=ppt/theme/theme2.xml><?xml version="1.0" encoding="utf-8"?>
<a:theme xmlns:a="http://schemas.openxmlformats.org/drawingml/2006/main" name="IBM Brand Template 2022">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p="http://schemas.openxmlformats.org/presentationml/2006/main" xmlns:r="http://schemas.openxmlformats.org/officeDocument/2006/relationships"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Master_Presentation_2021_V01_Plex" id="{BD398A2B-0B96-D843-9A4A-05239798B6A1}" vid="{46683C84-C800-D441-9101-471717108C97}"/>
    </a:ext>
  </a:extLst>
</a:theme>
</file>

<file path=ppt/theme/theme3.xml><?xml version="1.0" encoding="utf-8"?>
<a:theme xmlns:a="http://schemas.openxmlformats.org/drawingml/2006/main" name="IBM Brand Template 2022">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p="http://schemas.openxmlformats.org/presentationml/2006/main" xmlns:r="http://schemas.openxmlformats.org/officeDocument/2006/relationships"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Master_Presentation_2021_V01_Plex" id="{BD398A2B-0B96-D843-9A4A-05239798B6A1}" vid="{46683C84-C800-D441-9101-471717108C97}"/>
    </a:ext>
  </a:extLst>
</a:theme>
</file>

<file path=docProps/app.xml><?xml version="1.0" encoding="utf-8"?>
<Properties xmlns="http://schemas.openxmlformats.org/officeDocument/2006/extended-properties" xmlns:vt="http://schemas.openxmlformats.org/officeDocument/2006/docPropsVTypes">
  <Template>IBM presentation template</Template>
  <TotalTime>17056</TotalTime>
  <Words>6029</Words>
  <Application>Microsoft Office PowerPoint</Application>
  <PresentationFormat>Custom</PresentationFormat>
  <Paragraphs>435</Paragraphs>
  <Slides>23</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IBM Plex Sans ExtLt</vt:lpstr>
      <vt:lpstr>Arial</vt:lpstr>
      <vt:lpstr>IBM Plex Sans</vt:lpstr>
      <vt:lpstr>IBM Plex Sans Light</vt:lpstr>
      <vt:lpstr>IBM presentation template</vt:lpstr>
      <vt:lpstr>Optimizing the Compiler (torch-spyre) for Dataflow-architecture AI Accelerators</vt:lpstr>
      <vt:lpstr>PART 1 A cost model as a compiler pass</vt:lpstr>
      <vt:lpstr>Motivation Better understand the compiler workflow and Spyre’s performance features; Using it to explore optimizing directions, without needing to run blind sweeps on actual hardware.  Input The loop-level IR after all prescheduling passes.  Outputs The predicted performance of the program.  Coverage All different types of Ops (Pointwise, Reductions, Broadcasts, Transportation, MatMul) and support special fusion (coarse tiling). Verified with several real programs, including a small example of flash_attn.   </vt:lpstr>
      <vt:lpstr>The input is read straight off the final IR — nothing is inferred</vt:lpstr>
      <vt:lpstr>It prints a per-kernel breakdown, in microseconds</vt:lpstr>
      <vt:lpstr>The performance estimate is also a value another pass can act on</vt:lpstr>
      <vt:lpstr>PART 2 How the model was built</vt:lpstr>
      <vt:lpstr>Every term is measured where nothing else can move</vt:lpstr>
      <vt:lpstr>Sweep wide, then explain the outliers — never fit them away</vt:lpstr>
      <vt:lpstr>Coarse Tiling: special fusion, the model count how often a tensor moves</vt:lpstr>
      <vt:lpstr>PART 3 Two things the card taught us</vt:lpstr>
      <vt:lpstr>The same bytes move faster when they all move the same way</vt:lpstr>
      <vt:lpstr>A batched multiply runs 8x slower purely because of operand layout</vt:lpstr>
      <vt:lpstr>PART 4 Does it hold up?</vt:lpstr>
      <vt:lpstr>Memory-bound ops land inside 10 %; matmul is low but ordered</vt:lpstr>
      <vt:lpstr>Across all 24 flash-attention configurations, the ordering holds</vt:lpstr>
      <vt:lpstr>Four shipped policies, and the choice can double the kernel</vt:lpstr>
      <vt:lpstr>The model orders every comparable solver pair correctly — 13 of 13</vt:lpstr>
      <vt:lpstr>PART 5 Where this goes next</vt:lpstr>
      <vt:lpstr>Next: price the decisions jointly, and use what the sweeps found</vt:lpstr>
      <vt:lpstr>Spyre has two on-chip rings — the compiler uses one of them</vt:lpstr>
      <vt:lpstr>Attention wants rotation, which is a ring's best case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64/86/130pt title,  5 lines maximum,  sentence case</dc:title>
  <dc:subject/>
  <dc:creator>Timothy Dalton</dc:creator>
  <cp:keywords/>
  <dc:description/>
  <cp:lastModifiedBy>Zhang, Haoyang</cp:lastModifiedBy>
  <cp:revision>773</cp:revision>
  <cp:lastPrinted>2019-04-25T15:14:05Z</cp:lastPrinted>
  <dcterms:created xsi:type="dcterms:W3CDTF">2024-03-25T13:13:22Z</dcterms:created>
  <dcterms:modified xsi:type="dcterms:W3CDTF">2026-08-12T16:29:16Z</dcterms:modified>
  <cp:category/>
</cp:coreProperties>
</file>